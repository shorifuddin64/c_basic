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8" r:id="rId5"/>
    <p:sldId id="269" r:id="rId6"/>
    <p:sldId id="274" r:id="rId7"/>
    <p:sldId id="270" r:id="rId8"/>
    <p:sldId id="275" r:id="rId9"/>
    <p:sldId id="276" r:id="rId10"/>
    <p:sldId id="277" r:id="rId11"/>
    <p:sldId id="278" r:id="rId12"/>
    <p:sldId id="279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D776"/>
    <a:srgbClr val="CC3300"/>
    <a:srgbClr val="CB8A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0087BB-77D3-5F3B-2CCF-D8890DFB3E04}" v="4" dt="2025-03-25T11:47:53.1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00" autoAdjust="0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80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yme Ahmed" userId="dc44b642-4733-4b7f-b204-acd223264e3c" providerId="ADAL" clId="{F3BC1C28-11D4-40C7-9286-DB165809D8D1}"/>
    <pc:docChg chg="custSel modSld">
      <pc:chgData name="Nyme Ahmed" userId="dc44b642-4733-4b7f-b204-acd223264e3c" providerId="ADAL" clId="{F3BC1C28-11D4-40C7-9286-DB165809D8D1}" dt="2024-11-06T06:43:34.148" v="17" actId="20577"/>
      <pc:docMkLst>
        <pc:docMk/>
      </pc:docMkLst>
      <pc:sldChg chg="addSp delSp modSp mod">
        <pc:chgData name="Nyme Ahmed" userId="dc44b642-4733-4b7f-b204-acd223264e3c" providerId="ADAL" clId="{F3BC1C28-11D4-40C7-9286-DB165809D8D1}" dt="2024-11-01T14:08:09.701" v="8" actId="20577"/>
        <pc:sldMkLst>
          <pc:docMk/>
          <pc:sldMk cId="700707328" sldId="256"/>
        </pc:sldMkLst>
        <pc:graphicFrameChg chg="add mod modGraphic">
          <ac:chgData name="Nyme Ahmed" userId="dc44b642-4733-4b7f-b204-acd223264e3c" providerId="ADAL" clId="{F3BC1C28-11D4-40C7-9286-DB165809D8D1}" dt="2024-11-01T14:08:09.701" v="8" actId="20577"/>
          <ac:graphicFrameMkLst>
            <pc:docMk/>
            <pc:sldMk cId="700707328" sldId="256"/>
            <ac:graphicFrameMk id="5" creationId="{24486291-DC21-929E-5A0E-27192373B9A6}"/>
          </ac:graphicFrameMkLst>
        </pc:graphicFrameChg>
        <pc:graphicFrameChg chg="del">
          <ac:chgData name="Nyme Ahmed" userId="dc44b642-4733-4b7f-b204-acd223264e3c" providerId="ADAL" clId="{F3BC1C28-11D4-40C7-9286-DB165809D8D1}" dt="2024-11-01T14:07:59.574" v="0" actId="478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Nyme Ahmed" userId="dc44b642-4733-4b7f-b204-acd223264e3c" providerId="ADAL" clId="{F3BC1C28-11D4-40C7-9286-DB165809D8D1}" dt="2024-11-01T14:16:57.907" v="9" actId="113"/>
        <pc:sldMkLst>
          <pc:docMk/>
          <pc:sldMk cId="1695662065" sldId="269"/>
        </pc:sldMkLst>
        <pc:spChg chg="mod">
          <ac:chgData name="Nyme Ahmed" userId="dc44b642-4733-4b7f-b204-acd223264e3c" providerId="ADAL" clId="{F3BC1C28-11D4-40C7-9286-DB165809D8D1}" dt="2024-11-01T14:16:57.907" v="9" actId="113"/>
          <ac:spMkLst>
            <pc:docMk/>
            <pc:sldMk cId="1695662065" sldId="269"/>
            <ac:spMk id="7" creationId="{37C26D19-85DA-834B-9600-C9820C508897}"/>
          </ac:spMkLst>
        </pc:spChg>
      </pc:sldChg>
      <pc:sldChg chg="modSp mod">
        <pc:chgData name="Nyme Ahmed" userId="dc44b642-4733-4b7f-b204-acd223264e3c" providerId="ADAL" clId="{F3BC1C28-11D4-40C7-9286-DB165809D8D1}" dt="2024-11-06T06:43:34.148" v="17" actId="20577"/>
        <pc:sldMkLst>
          <pc:docMk/>
          <pc:sldMk cId="2058671904" sldId="274"/>
        </pc:sldMkLst>
        <pc:spChg chg="mod">
          <ac:chgData name="Nyme Ahmed" userId="dc44b642-4733-4b7f-b204-acd223264e3c" providerId="ADAL" clId="{F3BC1C28-11D4-40C7-9286-DB165809D8D1}" dt="2024-11-06T06:43:34.148" v="17" actId="20577"/>
          <ac:spMkLst>
            <pc:docMk/>
            <pc:sldMk cId="2058671904" sldId="274"/>
            <ac:spMk id="7" creationId="{37C26D19-85DA-834B-9600-C9820C508897}"/>
          </ac:spMkLst>
        </pc:sp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Nyme Ahmed" userId="S::nyme.ahmed@aiub.edu::dc44b642-4733-4b7f-b204-acd223264e3c" providerId="AD" clId="Web-{CC0087BB-77D3-5F3B-2CCF-D8890DFB3E04}"/>
    <pc:docChg chg="modSld">
      <pc:chgData name="Nyme Ahmed" userId="S::nyme.ahmed@aiub.edu::dc44b642-4733-4b7f-b204-acd223264e3c" providerId="AD" clId="Web-{CC0087BB-77D3-5F3B-2CCF-D8890DFB3E04}" dt="2025-03-25T11:47:53.112" v="1" actId="20577"/>
      <pc:docMkLst>
        <pc:docMk/>
      </pc:docMkLst>
      <pc:sldChg chg="modSp">
        <pc:chgData name="Nyme Ahmed" userId="S::nyme.ahmed@aiub.edu::dc44b642-4733-4b7f-b204-acd223264e3c" providerId="AD" clId="Web-{CC0087BB-77D3-5F3B-2CCF-D8890DFB3E04}" dt="2025-03-25T11:47:53.112" v="1" actId="20577"/>
        <pc:sldMkLst>
          <pc:docMk/>
          <pc:sldMk cId="2058671904" sldId="274"/>
        </pc:sldMkLst>
        <pc:spChg chg="mod">
          <ac:chgData name="Nyme Ahmed" userId="S::nyme.ahmed@aiub.edu::dc44b642-4733-4b7f-b204-acd223264e3c" providerId="AD" clId="Web-{CC0087BB-77D3-5F3B-2CCF-D8890DFB3E04}" dt="2025-03-25T11:47:53.112" v="1" actId="20577"/>
          <ac:spMkLst>
            <pc:docMk/>
            <pc:sldMk cId="2058671904" sldId="274"/>
            <ac:spMk id="7" creationId="{37C26D19-85DA-834B-9600-C9820C50889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</a:rPr>
              <a:t>Variable Types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</a:rPr>
              <a:t>Course Code: CSC1205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900364" y="1542044"/>
            <a:ext cx="4800600" cy="4846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Cambria" panose="02040503050406030204" pitchFamily="18" charset="0"/>
              </a:rPr>
              <a:t>Course Title: Object Oriented Programming 1 (JAVA)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4486291-DC21-929E-5A0E-27192373B9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652503"/>
              </p:ext>
            </p:extLst>
          </p:nvPr>
        </p:nvGraphicFramePr>
        <p:xfrm>
          <a:off x="404101" y="5325573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613947523"/>
                    </a:ext>
                  </a:extLst>
                </a:gridCol>
                <a:gridCol w="3897085">
                  <a:extLst>
                    <a:ext uri="{9D8B030D-6E8A-4147-A177-3AD203B41FA5}">
                      <a16:colId xmlns:a16="http://schemas.microsoft.com/office/drawing/2014/main" val="780336971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556618659"/>
                    </a:ext>
                  </a:extLst>
                </a:gridCol>
                <a:gridCol w="1725403">
                  <a:extLst>
                    <a:ext uri="{9D8B030D-6E8A-4147-A177-3AD203B41FA5}">
                      <a16:colId xmlns:a16="http://schemas.microsoft.com/office/drawing/2014/main" val="2643714385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094917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i="1" dirty="0"/>
                        <a:t>Nyme Ahmed [</a:t>
                      </a:r>
                      <a:r>
                        <a:rPr lang="en-US" i="1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nyme.ahmed@aiub.edu</a:t>
                      </a:r>
                      <a:r>
                        <a:rPr lang="en-US" i="1" dirty="0"/>
                        <a:t>]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178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</a:rPr>
              <a:t>Different Types of Variables.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</a:rPr>
              <a:t>Memory Representation of Different Types of variables.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</a:rPr>
              <a:t>Variable Types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</a:rPr>
              <a:t>Different Types of Variables</a:t>
            </a:r>
            <a:endParaRPr lang="x-none" dirty="0">
              <a:latin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85750" y="2235872"/>
            <a:ext cx="8558213" cy="29747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Cambria" panose="02040503050406030204" pitchFamily="18" charset="0"/>
              </a:rPr>
              <a:t>In Java, Variables can be divided into 3 types. They are:</a:t>
            </a:r>
          </a:p>
          <a:p>
            <a:pPr marL="742950" lvl="1" indent="-28575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Local Variables</a:t>
            </a:r>
          </a:p>
          <a:p>
            <a:pPr marL="742950" lvl="1" indent="-28575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Class Variables</a:t>
            </a:r>
          </a:p>
          <a:p>
            <a:pPr marL="742950" lvl="1" indent="-28575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Instance Variables</a:t>
            </a:r>
            <a:endParaRPr lang="x-none" sz="28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</a:rPr>
              <a:t>Variable Types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</a:rPr>
              <a:t>Different Types of Variables</a:t>
            </a:r>
            <a:endParaRPr lang="x-none" dirty="0">
              <a:latin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307822" y="2112731"/>
            <a:ext cx="8521853" cy="15234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lvl="1" algn="just"/>
            <a:r>
              <a:rPr lang="en-US" b="1" dirty="0">
                <a:latin typeface="Cambria" panose="02040503050406030204" pitchFamily="18" charset="0"/>
              </a:rPr>
              <a:t>Local Variables</a:t>
            </a:r>
          </a:p>
          <a:p>
            <a:pPr marL="0" lvl="1" algn="just"/>
            <a:endParaRPr lang="en-US" sz="1100" b="1" dirty="0">
              <a:latin typeface="Cambria" panose="02040503050406030204" pitchFamily="18" charset="0"/>
            </a:endParaRPr>
          </a:p>
          <a:p>
            <a:pPr marL="342900" lvl="1" indent="-1714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Cambria" panose="02040503050406030204" pitchFamily="18" charset="0"/>
              </a:rPr>
              <a:t>Variables declared inside the scope of any method, constructor, loop, conditional statements are known as local variables.</a:t>
            </a:r>
          </a:p>
          <a:p>
            <a:pPr marL="342900" lvl="1" indent="-1714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Cambria" panose="02040503050406030204" pitchFamily="18" charset="0"/>
              </a:rPr>
              <a:t>Local variables do not have any existence outside the scope it is declared.</a:t>
            </a:r>
          </a:p>
          <a:p>
            <a:pPr marL="342900" lvl="1" indent="-1714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Cambria" panose="02040503050406030204" pitchFamily="18" charset="0"/>
              </a:rPr>
              <a:t>The concept of default value is not applicable for local variables.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322111" y="3669231"/>
            <a:ext cx="2992590" cy="2523768"/>
          </a:xfrm>
          <a:prstGeom prst="rect">
            <a:avLst/>
          </a:prstGeom>
          <a:solidFill>
            <a:srgbClr val="F2D776"/>
          </a:solidFill>
        </p:spPr>
        <p:txBody>
          <a:bodyPr wrap="square" rtlCol="0">
            <a:spAutoFit/>
          </a:bodyPr>
          <a:lstStyle/>
          <a:p>
            <a:pPr marL="0" lvl="1" algn="just"/>
            <a:r>
              <a:rPr lang="en-US" sz="1500" b="1" dirty="0">
                <a:latin typeface="Cambria" panose="02040503050406030204" pitchFamily="18" charset="0"/>
              </a:rPr>
              <a:t>Example</a:t>
            </a:r>
          </a:p>
          <a:p>
            <a:pPr marL="0" lvl="1" algn="just"/>
            <a:endParaRPr lang="en-US" sz="800" dirty="0">
              <a:latin typeface="Cambria" panose="02040503050406030204" pitchFamily="18" charset="0"/>
            </a:endParaRPr>
          </a:p>
          <a:p>
            <a:pPr marL="0" lvl="1" algn="just"/>
            <a:r>
              <a:rPr lang="en-US" sz="1500" dirty="0">
                <a:latin typeface="Cambria" panose="02040503050406030204" pitchFamily="18" charset="0"/>
              </a:rPr>
              <a:t>public void </a:t>
            </a:r>
            <a:r>
              <a:rPr lang="en-US" sz="1500" dirty="0" err="1">
                <a:latin typeface="Cambria" panose="02040503050406030204" pitchFamily="18" charset="0"/>
              </a:rPr>
              <a:t>changeValues</a:t>
            </a:r>
            <a:r>
              <a:rPr lang="en-US" sz="1500" dirty="0">
                <a:latin typeface="Cambria" panose="02040503050406030204" pitchFamily="18" charset="0"/>
              </a:rPr>
              <a:t>(</a:t>
            </a:r>
            <a:r>
              <a:rPr lang="en-US" sz="1500" dirty="0" err="1">
                <a:latin typeface="Cambria" panose="02040503050406030204" pitchFamily="18" charset="0"/>
              </a:rPr>
              <a:t>int</a:t>
            </a:r>
            <a:r>
              <a:rPr lang="en-US" sz="1500" dirty="0">
                <a:latin typeface="Cambria" panose="02040503050406030204" pitchFamily="18" charset="0"/>
              </a:rPr>
              <a:t> a){</a:t>
            </a:r>
          </a:p>
          <a:p>
            <a:pPr marL="0" lvl="1" algn="just"/>
            <a:r>
              <a:rPr lang="en-US" sz="1500" dirty="0">
                <a:latin typeface="Cambria" panose="02040503050406030204" pitchFamily="18" charset="0"/>
              </a:rPr>
              <a:t>    </a:t>
            </a:r>
            <a:r>
              <a:rPr lang="en-US" sz="1500" dirty="0" err="1">
                <a:latin typeface="Cambria" panose="02040503050406030204" pitchFamily="18" charset="0"/>
              </a:rPr>
              <a:t>int</a:t>
            </a:r>
            <a:r>
              <a:rPr lang="en-US" sz="1500" dirty="0">
                <a:latin typeface="Cambria" panose="02040503050406030204" pitchFamily="18" charset="0"/>
              </a:rPr>
              <a:t> x;</a:t>
            </a:r>
          </a:p>
          <a:p>
            <a:pPr marL="0" lvl="1" algn="just"/>
            <a:r>
              <a:rPr lang="en-US" sz="1500" dirty="0">
                <a:latin typeface="Cambria" panose="02040503050406030204" pitchFamily="18" charset="0"/>
              </a:rPr>
              <a:t>    for(</a:t>
            </a:r>
            <a:r>
              <a:rPr lang="en-US" sz="1500" dirty="0" err="1">
                <a:latin typeface="Cambria" panose="02040503050406030204" pitchFamily="18" charset="0"/>
              </a:rPr>
              <a:t>int</a:t>
            </a:r>
            <a:r>
              <a:rPr lang="en-US" sz="1500" dirty="0">
                <a:latin typeface="Cambria" panose="02040503050406030204" pitchFamily="18" charset="0"/>
              </a:rPr>
              <a:t> </a:t>
            </a:r>
            <a:r>
              <a:rPr lang="en-US" sz="1500" dirty="0" err="1">
                <a:latin typeface="Cambria" panose="02040503050406030204" pitchFamily="18" charset="0"/>
              </a:rPr>
              <a:t>i</a:t>
            </a:r>
            <a:r>
              <a:rPr lang="en-US" sz="1500" dirty="0">
                <a:latin typeface="Cambria" panose="02040503050406030204" pitchFamily="18" charset="0"/>
              </a:rPr>
              <a:t>=0; </a:t>
            </a:r>
            <a:r>
              <a:rPr lang="en-US" sz="1500" dirty="0" err="1">
                <a:latin typeface="Cambria" panose="02040503050406030204" pitchFamily="18" charset="0"/>
              </a:rPr>
              <a:t>i</a:t>
            </a:r>
            <a:r>
              <a:rPr lang="en-US" sz="1500" dirty="0">
                <a:latin typeface="Cambria" panose="02040503050406030204" pitchFamily="18" charset="0"/>
              </a:rPr>
              <a:t>&lt;5; </a:t>
            </a:r>
            <a:r>
              <a:rPr lang="en-US" sz="1500" dirty="0" err="1">
                <a:latin typeface="Cambria" panose="02040503050406030204" pitchFamily="18" charset="0"/>
              </a:rPr>
              <a:t>i</a:t>
            </a:r>
            <a:r>
              <a:rPr lang="en-US" sz="1500" dirty="0">
                <a:latin typeface="Cambria" panose="02040503050406030204" pitchFamily="18" charset="0"/>
              </a:rPr>
              <a:t>++){</a:t>
            </a:r>
          </a:p>
          <a:p>
            <a:pPr marL="0" lvl="1" algn="just"/>
            <a:r>
              <a:rPr lang="en-US" sz="1500" dirty="0">
                <a:latin typeface="Cambria" panose="02040503050406030204" pitchFamily="18" charset="0"/>
              </a:rPr>
              <a:t>        </a:t>
            </a:r>
            <a:r>
              <a:rPr lang="en-US" sz="1500" dirty="0" err="1">
                <a:latin typeface="Cambria" panose="02040503050406030204" pitchFamily="18" charset="0"/>
              </a:rPr>
              <a:t>int</a:t>
            </a:r>
            <a:r>
              <a:rPr lang="en-US" sz="1500" dirty="0">
                <a:latin typeface="Cambria" panose="02040503050406030204" pitchFamily="18" charset="0"/>
              </a:rPr>
              <a:t> y = </a:t>
            </a:r>
            <a:r>
              <a:rPr lang="en-US" sz="1500" dirty="0" err="1">
                <a:latin typeface="Cambria" panose="02040503050406030204" pitchFamily="18" charset="0"/>
              </a:rPr>
              <a:t>i</a:t>
            </a:r>
            <a:r>
              <a:rPr lang="en-US" sz="1500" dirty="0">
                <a:latin typeface="Cambria" panose="02040503050406030204" pitchFamily="18" charset="0"/>
              </a:rPr>
              <a:t> + a; </a:t>
            </a:r>
          </a:p>
          <a:p>
            <a:pPr marL="0" lvl="1" algn="just"/>
            <a:r>
              <a:rPr lang="en-US" sz="1500" dirty="0">
                <a:latin typeface="Cambria" panose="02040503050406030204" pitchFamily="18" charset="0"/>
              </a:rPr>
              <a:t>        if(y%2 ==0){</a:t>
            </a:r>
          </a:p>
          <a:p>
            <a:pPr marL="0" lvl="1" algn="just"/>
            <a:r>
              <a:rPr lang="en-US" sz="1500" dirty="0">
                <a:latin typeface="Cambria" panose="02040503050406030204" pitchFamily="18" charset="0"/>
              </a:rPr>
              <a:t>            </a:t>
            </a:r>
            <a:r>
              <a:rPr lang="en-US" sz="1500" dirty="0" err="1">
                <a:latin typeface="Cambria" panose="02040503050406030204" pitchFamily="18" charset="0"/>
              </a:rPr>
              <a:t>int</a:t>
            </a:r>
            <a:r>
              <a:rPr lang="en-US" sz="1500" dirty="0">
                <a:latin typeface="Cambria" panose="02040503050406030204" pitchFamily="18" charset="0"/>
              </a:rPr>
              <a:t> z = a * y;</a:t>
            </a:r>
          </a:p>
          <a:p>
            <a:pPr marL="0" lvl="1" algn="just"/>
            <a:r>
              <a:rPr lang="en-US" sz="1500" dirty="0">
                <a:latin typeface="Cambria" panose="02040503050406030204" pitchFamily="18" charset="0"/>
              </a:rPr>
              <a:t>        }</a:t>
            </a:r>
          </a:p>
          <a:p>
            <a:pPr marL="0" lvl="1" algn="just"/>
            <a:r>
              <a:rPr lang="en-US" sz="1500" dirty="0">
                <a:latin typeface="Cambria" panose="02040503050406030204" pitchFamily="18" charset="0"/>
              </a:rPr>
              <a:t>    }</a:t>
            </a:r>
          </a:p>
          <a:p>
            <a:pPr marL="0" lvl="1" algn="just"/>
            <a:r>
              <a:rPr lang="en-US" sz="1500" dirty="0">
                <a:latin typeface="Cambria" panose="02040503050406030204" pitchFamily="18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3354515" y="3669231"/>
            <a:ext cx="2917698" cy="2503249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just">
              <a:spcAft>
                <a:spcPts val="300"/>
              </a:spcAft>
            </a:pPr>
            <a:r>
              <a:rPr lang="en-US" sz="1500" dirty="0">
                <a:latin typeface="Cambria" panose="02040503050406030204" pitchFamily="18" charset="0"/>
              </a:rPr>
              <a:t>A list of local variables declared in the example is:</a:t>
            </a:r>
          </a:p>
          <a:p>
            <a:pPr marL="342900" lvl="1" indent="-171450">
              <a:buFont typeface="Arial" panose="020B0604020202020204" pitchFamily="34" charset="0"/>
              <a:buChar char="•"/>
            </a:pPr>
            <a:r>
              <a:rPr lang="en-US" sz="1500" dirty="0" err="1">
                <a:latin typeface="Cambria" panose="02040503050406030204" pitchFamily="18" charset="0"/>
              </a:rPr>
              <a:t>int</a:t>
            </a:r>
            <a:r>
              <a:rPr lang="en-US" sz="1500" dirty="0">
                <a:latin typeface="Cambria" panose="02040503050406030204" pitchFamily="18" charset="0"/>
              </a:rPr>
              <a:t> a</a:t>
            </a:r>
          </a:p>
          <a:p>
            <a:pPr marL="342900" lvl="1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500" dirty="0" err="1">
                <a:latin typeface="Cambria" panose="02040503050406030204" pitchFamily="18" charset="0"/>
              </a:rPr>
              <a:t>int</a:t>
            </a:r>
            <a:r>
              <a:rPr lang="en-US" sz="1500" dirty="0">
                <a:latin typeface="Cambria" panose="02040503050406030204" pitchFamily="18" charset="0"/>
              </a:rPr>
              <a:t> x</a:t>
            </a:r>
          </a:p>
          <a:p>
            <a:pPr marL="342900" lvl="1" indent="-171450">
              <a:buFont typeface="Arial" panose="020B0604020202020204" pitchFamily="34" charset="0"/>
              <a:buChar char="•"/>
            </a:pPr>
            <a:r>
              <a:rPr lang="en-US" sz="1500" dirty="0" err="1">
                <a:latin typeface="Cambria" panose="02040503050406030204" pitchFamily="18" charset="0"/>
              </a:rPr>
              <a:t>int</a:t>
            </a:r>
            <a:r>
              <a:rPr lang="en-US" sz="1500" dirty="0">
                <a:latin typeface="Cambria" panose="02040503050406030204" pitchFamily="18" charset="0"/>
              </a:rPr>
              <a:t> </a:t>
            </a:r>
            <a:r>
              <a:rPr lang="en-US" sz="1500" dirty="0" err="1">
                <a:latin typeface="Cambria" panose="02040503050406030204" pitchFamily="18" charset="0"/>
              </a:rPr>
              <a:t>i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lvl="1" indent="-171450">
              <a:buFont typeface="Arial" panose="020B0604020202020204" pitchFamily="34" charset="0"/>
              <a:buChar char="•"/>
            </a:pPr>
            <a:r>
              <a:rPr lang="en-US" sz="1500" dirty="0" err="1">
                <a:latin typeface="Cambria" panose="02040503050406030204" pitchFamily="18" charset="0"/>
              </a:rPr>
              <a:t>int</a:t>
            </a:r>
            <a:r>
              <a:rPr lang="en-US" sz="1500" dirty="0">
                <a:latin typeface="Cambria" panose="02040503050406030204" pitchFamily="18" charset="0"/>
              </a:rPr>
              <a:t> y</a:t>
            </a:r>
          </a:p>
          <a:p>
            <a:pPr marL="342900" lvl="1" indent="-171450">
              <a:buFont typeface="Arial" panose="020B0604020202020204" pitchFamily="34" charset="0"/>
              <a:buChar char="•"/>
            </a:pPr>
            <a:r>
              <a:rPr lang="en-US" sz="1500" dirty="0" err="1">
                <a:latin typeface="Cambria" panose="02040503050406030204" pitchFamily="18" charset="0"/>
              </a:rPr>
              <a:t>int</a:t>
            </a:r>
            <a:r>
              <a:rPr lang="en-US" sz="1500" dirty="0">
                <a:latin typeface="Cambria" panose="02040503050406030204" pitchFamily="18" charset="0"/>
              </a:rPr>
              <a:t> z</a:t>
            </a:r>
          </a:p>
          <a:p>
            <a:pPr marL="0" lvl="1" algn="just">
              <a:spcBef>
                <a:spcPts val="400"/>
              </a:spcBef>
            </a:pPr>
            <a:r>
              <a:rPr lang="en-US" sz="1500" dirty="0">
                <a:latin typeface="Cambria" panose="02040503050406030204" pitchFamily="18" charset="0"/>
              </a:rPr>
              <a:t>These variables do not have any existence outside the block they were declared.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6312027" y="4130896"/>
            <a:ext cx="2502352" cy="16004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n-US" sz="1400" dirty="0">
                <a:latin typeface="Cambria" panose="02040503050406030204" pitchFamily="18" charset="0"/>
              </a:rPr>
              <a:t>a and x is accessible/exists throughout the whole method.</a:t>
            </a: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n-US" sz="1400" dirty="0" err="1">
                <a:latin typeface="Cambria" panose="02040503050406030204" pitchFamily="18" charset="0"/>
              </a:rPr>
              <a:t>i</a:t>
            </a:r>
            <a:r>
              <a:rPr lang="en-US" sz="1400" dirty="0">
                <a:latin typeface="Cambria" panose="02040503050406030204" pitchFamily="18" charset="0"/>
              </a:rPr>
              <a:t> and y is accessible/exists only within the for loop.</a:t>
            </a: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n-US" sz="1400" dirty="0">
                <a:latin typeface="Cambria" panose="02040503050406030204" pitchFamily="18" charset="0"/>
              </a:rPr>
              <a:t>z is only accessible/exists inside the if block.</a:t>
            </a:r>
            <a:endParaRPr lang="x-none" sz="14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121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</a:rPr>
              <a:t>Variable Types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</a:rPr>
              <a:t>Different Types of Variables</a:t>
            </a:r>
            <a:endParaRPr lang="x-none" dirty="0">
              <a:latin typeface="Cambria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307822" y="2112731"/>
            <a:ext cx="8521853" cy="30931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lvl="1" algn="just"/>
            <a:r>
              <a:rPr lang="en-US" sz="2000" b="1" dirty="0">
                <a:latin typeface="Cambria" panose="02040503050406030204" pitchFamily="18" charset="0"/>
              </a:rPr>
              <a:t>Class Variables</a:t>
            </a:r>
          </a:p>
          <a:p>
            <a:pPr marL="0" lvl="1" algn="just"/>
            <a:endParaRPr lang="en-US" sz="1100" b="1" dirty="0">
              <a:latin typeface="Cambria" panose="02040503050406030204" pitchFamily="18" charset="0"/>
            </a:endParaRPr>
          </a:p>
          <a:p>
            <a:pPr marL="342900" lvl="1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</a:rPr>
              <a:t>Variables declared inside the scope of a class but outside the scope of any method or constructor are known as Class Variables if and only if the keyword </a:t>
            </a:r>
            <a:r>
              <a:rPr lang="en-US" b="1" dirty="0">
                <a:latin typeface="Cambria" panose="02040503050406030204" pitchFamily="18" charset="0"/>
              </a:rPr>
              <a:t>static</a:t>
            </a:r>
            <a:r>
              <a:rPr lang="en-US" dirty="0">
                <a:latin typeface="Cambria" panose="02040503050406030204" pitchFamily="18" charset="0"/>
              </a:rPr>
              <a:t> is used in the declaration of the variable.</a:t>
            </a:r>
          </a:p>
          <a:p>
            <a:pPr marL="342900" lvl="1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</a:rPr>
              <a:t>It can be accessed from anywhere inside the class it is declared.</a:t>
            </a:r>
          </a:p>
          <a:p>
            <a:pPr marL="342900" lvl="1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</a:rPr>
              <a:t>It can also be accessed from outside of the class it is declared depending its access modifiers.</a:t>
            </a:r>
          </a:p>
          <a:p>
            <a:pPr marL="342900" lvl="1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</a:rPr>
              <a:t>We do not need any object to access it. It is accessed using the class name.</a:t>
            </a:r>
          </a:p>
          <a:p>
            <a:pPr marL="342900" lvl="1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</a:rPr>
              <a:t>All the objects of a class, share the same memory for a class variable.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322111" y="5454552"/>
            <a:ext cx="8507564" cy="369332"/>
          </a:xfrm>
          <a:prstGeom prst="rect">
            <a:avLst/>
          </a:prstGeom>
          <a:solidFill>
            <a:srgbClr val="F2D776"/>
          </a:solidFill>
        </p:spPr>
        <p:txBody>
          <a:bodyPr wrap="square" rtlCol="0">
            <a:spAutoFit/>
          </a:bodyPr>
          <a:lstStyle/>
          <a:p>
            <a:pPr marL="0" lvl="1" algn="just"/>
            <a:r>
              <a:rPr lang="en-US" dirty="0">
                <a:latin typeface="Cambria" panose="02040503050406030204" pitchFamily="18" charset="0"/>
              </a:rPr>
              <a:t>Example and memory representation is given in a later slide.</a:t>
            </a:r>
          </a:p>
        </p:txBody>
      </p:sp>
    </p:spTree>
    <p:extLst>
      <p:ext uri="{BB962C8B-B14F-4D97-AF65-F5344CB8AC3E}">
        <p14:creationId xmlns:p14="http://schemas.microsoft.com/office/powerpoint/2010/main" val="1695662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</a:rPr>
              <a:t>Variable Types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</a:rPr>
              <a:t>Different Types of Variables</a:t>
            </a:r>
            <a:endParaRPr lang="x-none" dirty="0">
              <a:latin typeface="Cambria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307822" y="2112731"/>
            <a:ext cx="8521853" cy="30931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lvl="1" algn="just"/>
            <a:r>
              <a:rPr lang="en-US" sz="2000" b="1" dirty="0">
                <a:latin typeface="Cambria" panose="02040503050406030204" pitchFamily="18" charset="0"/>
              </a:rPr>
              <a:t>Instance Variables</a:t>
            </a:r>
          </a:p>
          <a:p>
            <a:pPr marL="0" lvl="1" algn="just"/>
            <a:endParaRPr lang="en-US" sz="1100" b="1" dirty="0">
              <a:latin typeface="Cambria" panose="02040503050406030204" pitchFamily="18" charset="0"/>
            </a:endParaRPr>
          </a:p>
          <a:p>
            <a:pPr marL="342900" lvl="1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Variables declared inside the scope of a class but outside the scope of any method or constructor are known as Instance Variables if and only if the keyword </a:t>
            </a:r>
            <a:r>
              <a:rPr lang="en-US" b="1" dirty="0">
                <a:latin typeface="Cambria"/>
                <a:ea typeface="Cambria"/>
              </a:rPr>
              <a:t>static </a:t>
            </a:r>
            <a:r>
              <a:rPr lang="en-US" dirty="0">
                <a:latin typeface="Cambria"/>
                <a:ea typeface="Cambria"/>
              </a:rPr>
              <a:t>is not  used in the declaration of the variable.</a:t>
            </a:r>
          </a:p>
          <a:p>
            <a:pPr marL="342900" lvl="1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</a:rPr>
              <a:t>It can be accessed from anywhere inside the class it is declared.</a:t>
            </a:r>
          </a:p>
          <a:p>
            <a:pPr marL="342900" lvl="1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</a:rPr>
              <a:t>It can also be accessed from outside of the class it is declared depending its access modifiers.</a:t>
            </a:r>
          </a:p>
          <a:p>
            <a:pPr marL="342900" lvl="1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We have to use an object to access it.</a:t>
            </a:r>
          </a:p>
          <a:p>
            <a:pPr marL="342900" lvl="1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</a:rPr>
              <a:t>Each of the objects of a class, hold different memory for an instance variable.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322111" y="5454552"/>
            <a:ext cx="8507564" cy="369332"/>
          </a:xfrm>
          <a:prstGeom prst="rect">
            <a:avLst/>
          </a:prstGeom>
          <a:solidFill>
            <a:srgbClr val="F2D776"/>
          </a:solidFill>
        </p:spPr>
        <p:txBody>
          <a:bodyPr wrap="square" rtlCol="0">
            <a:spAutoFit/>
          </a:bodyPr>
          <a:lstStyle/>
          <a:p>
            <a:pPr marL="0" lvl="1" algn="just"/>
            <a:r>
              <a:rPr lang="en-US" dirty="0">
                <a:latin typeface="Cambria" panose="02040503050406030204" pitchFamily="18" charset="0"/>
              </a:rPr>
              <a:t>Example and memory representation is given in a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2058671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</a:rPr>
              <a:t>Variable Types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</a:rPr>
              <a:t>Example of Different Types of Variables</a:t>
            </a:r>
            <a:endParaRPr lang="x-none" dirty="0">
              <a:latin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85751" y="2059923"/>
            <a:ext cx="4629149" cy="4093428"/>
          </a:xfrm>
          <a:prstGeom prst="rect">
            <a:avLst/>
          </a:prstGeom>
          <a:solidFill>
            <a:srgbClr val="F2D776"/>
          </a:solidFill>
        </p:spPr>
        <p:txBody>
          <a:bodyPr wrap="square" rtlCol="0">
            <a:spAutoFit/>
          </a:bodyPr>
          <a:lstStyle/>
          <a:p>
            <a:pPr marL="0" lvl="1" algn="just"/>
            <a:r>
              <a:rPr lang="en-US" sz="1550" dirty="0">
                <a:latin typeface="Cambria" panose="02040503050406030204" pitchFamily="18" charset="0"/>
              </a:rPr>
              <a:t>class Account{</a:t>
            </a:r>
          </a:p>
          <a:p>
            <a:pPr marL="0" lvl="1" algn="just">
              <a:tabLst>
                <a:tab pos="22860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private </a:t>
            </a:r>
            <a:r>
              <a:rPr lang="en-US" sz="1550" dirty="0" err="1">
                <a:latin typeface="Cambria" panose="02040503050406030204" pitchFamily="18" charset="0"/>
              </a:rPr>
              <a:t>int</a:t>
            </a:r>
            <a:r>
              <a:rPr lang="en-US" sz="1550" dirty="0">
                <a:latin typeface="Cambria" panose="02040503050406030204" pitchFamily="18" charset="0"/>
              </a:rPr>
              <a:t> </a:t>
            </a:r>
            <a:r>
              <a:rPr lang="en-US" sz="1550" dirty="0" err="1">
                <a:latin typeface="Cambria" panose="02040503050406030204" pitchFamily="18" charset="0"/>
              </a:rPr>
              <a:t>accountNo</a:t>
            </a:r>
            <a:r>
              <a:rPr lang="en-US" sz="1550" dirty="0">
                <a:latin typeface="Cambria" panose="02040503050406030204" pitchFamily="18" charset="0"/>
              </a:rPr>
              <a:t>;</a:t>
            </a:r>
          </a:p>
          <a:p>
            <a:pPr marL="0" lvl="1" algn="just">
              <a:tabLst>
                <a:tab pos="22860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private double balance;</a:t>
            </a:r>
          </a:p>
          <a:p>
            <a:pPr marL="0" lvl="1" algn="just">
              <a:tabLst>
                <a:tab pos="22860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public static double </a:t>
            </a:r>
            <a:r>
              <a:rPr lang="en-US" sz="1550" dirty="0" err="1">
                <a:latin typeface="Cambria" panose="02040503050406030204" pitchFamily="18" charset="0"/>
              </a:rPr>
              <a:t>perDayTransactionLimit</a:t>
            </a:r>
            <a:r>
              <a:rPr lang="en-US" sz="1550" dirty="0">
                <a:latin typeface="Cambria" panose="02040503050406030204" pitchFamily="18" charset="0"/>
              </a:rPr>
              <a:t>;</a:t>
            </a:r>
          </a:p>
          <a:p>
            <a:pPr marL="0" lvl="1" algn="just">
              <a:tabLst>
                <a:tab pos="228600" algn="l"/>
                <a:tab pos="457200" algn="l"/>
                <a:tab pos="685800" algn="l"/>
              </a:tabLst>
            </a:pPr>
            <a:r>
              <a:rPr lang="en-US" sz="1200" dirty="0">
                <a:latin typeface="Cambria" panose="02040503050406030204" pitchFamily="18" charset="0"/>
              </a:rPr>
              <a:t>	</a:t>
            </a:r>
            <a:endParaRPr lang="en-US" sz="1100" dirty="0">
              <a:latin typeface="Cambria" panose="02040503050406030204" pitchFamily="18" charset="0"/>
            </a:endParaRPr>
          </a:p>
          <a:p>
            <a:pPr marL="0" lvl="1" algn="just">
              <a:tabLst>
                <a:tab pos="22860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public Account( ){ }</a:t>
            </a:r>
          </a:p>
          <a:p>
            <a:pPr marL="0" lvl="1" algn="just">
              <a:tabLst>
                <a:tab pos="22860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public Account(</a:t>
            </a:r>
            <a:r>
              <a:rPr lang="en-US" sz="1550" dirty="0" err="1">
                <a:latin typeface="Cambria" panose="02040503050406030204" pitchFamily="18" charset="0"/>
              </a:rPr>
              <a:t>int</a:t>
            </a:r>
            <a:r>
              <a:rPr lang="en-US" sz="1550" dirty="0">
                <a:latin typeface="Cambria" panose="02040503050406030204" pitchFamily="18" charset="0"/>
              </a:rPr>
              <a:t> an, double b){</a:t>
            </a:r>
          </a:p>
          <a:p>
            <a:pPr marL="0" lvl="1" algn="just">
              <a:tabLst>
                <a:tab pos="228600" algn="l"/>
                <a:tab pos="457200" algn="l"/>
                <a:tab pos="685800" algn="l"/>
                <a:tab pos="234315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	</a:t>
            </a:r>
            <a:r>
              <a:rPr lang="en-US" sz="1550" dirty="0" err="1">
                <a:latin typeface="Cambria" panose="02040503050406030204" pitchFamily="18" charset="0"/>
              </a:rPr>
              <a:t>accountNo</a:t>
            </a:r>
            <a:r>
              <a:rPr lang="en-US" sz="1550" dirty="0">
                <a:latin typeface="Cambria" panose="02040503050406030204" pitchFamily="18" charset="0"/>
              </a:rPr>
              <a:t> = an; 	balance = b;</a:t>
            </a:r>
          </a:p>
          <a:p>
            <a:pPr marL="0" lvl="1" algn="just">
              <a:tabLst>
                <a:tab pos="22860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}</a:t>
            </a:r>
          </a:p>
          <a:p>
            <a:pPr marL="0" lvl="1" algn="just">
              <a:tabLst>
                <a:tab pos="22860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public void </a:t>
            </a:r>
            <a:r>
              <a:rPr lang="en-US" sz="1550" dirty="0" err="1">
                <a:latin typeface="Cambria" panose="02040503050406030204" pitchFamily="18" charset="0"/>
              </a:rPr>
              <a:t>addInterest</a:t>
            </a:r>
            <a:r>
              <a:rPr lang="en-US" sz="1550" dirty="0">
                <a:latin typeface="Cambria" panose="02040503050406030204" pitchFamily="18" charset="0"/>
              </a:rPr>
              <a:t>(double rate){</a:t>
            </a:r>
          </a:p>
          <a:p>
            <a:pPr marL="0" lvl="1" algn="just">
              <a:tabLst>
                <a:tab pos="22860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	balance  = balance + (balance * rate / 100);</a:t>
            </a:r>
          </a:p>
          <a:p>
            <a:pPr marL="0" lvl="1" algn="just">
              <a:tabLst>
                <a:tab pos="22860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}</a:t>
            </a:r>
          </a:p>
          <a:p>
            <a:pPr marL="0" lvl="1" algn="just">
              <a:tabLst>
                <a:tab pos="22860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public void show( ){</a:t>
            </a:r>
          </a:p>
          <a:p>
            <a:pPr marL="0" lvl="1" algn="just">
              <a:tabLst>
                <a:tab pos="22860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	</a:t>
            </a:r>
            <a:r>
              <a:rPr lang="en-US" sz="1550" dirty="0" err="1">
                <a:latin typeface="Cambria" panose="02040503050406030204" pitchFamily="18" charset="0"/>
              </a:rPr>
              <a:t>System.out.println</a:t>
            </a:r>
            <a:r>
              <a:rPr lang="en-US" sz="1550" dirty="0">
                <a:latin typeface="Cambria" panose="02040503050406030204" pitchFamily="18" charset="0"/>
              </a:rPr>
              <a:t>(“</a:t>
            </a:r>
            <a:r>
              <a:rPr lang="en-US" sz="1550" dirty="0" err="1">
                <a:latin typeface="Cambria" panose="02040503050406030204" pitchFamily="18" charset="0"/>
              </a:rPr>
              <a:t>AccountNo</a:t>
            </a:r>
            <a:r>
              <a:rPr lang="en-US" sz="1550" dirty="0">
                <a:latin typeface="Cambria" panose="02040503050406030204" pitchFamily="18" charset="0"/>
              </a:rPr>
              <a:t>: ”+ </a:t>
            </a:r>
            <a:r>
              <a:rPr lang="en-US" sz="1550" dirty="0" err="1">
                <a:latin typeface="Cambria" panose="02040503050406030204" pitchFamily="18" charset="0"/>
              </a:rPr>
              <a:t>accountNo</a:t>
            </a:r>
            <a:r>
              <a:rPr lang="en-US" sz="1550" dirty="0">
                <a:latin typeface="Cambria" panose="02040503050406030204" pitchFamily="18" charset="0"/>
              </a:rPr>
              <a:t>);</a:t>
            </a:r>
          </a:p>
          <a:p>
            <a:pPr marL="0" lvl="1" algn="just">
              <a:tabLst>
                <a:tab pos="22860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	</a:t>
            </a:r>
            <a:r>
              <a:rPr lang="en-US" sz="1550" dirty="0" err="1">
                <a:latin typeface="Cambria" panose="02040503050406030204" pitchFamily="18" charset="0"/>
              </a:rPr>
              <a:t>System.out.println</a:t>
            </a:r>
            <a:r>
              <a:rPr lang="en-US" sz="1550" dirty="0">
                <a:latin typeface="Cambria" panose="02040503050406030204" pitchFamily="18" charset="0"/>
              </a:rPr>
              <a:t>(“Balance: ”+ balance);</a:t>
            </a:r>
          </a:p>
          <a:p>
            <a:pPr marL="0" lvl="1" algn="just">
              <a:tabLst>
                <a:tab pos="22860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}</a:t>
            </a:r>
          </a:p>
          <a:p>
            <a:pPr marL="0" lvl="1" algn="just">
              <a:tabLst>
                <a:tab pos="22860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5011863" y="2059923"/>
            <a:ext cx="3846385" cy="830997"/>
          </a:xfrm>
          <a:prstGeom prst="rect">
            <a:avLst/>
          </a:prstGeom>
          <a:solidFill>
            <a:srgbClr val="CC3300"/>
          </a:solidFill>
        </p:spPr>
        <p:txBody>
          <a:bodyPr wrap="square" rtlCol="0">
            <a:spAutoFit/>
          </a:bodyPr>
          <a:lstStyle/>
          <a:p>
            <a:pPr algn="just">
              <a:spcAft>
                <a:spcPts val="300"/>
              </a:spcAft>
            </a:pPr>
            <a:r>
              <a:rPr lang="en-US" sz="1600" dirty="0">
                <a:latin typeface="Cambria" panose="02040503050406030204" pitchFamily="18" charset="0"/>
              </a:rPr>
              <a:t>Can you identify which ones are local variables, which ones are class variables and which ones are instance variables?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842247"/>
              </p:ext>
            </p:extLst>
          </p:nvPr>
        </p:nvGraphicFramePr>
        <p:xfrm>
          <a:off x="5011864" y="3122163"/>
          <a:ext cx="3846385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0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5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ambria" panose="02040503050406030204" pitchFamily="18" charset="0"/>
                        </a:rPr>
                        <a:t>Local Variable</a:t>
                      </a: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ambria" panose="02040503050406030204" pitchFamily="18" charset="0"/>
                        </a:rPr>
                        <a:t>Class Variable</a:t>
                      </a: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ambria" panose="02040503050406030204" pitchFamily="18" charset="0"/>
                        </a:rPr>
                        <a:t>Instance Variable</a:t>
                      </a: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396747"/>
              </p:ext>
            </p:extLst>
          </p:nvPr>
        </p:nvGraphicFramePr>
        <p:xfrm>
          <a:off x="5011864" y="3120059"/>
          <a:ext cx="3846385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0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5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ambria" panose="02040503050406030204" pitchFamily="18" charset="0"/>
                        </a:rPr>
                        <a:t>Local Variable</a:t>
                      </a: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ambria" panose="02040503050406030204" pitchFamily="18" charset="0"/>
                        </a:rPr>
                        <a:t>an, b, rate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ambria" panose="02040503050406030204" pitchFamily="18" charset="0"/>
                        </a:rPr>
                        <a:t>Class Variable</a:t>
                      </a: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ambria" panose="02040503050406030204" pitchFamily="18" charset="0"/>
                        </a:rPr>
                        <a:t>Instance Variable</a:t>
                      </a: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573180"/>
              </p:ext>
            </p:extLst>
          </p:nvPr>
        </p:nvGraphicFramePr>
        <p:xfrm>
          <a:off x="5011862" y="3122163"/>
          <a:ext cx="3846385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0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5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ambria" panose="02040503050406030204" pitchFamily="18" charset="0"/>
                        </a:rPr>
                        <a:t>Local Variable</a:t>
                      </a: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ambria" panose="02040503050406030204" pitchFamily="18" charset="0"/>
                        </a:rPr>
                        <a:t>an, b, rate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ambria" panose="02040503050406030204" pitchFamily="18" charset="0"/>
                        </a:rPr>
                        <a:t>Class Variable</a:t>
                      </a: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ambria" panose="02040503050406030204" pitchFamily="18" charset="0"/>
                        </a:rPr>
                        <a:t>perDayTransactionLimit</a:t>
                      </a:r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ambria" panose="02040503050406030204" pitchFamily="18" charset="0"/>
                        </a:rPr>
                        <a:t>Instance Variable</a:t>
                      </a: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899812"/>
              </p:ext>
            </p:extLst>
          </p:nvPr>
        </p:nvGraphicFramePr>
        <p:xfrm>
          <a:off x="5011864" y="3129057"/>
          <a:ext cx="3846385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0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5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ambria" panose="02040503050406030204" pitchFamily="18" charset="0"/>
                        </a:rPr>
                        <a:t>Local Variable</a:t>
                      </a: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ambria" panose="02040503050406030204" pitchFamily="18" charset="0"/>
                        </a:rPr>
                        <a:t>an, b, rate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ambria" panose="02040503050406030204" pitchFamily="18" charset="0"/>
                        </a:rPr>
                        <a:t>Class Variable</a:t>
                      </a: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ambria" panose="02040503050406030204" pitchFamily="18" charset="0"/>
                        </a:rPr>
                        <a:t>perDayTransactionLimit</a:t>
                      </a:r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ambria" panose="02040503050406030204" pitchFamily="18" charset="0"/>
                        </a:rPr>
                        <a:t>Instance Variable</a:t>
                      </a: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ambria" panose="02040503050406030204" pitchFamily="18" charset="0"/>
                        </a:rPr>
                        <a:t>accountNo</a:t>
                      </a:r>
                      <a:r>
                        <a:rPr lang="en-US" sz="1400" dirty="0">
                          <a:latin typeface="Cambria" panose="02040503050406030204" pitchFamily="18" charset="0"/>
                        </a:rPr>
                        <a:t>, balance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955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</a:rPr>
              <a:t>Variable Types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Memory </a:t>
            </a:r>
            <a:r>
              <a:rPr lang="en-US" dirty="0">
                <a:latin typeface="Cambria" panose="02040503050406030204" pitchFamily="18" charset="0"/>
              </a:rPr>
              <a:t>Representation of Different Types of Variables</a:t>
            </a:r>
            <a:endParaRPr lang="x-none" dirty="0">
              <a:latin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85751" y="2059923"/>
            <a:ext cx="4629149" cy="4093428"/>
          </a:xfrm>
          <a:prstGeom prst="rect">
            <a:avLst/>
          </a:prstGeom>
          <a:solidFill>
            <a:srgbClr val="F2D776"/>
          </a:solidFill>
        </p:spPr>
        <p:txBody>
          <a:bodyPr wrap="square" rtlCol="0">
            <a:spAutoFit/>
          </a:bodyPr>
          <a:lstStyle/>
          <a:p>
            <a:pPr marL="0" lvl="1" algn="just"/>
            <a:r>
              <a:rPr lang="en-US" sz="1550" dirty="0">
                <a:latin typeface="Cambria" panose="02040503050406030204" pitchFamily="18" charset="0"/>
              </a:rPr>
              <a:t>class Account{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private </a:t>
            </a:r>
            <a:r>
              <a:rPr lang="en-US" sz="1550" dirty="0" err="1">
                <a:latin typeface="Cambria" panose="02040503050406030204" pitchFamily="18" charset="0"/>
              </a:rPr>
              <a:t>int</a:t>
            </a:r>
            <a:r>
              <a:rPr lang="en-US" sz="1550" dirty="0">
                <a:latin typeface="Cambria" panose="02040503050406030204" pitchFamily="18" charset="0"/>
              </a:rPr>
              <a:t> </a:t>
            </a:r>
            <a:r>
              <a:rPr lang="en-US" sz="1550" dirty="0" err="1">
                <a:latin typeface="Cambria" panose="02040503050406030204" pitchFamily="18" charset="0"/>
              </a:rPr>
              <a:t>accountNo</a:t>
            </a:r>
            <a:r>
              <a:rPr lang="en-US" sz="1550" dirty="0">
                <a:latin typeface="Cambria" panose="02040503050406030204" pitchFamily="18" charset="0"/>
              </a:rPr>
              <a:t>;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private double balance;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public static double </a:t>
            </a:r>
            <a:r>
              <a:rPr lang="en-US" sz="1550" dirty="0" err="1">
                <a:latin typeface="Cambria" panose="02040503050406030204" pitchFamily="18" charset="0"/>
              </a:rPr>
              <a:t>perDayTransactionLimit</a:t>
            </a:r>
            <a:r>
              <a:rPr lang="en-US" sz="1550" dirty="0">
                <a:latin typeface="Cambria" panose="02040503050406030204" pitchFamily="18" charset="0"/>
              </a:rPr>
              <a:t>= 500;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200" dirty="0">
                <a:latin typeface="Cambria" panose="02040503050406030204" pitchFamily="18" charset="0"/>
              </a:rPr>
              <a:t>	</a:t>
            </a:r>
            <a:endParaRPr lang="en-US" sz="1100" dirty="0">
              <a:latin typeface="Cambria" panose="02040503050406030204" pitchFamily="18" charset="0"/>
            </a:endParaRP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public Account( ){ }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public Account(</a:t>
            </a:r>
            <a:r>
              <a:rPr lang="en-US" sz="1550" dirty="0" err="1">
                <a:latin typeface="Cambria" panose="02040503050406030204" pitchFamily="18" charset="0"/>
              </a:rPr>
              <a:t>int</a:t>
            </a:r>
            <a:r>
              <a:rPr lang="en-US" sz="1550" dirty="0">
                <a:latin typeface="Cambria" panose="02040503050406030204" pitchFamily="18" charset="0"/>
              </a:rPr>
              <a:t> an, double b){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  <a:tab pos="22860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	</a:t>
            </a:r>
            <a:r>
              <a:rPr lang="en-US" sz="1550" dirty="0" err="1">
                <a:latin typeface="Cambria" panose="02040503050406030204" pitchFamily="18" charset="0"/>
              </a:rPr>
              <a:t>accountNo</a:t>
            </a:r>
            <a:r>
              <a:rPr lang="en-US" sz="1550" dirty="0">
                <a:latin typeface="Cambria" panose="02040503050406030204" pitchFamily="18" charset="0"/>
              </a:rPr>
              <a:t> = an;	balance = b;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}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public void </a:t>
            </a:r>
            <a:r>
              <a:rPr lang="en-US" sz="1550" dirty="0" err="1">
                <a:latin typeface="Cambria" panose="02040503050406030204" pitchFamily="18" charset="0"/>
              </a:rPr>
              <a:t>addInterest</a:t>
            </a:r>
            <a:r>
              <a:rPr lang="en-US" sz="1550" dirty="0">
                <a:latin typeface="Cambria" panose="02040503050406030204" pitchFamily="18" charset="0"/>
              </a:rPr>
              <a:t>(double rate){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	balance  = balance + (balance * rate / 100);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}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public void show( ){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	</a:t>
            </a:r>
            <a:r>
              <a:rPr lang="en-US" sz="1550" dirty="0" err="1">
                <a:latin typeface="Cambria" panose="02040503050406030204" pitchFamily="18" charset="0"/>
              </a:rPr>
              <a:t>System.out.println</a:t>
            </a:r>
            <a:r>
              <a:rPr lang="en-US" sz="1550" dirty="0">
                <a:latin typeface="Cambria" panose="02040503050406030204" pitchFamily="18" charset="0"/>
              </a:rPr>
              <a:t>(“</a:t>
            </a:r>
            <a:r>
              <a:rPr lang="en-US" sz="1550" dirty="0" err="1">
                <a:latin typeface="Cambria" panose="02040503050406030204" pitchFamily="18" charset="0"/>
              </a:rPr>
              <a:t>AccountNo</a:t>
            </a:r>
            <a:r>
              <a:rPr lang="en-US" sz="1550" dirty="0">
                <a:latin typeface="Cambria" panose="02040503050406030204" pitchFamily="18" charset="0"/>
              </a:rPr>
              <a:t>: ”+ </a:t>
            </a:r>
            <a:r>
              <a:rPr lang="en-US" sz="1550" dirty="0" err="1">
                <a:latin typeface="Cambria" panose="02040503050406030204" pitchFamily="18" charset="0"/>
              </a:rPr>
              <a:t>accountNo</a:t>
            </a:r>
            <a:r>
              <a:rPr lang="en-US" sz="1550" dirty="0">
                <a:latin typeface="Cambria" panose="02040503050406030204" pitchFamily="18" charset="0"/>
              </a:rPr>
              <a:t>);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	</a:t>
            </a:r>
            <a:r>
              <a:rPr lang="en-US" sz="1550" dirty="0" err="1">
                <a:latin typeface="Cambria" panose="02040503050406030204" pitchFamily="18" charset="0"/>
              </a:rPr>
              <a:t>System.out.println</a:t>
            </a:r>
            <a:r>
              <a:rPr lang="en-US" sz="1550" dirty="0">
                <a:latin typeface="Cambria" panose="02040503050406030204" pitchFamily="18" charset="0"/>
              </a:rPr>
              <a:t>(“Balance: ”+ balance);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}</a:t>
            </a:r>
          </a:p>
          <a:p>
            <a:pPr marL="0" lvl="1" algn="just">
              <a:tabLst>
                <a:tab pos="22860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5011861" y="3292135"/>
            <a:ext cx="3846385" cy="584775"/>
          </a:xfrm>
          <a:prstGeom prst="rect">
            <a:avLst/>
          </a:prstGeom>
          <a:solidFill>
            <a:srgbClr val="CC3300"/>
          </a:solidFill>
        </p:spPr>
        <p:txBody>
          <a:bodyPr wrap="square" rtlCol="0">
            <a:spAutoFit/>
          </a:bodyPr>
          <a:lstStyle/>
          <a:p>
            <a:pPr algn="just">
              <a:spcAft>
                <a:spcPts val="300"/>
              </a:spcAft>
            </a:pPr>
            <a:r>
              <a:rPr lang="en-US" sz="1600" dirty="0">
                <a:latin typeface="Cambria" panose="02040503050406030204" pitchFamily="18" charset="0"/>
              </a:rPr>
              <a:t>What will be the memory representation for an object of account?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5011862" y="2078721"/>
            <a:ext cx="3846385" cy="1154162"/>
          </a:xfrm>
          <a:prstGeom prst="rect">
            <a:avLst/>
          </a:prstGeom>
          <a:solidFill>
            <a:srgbClr val="F2D776"/>
          </a:solidFill>
        </p:spPr>
        <p:txBody>
          <a:bodyPr wrap="square" rtlCol="0">
            <a:spAutoFit/>
          </a:bodyPr>
          <a:lstStyle/>
          <a:p>
            <a:pPr algn="just">
              <a:spcAft>
                <a:spcPts val="300"/>
              </a:spcAft>
            </a:pPr>
            <a:r>
              <a:rPr lang="en-US" sz="1600" dirty="0">
                <a:latin typeface="Cambria" panose="02040503050406030204" pitchFamily="18" charset="0"/>
              </a:rPr>
              <a:t>Lets assume that we are creating two objects of this account class:</a:t>
            </a:r>
          </a:p>
          <a:p>
            <a:pPr algn="just">
              <a:spcAft>
                <a:spcPts val="300"/>
              </a:spcAft>
            </a:pPr>
            <a:r>
              <a:rPr lang="en-US" sz="1600" dirty="0">
                <a:latin typeface="Cambria" panose="02040503050406030204" pitchFamily="18" charset="0"/>
              </a:rPr>
              <a:t>Account a1 = new Account(1111, 200.0);</a:t>
            </a:r>
          </a:p>
          <a:p>
            <a:pPr algn="just">
              <a:spcAft>
                <a:spcPts val="300"/>
              </a:spcAft>
            </a:pPr>
            <a:r>
              <a:rPr lang="en-US" sz="1600" dirty="0">
                <a:latin typeface="Cambria" panose="02040503050406030204" pitchFamily="18" charset="0"/>
              </a:rPr>
              <a:t>Account a2 = new Account(1112, 250.0);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788988"/>
              </p:ext>
            </p:extLst>
          </p:nvPr>
        </p:nvGraphicFramePr>
        <p:xfrm>
          <a:off x="5011864" y="4122511"/>
          <a:ext cx="183184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1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500" dirty="0" err="1">
                          <a:latin typeface="Cambria" panose="02040503050406030204" pitchFamily="18" charset="0"/>
                        </a:rPr>
                        <a:t>accountNo</a:t>
                      </a:r>
                      <a:endParaRPr lang="en-US" sz="1500" dirty="0">
                        <a:latin typeface="Cambria" panose="02040503050406030204" pitchFamily="18" charset="0"/>
                      </a:endParaRP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mbria" panose="02040503050406030204" pitchFamily="18" charset="0"/>
                        </a:rPr>
                        <a:t>balance</a:t>
                      </a: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69702"/>
              </p:ext>
            </p:extLst>
          </p:nvPr>
        </p:nvGraphicFramePr>
        <p:xfrm>
          <a:off x="7026398" y="4122511"/>
          <a:ext cx="183184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1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500" dirty="0" err="1">
                          <a:latin typeface="Cambria" panose="02040503050406030204" pitchFamily="18" charset="0"/>
                        </a:rPr>
                        <a:t>accountNo</a:t>
                      </a:r>
                      <a:endParaRPr lang="en-US" sz="1500" dirty="0">
                        <a:latin typeface="Cambria" panose="02040503050406030204" pitchFamily="18" charset="0"/>
                      </a:endParaRP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ambria" panose="02040503050406030204" pitchFamily="18" charset="0"/>
                        </a:rPr>
                        <a:t>1112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mbria" panose="02040503050406030204" pitchFamily="18" charset="0"/>
                        </a:rPr>
                        <a:t>balance</a:t>
                      </a: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mbria" panose="02040503050406030204" pitchFamily="18" charset="0"/>
                        </a:rPr>
                        <a:t>250.0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70711"/>
              </p:ext>
            </p:extLst>
          </p:nvPr>
        </p:nvGraphicFramePr>
        <p:xfrm>
          <a:off x="5433341" y="5382979"/>
          <a:ext cx="300342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4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500" dirty="0" err="1">
                          <a:latin typeface="Cambria" panose="02040503050406030204" pitchFamily="18" charset="0"/>
                        </a:rPr>
                        <a:t>perDayTransactionLimit</a:t>
                      </a:r>
                      <a:endParaRPr lang="en-US" sz="1500" dirty="0">
                        <a:latin typeface="Cambria" panose="02040503050406030204" pitchFamily="18" charset="0"/>
                      </a:endParaRP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80564" y="4907375"/>
            <a:ext cx="445847" cy="3690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</a:rPr>
              <a:t>a1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5098" y="4905789"/>
            <a:ext cx="4944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</a:rPr>
              <a:t>a2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777692"/>
              </p:ext>
            </p:extLst>
          </p:nvPr>
        </p:nvGraphicFramePr>
        <p:xfrm>
          <a:off x="5006004" y="4122831"/>
          <a:ext cx="183184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1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500" dirty="0" err="1">
                          <a:latin typeface="Cambria" panose="02040503050406030204" pitchFamily="18" charset="0"/>
                        </a:rPr>
                        <a:t>accountNo</a:t>
                      </a:r>
                      <a:endParaRPr lang="en-US" sz="1500" dirty="0">
                        <a:latin typeface="Cambria" panose="02040503050406030204" pitchFamily="18" charset="0"/>
                      </a:endParaRP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ambria" panose="02040503050406030204" pitchFamily="18" charset="0"/>
                        </a:rPr>
                        <a:t>1111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mbria" panose="02040503050406030204" pitchFamily="18" charset="0"/>
                        </a:rPr>
                        <a:t>balance</a:t>
                      </a: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mbria" panose="02040503050406030204" pitchFamily="18" charset="0"/>
                        </a:rPr>
                        <a:t>200.0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13292"/>
              </p:ext>
            </p:extLst>
          </p:nvPr>
        </p:nvGraphicFramePr>
        <p:xfrm>
          <a:off x="5433341" y="5379885"/>
          <a:ext cx="300342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4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500" dirty="0" err="1">
                          <a:latin typeface="Cambria" panose="02040503050406030204" pitchFamily="18" charset="0"/>
                        </a:rPr>
                        <a:t>perDayTransactionLimit</a:t>
                      </a:r>
                      <a:endParaRPr lang="en-US" sz="1500" dirty="0">
                        <a:latin typeface="Cambria" panose="02040503050406030204" pitchFamily="18" charset="0"/>
                      </a:endParaRP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ambria" panose="02040503050406030204" pitchFamily="18" charset="0"/>
                        </a:rPr>
                        <a:t>500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2" name="Curved Connector 31"/>
          <p:cNvCxnSpPr>
            <a:stCxn id="4" idx="3"/>
            <a:endCxn id="19" idx="0"/>
          </p:cNvCxnSpPr>
          <p:nvPr/>
        </p:nvCxnSpPr>
        <p:spPr>
          <a:xfrm>
            <a:off x="6126411" y="5091881"/>
            <a:ext cx="808642" cy="288004"/>
          </a:xfrm>
          <a:prstGeom prst="curvedConnector2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/>
          <p:cNvCxnSpPr>
            <a:stCxn id="17" idx="1"/>
            <a:endCxn id="19" idx="0"/>
          </p:cNvCxnSpPr>
          <p:nvPr/>
        </p:nvCxnSpPr>
        <p:spPr>
          <a:xfrm rot="10800000" flipV="1">
            <a:off x="6935054" y="5090455"/>
            <a:ext cx="760045" cy="289430"/>
          </a:xfrm>
          <a:prstGeom prst="curvedConnector2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628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4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</a:rPr>
              <a:t>Variable Types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</a:rPr>
              <a:t>Memory Representation of Different Types of Variables</a:t>
            </a:r>
            <a:endParaRPr lang="x-none" dirty="0">
              <a:latin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85751" y="2059923"/>
            <a:ext cx="4629149" cy="4093428"/>
          </a:xfrm>
          <a:prstGeom prst="rect">
            <a:avLst/>
          </a:prstGeom>
          <a:solidFill>
            <a:srgbClr val="F2D776"/>
          </a:solidFill>
        </p:spPr>
        <p:txBody>
          <a:bodyPr wrap="square" rtlCol="0">
            <a:spAutoFit/>
          </a:bodyPr>
          <a:lstStyle/>
          <a:p>
            <a:pPr marL="0" lvl="1" algn="just"/>
            <a:r>
              <a:rPr lang="en-US" sz="1550" dirty="0">
                <a:latin typeface="Cambria" panose="02040503050406030204" pitchFamily="18" charset="0"/>
              </a:rPr>
              <a:t>class Account{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private </a:t>
            </a:r>
            <a:r>
              <a:rPr lang="en-US" sz="1550" dirty="0" err="1">
                <a:latin typeface="Cambria" panose="02040503050406030204" pitchFamily="18" charset="0"/>
              </a:rPr>
              <a:t>int</a:t>
            </a:r>
            <a:r>
              <a:rPr lang="en-US" sz="1550" dirty="0">
                <a:latin typeface="Cambria" panose="02040503050406030204" pitchFamily="18" charset="0"/>
              </a:rPr>
              <a:t> </a:t>
            </a:r>
            <a:r>
              <a:rPr lang="en-US" sz="1550" dirty="0" err="1">
                <a:latin typeface="Cambria" panose="02040503050406030204" pitchFamily="18" charset="0"/>
              </a:rPr>
              <a:t>accountNo</a:t>
            </a:r>
            <a:r>
              <a:rPr lang="en-US" sz="1550" dirty="0">
                <a:latin typeface="Cambria" panose="02040503050406030204" pitchFamily="18" charset="0"/>
              </a:rPr>
              <a:t>;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private double balance;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public static double </a:t>
            </a:r>
            <a:r>
              <a:rPr lang="en-US" sz="1550" dirty="0" err="1">
                <a:latin typeface="Cambria" panose="02040503050406030204" pitchFamily="18" charset="0"/>
              </a:rPr>
              <a:t>perDayTransactionLimit</a:t>
            </a:r>
            <a:r>
              <a:rPr lang="en-US" sz="1550" dirty="0">
                <a:latin typeface="Cambria" panose="02040503050406030204" pitchFamily="18" charset="0"/>
              </a:rPr>
              <a:t>= 500;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200" dirty="0">
                <a:latin typeface="Cambria" panose="02040503050406030204" pitchFamily="18" charset="0"/>
              </a:rPr>
              <a:t>	</a:t>
            </a:r>
            <a:endParaRPr lang="en-US" sz="1100" dirty="0">
              <a:latin typeface="Cambria" panose="02040503050406030204" pitchFamily="18" charset="0"/>
            </a:endParaRP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public Account( ){ }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public Account(</a:t>
            </a:r>
            <a:r>
              <a:rPr lang="en-US" sz="1550" dirty="0" err="1">
                <a:latin typeface="Cambria" panose="02040503050406030204" pitchFamily="18" charset="0"/>
              </a:rPr>
              <a:t>int</a:t>
            </a:r>
            <a:r>
              <a:rPr lang="en-US" sz="1550" dirty="0">
                <a:latin typeface="Cambria" panose="02040503050406030204" pitchFamily="18" charset="0"/>
              </a:rPr>
              <a:t> an, double b){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  <a:tab pos="22860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	</a:t>
            </a:r>
            <a:r>
              <a:rPr lang="en-US" sz="1550" dirty="0" err="1">
                <a:latin typeface="Cambria" panose="02040503050406030204" pitchFamily="18" charset="0"/>
              </a:rPr>
              <a:t>accountNo</a:t>
            </a:r>
            <a:r>
              <a:rPr lang="en-US" sz="1550" dirty="0">
                <a:latin typeface="Cambria" panose="02040503050406030204" pitchFamily="18" charset="0"/>
              </a:rPr>
              <a:t> = an;	balance = b;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}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public void </a:t>
            </a:r>
            <a:r>
              <a:rPr lang="en-US" sz="1550" dirty="0" err="1">
                <a:latin typeface="Cambria" panose="02040503050406030204" pitchFamily="18" charset="0"/>
              </a:rPr>
              <a:t>addInterest</a:t>
            </a:r>
            <a:r>
              <a:rPr lang="en-US" sz="1550" dirty="0">
                <a:latin typeface="Cambria" panose="02040503050406030204" pitchFamily="18" charset="0"/>
              </a:rPr>
              <a:t>(double rate){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	balance  = balance + (balance * rate / 100);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}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public void show( ){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	</a:t>
            </a:r>
            <a:r>
              <a:rPr lang="en-US" sz="1550" dirty="0" err="1">
                <a:latin typeface="Cambria" panose="02040503050406030204" pitchFamily="18" charset="0"/>
              </a:rPr>
              <a:t>System.out.println</a:t>
            </a:r>
            <a:r>
              <a:rPr lang="en-US" sz="1550" dirty="0">
                <a:latin typeface="Cambria" panose="02040503050406030204" pitchFamily="18" charset="0"/>
              </a:rPr>
              <a:t>(“</a:t>
            </a:r>
            <a:r>
              <a:rPr lang="en-US" sz="1550" dirty="0" err="1">
                <a:latin typeface="Cambria" panose="02040503050406030204" pitchFamily="18" charset="0"/>
              </a:rPr>
              <a:t>AccountNo</a:t>
            </a:r>
            <a:r>
              <a:rPr lang="en-US" sz="1550" dirty="0">
                <a:latin typeface="Cambria" panose="02040503050406030204" pitchFamily="18" charset="0"/>
              </a:rPr>
              <a:t>: ”+ </a:t>
            </a:r>
            <a:r>
              <a:rPr lang="en-US" sz="1550" dirty="0" err="1">
                <a:latin typeface="Cambria" panose="02040503050406030204" pitchFamily="18" charset="0"/>
              </a:rPr>
              <a:t>accountNo</a:t>
            </a:r>
            <a:r>
              <a:rPr lang="en-US" sz="1550" dirty="0">
                <a:latin typeface="Cambria" panose="02040503050406030204" pitchFamily="18" charset="0"/>
              </a:rPr>
              <a:t>);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	</a:t>
            </a:r>
            <a:r>
              <a:rPr lang="en-US" sz="1550" dirty="0" err="1">
                <a:latin typeface="Cambria" panose="02040503050406030204" pitchFamily="18" charset="0"/>
              </a:rPr>
              <a:t>System.out.println</a:t>
            </a:r>
            <a:r>
              <a:rPr lang="en-US" sz="1550" dirty="0">
                <a:latin typeface="Cambria" panose="02040503050406030204" pitchFamily="18" charset="0"/>
              </a:rPr>
              <a:t>(“Balance: ”+ balance);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}</a:t>
            </a:r>
          </a:p>
          <a:p>
            <a:pPr marL="0" lvl="1" algn="just">
              <a:tabLst>
                <a:tab pos="22860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5006004" y="2065933"/>
            <a:ext cx="3846385" cy="869469"/>
          </a:xfrm>
          <a:prstGeom prst="rect">
            <a:avLst/>
          </a:prstGeom>
          <a:solidFill>
            <a:srgbClr val="CC3300"/>
          </a:solidFill>
        </p:spPr>
        <p:txBody>
          <a:bodyPr wrap="square" rtlCol="0">
            <a:spAutoFit/>
          </a:bodyPr>
          <a:lstStyle/>
          <a:p>
            <a:pPr algn="just">
              <a:spcAft>
                <a:spcPts val="300"/>
              </a:spcAft>
            </a:pPr>
            <a:r>
              <a:rPr lang="en-US" sz="1600" dirty="0">
                <a:latin typeface="Cambria" panose="02040503050406030204" pitchFamily="18" charset="0"/>
              </a:rPr>
              <a:t>What will be the memory representation for another object of account?</a:t>
            </a:r>
          </a:p>
          <a:p>
            <a:pPr algn="just">
              <a:spcAft>
                <a:spcPts val="300"/>
              </a:spcAft>
            </a:pPr>
            <a:r>
              <a:rPr lang="en-US" sz="1600" dirty="0">
                <a:latin typeface="Cambria" panose="02040503050406030204" pitchFamily="18" charset="0"/>
              </a:rPr>
              <a:t>Account a3 = new Account(1113, 300.0);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041163"/>
              </p:ext>
            </p:extLst>
          </p:nvPr>
        </p:nvGraphicFramePr>
        <p:xfrm>
          <a:off x="7026398" y="3193814"/>
          <a:ext cx="183184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1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500" dirty="0" err="1">
                          <a:latin typeface="Cambria" panose="02040503050406030204" pitchFamily="18" charset="0"/>
                        </a:rPr>
                        <a:t>accountNo</a:t>
                      </a:r>
                      <a:endParaRPr lang="en-US" sz="1500" dirty="0">
                        <a:latin typeface="Cambria" panose="02040503050406030204" pitchFamily="18" charset="0"/>
                      </a:endParaRP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ambria" panose="02040503050406030204" pitchFamily="18" charset="0"/>
                        </a:rPr>
                        <a:t>1112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mbria" panose="02040503050406030204" pitchFamily="18" charset="0"/>
                        </a:rPr>
                        <a:t>balance</a:t>
                      </a: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mbria" panose="02040503050406030204" pitchFamily="18" charset="0"/>
                        </a:rPr>
                        <a:t>250.0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80564" y="3978678"/>
            <a:ext cx="445847" cy="3690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</a:rPr>
              <a:t>a1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5098" y="3977092"/>
            <a:ext cx="4944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</a:rPr>
              <a:t>a2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22094"/>
              </p:ext>
            </p:extLst>
          </p:nvPr>
        </p:nvGraphicFramePr>
        <p:xfrm>
          <a:off x="5006004" y="3194134"/>
          <a:ext cx="183184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1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500" dirty="0" err="1">
                          <a:latin typeface="Cambria" panose="02040503050406030204" pitchFamily="18" charset="0"/>
                        </a:rPr>
                        <a:t>accountNo</a:t>
                      </a:r>
                      <a:endParaRPr lang="en-US" sz="1500" dirty="0">
                        <a:latin typeface="Cambria" panose="02040503050406030204" pitchFamily="18" charset="0"/>
                      </a:endParaRP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ambria" panose="02040503050406030204" pitchFamily="18" charset="0"/>
                        </a:rPr>
                        <a:t>1111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mbria" panose="02040503050406030204" pitchFamily="18" charset="0"/>
                        </a:rPr>
                        <a:t>balance</a:t>
                      </a: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mbria" panose="02040503050406030204" pitchFamily="18" charset="0"/>
                        </a:rPr>
                        <a:t>200.0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95186"/>
              </p:ext>
            </p:extLst>
          </p:nvPr>
        </p:nvGraphicFramePr>
        <p:xfrm>
          <a:off x="5433341" y="4451188"/>
          <a:ext cx="300342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4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500" dirty="0" err="1">
                          <a:latin typeface="Cambria" panose="02040503050406030204" pitchFamily="18" charset="0"/>
                        </a:rPr>
                        <a:t>perDayTransactionLimit</a:t>
                      </a:r>
                      <a:endParaRPr lang="en-US" sz="1500" dirty="0">
                        <a:latin typeface="Cambria" panose="02040503050406030204" pitchFamily="18" charset="0"/>
                      </a:endParaRP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ambria" panose="02040503050406030204" pitchFamily="18" charset="0"/>
                        </a:rPr>
                        <a:t>500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2" name="Curved Connector 31"/>
          <p:cNvCxnSpPr>
            <a:stCxn id="4" idx="3"/>
            <a:endCxn id="19" idx="0"/>
          </p:cNvCxnSpPr>
          <p:nvPr/>
        </p:nvCxnSpPr>
        <p:spPr>
          <a:xfrm>
            <a:off x="6126411" y="4163184"/>
            <a:ext cx="808642" cy="288004"/>
          </a:xfrm>
          <a:prstGeom prst="curvedConnector2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/>
          <p:cNvCxnSpPr>
            <a:stCxn id="17" idx="1"/>
            <a:endCxn id="19" idx="0"/>
          </p:cNvCxnSpPr>
          <p:nvPr/>
        </p:nvCxnSpPr>
        <p:spPr>
          <a:xfrm rot="10800000" flipV="1">
            <a:off x="6935054" y="4161758"/>
            <a:ext cx="760045" cy="289430"/>
          </a:xfrm>
          <a:prstGeom prst="curvedConnector2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93087" y="4924011"/>
            <a:ext cx="445847" cy="3690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</a:rPr>
              <a:t>a3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839464"/>
              </p:ext>
            </p:extLst>
          </p:nvPr>
        </p:nvGraphicFramePr>
        <p:xfrm>
          <a:off x="5000087" y="5403929"/>
          <a:ext cx="183184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1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500" dirty="0" err="1">
                          <a:latin typeface="Cambria" panose="02040503050406030204" pitchFamily="18" charset="0"/>
                        </a:rPr>
                        <a:t>accountNo</a:t>
                      </a:r>
                      <a:endParaRPr lang="en-US" sz="1500" dirty="0">
                        <a:latin typeface="Cambria" panose="02040503050406030204" pitchFamily="18" charset="0"/>
                      </a:endParaRP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ambria" panose="02040503050406030204" pitchFamily="18" charset="0"/>
                        </a:rPr>
                        <a:t>1113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mbria" panose="02040503050406030204" pitchFamily="18" charset="0"/>
                        </a:rPr>
                        <a:t>balance</a:t>
                      </a: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mbria" panose="02040503050406030204" pitchFamily="18" charset="0"/>
                        </a:rPr>
                        <a:t>300.0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3" name="Curved Connector 22"/>
          <p:cNvCxnSpPr>
            <a:stCxn id="21" idx="3"/>
            <a:endCxn id="19" idx="2"/>
          </p:cNvCxnSpPr>
          <p:nvPr/>
        </p:nvCxnSpPr>
        <p:spPr>
          <a:xfrm flipV="1">
            <a:off x="6138934" y="4822028"/>
            <a:ext cx="796119" cy="286489"/>
          </a:xfrm>
          <a:prstGeom prst="curvedConnector2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5801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</a:rPr>
              <a:t>Variable Types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</a:rPr>
              <a:t>Memory Representation of Different Types of Variables</a:t>
            </a:r>
            <a:endParaRPr lang="x-none" dirty="0">
              <a:latin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85751" y="2059923"/>
            <a:ext cx="4629149" cy="4093428"/>
          </a:xfrm>
          <a:prstGeom prst="rect">
            <a:avLst/>
          </a:prstGeom>
          <a:solidFill>
            <a:srgbClr val="F2D776"/>
          </a:solidFill>
        </p:spPr>
        <p:txBody>
          <a:bodyPr wrap="square" rtlCol="0">
            <a:spAutoFit/>
          </a:bodyPr>
          <a:lstStyle/>
          <a:p>
            <a:pPr marL="0" lvl="1" algn="just"/>
            <a:r>
              <a:rPr lang="en-US" sz="1550" dirty="0">
                <a:latin typeface="Cambria" panose="02040503050406030204" pitchFamily="18" charset="0"/>
              </a:rPr>
              <a:t>class Account{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private </a:t>
            </a:r>
            <a:r>
              <a:rPr lang="en-US" sz="1550" dirty="0" err="1">
                <a:latin typeface="Cambria" panose="02040503050406030204" pitchFamily="18" charset="0"/>
              </a:rPr>
              <a:t>int</a:t>
            </a:r>
            <a:r>
              <a:rPr lang="en-US" sz="1550" dirty="0">
                <a:latin typeface="Cambria" panose="02040503050406030204" pitchFamily="18" charset="0"/>
              </a:rPr>
              <a:t> </a:t>
            </a:r>
            <a:r>
              <a:rPr lang="en-US" sz="1550" dirty="0" err="1">
                <a:latin typeface="Cambria" panose="02040503050406030204" pitchFamily="18" charset="0"/>
              </a:rPr>
              <a:t>accountNo</a:t>
            </a:r>
            <a:r>
              <a:rPr lang="en-US" sz="1550" dirty="0">
                <a:latin typeface="Cambria" panose="02040503050406030204" pitchFamily="18" charset="0"/>
              </a:rPr>
              <a:t>;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private double balance;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public static double </a:t>
            </a:r>
            <a:r>
              <a:rPr lang="en-US" sz="1550" dirty="0" err="1">
                <a:latin typeface="Cambria" panose="02040503050406030204" pitchFamily="18" charset="0"/>
              </a:rPr>
              <a:t>perDayTransactionLimit</a:t>
            </a:r>
            <a:r>
              <a:rPr lang="en-US" sz="1550" dirty="0">
                <a:latin typeface="Cambria" panose="02040503050406030204" pitchFamily="18" charset="0"/>
              </a:rPr>
              <a:t>= 500;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200" dirty="0">
                <a:latin typeface="Cambria" panose="02040503050406030204" pitchFamily="18" charset="0"/>
              </a:rPr>
              <a:t>	</a:t>
            </a:r>
            <a:endParaRPr lang="en-US" sz="1100" dirty="0">
              <a:latin typeface="Cambria" panose="02040503050406030204" pitchFamily="18" charset="0"/>
            </a:endParaRP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public Account( ){ }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public Account(</a:t>
            </a:r>
            <a:r>
              <a:rPr lang="en-US" sz="1550" dirty="0" err="1">
                <a:latin typeface="Cambria" panose="02040503050406030204" pitchFamily="18" charset="0"/>
              </a:rPr>
              <a:t>int</a:t>
            </a:r>
            <a:r>
              <a:rPr lang="en-US" sz="1550" dirty="0">
                <a:latin typeface="Cambria" panose="02040503050406030204" pitchFamily="18" charset="0"/>
              </a:rPr>
              <a:t> an, double b){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  <a:tab pos="22860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	</a:t>
            </a:r>
            <a:r>
              <a:rPr lang="en-US" sz="1550" dirty="0" err="1">
                <a:latin typeface="Cambria" panose="02040503050406030204" pitchFamily="18" charset="0"/>
              </a:rPr>
              <a:t>accountNo</a:t>
            </a:r>
            <a:r>
              <a:rPr lang="en-US" sz="1550" dirty="0">
                <a:latin typeface="Cambria" panose="02040503050406030204" pitchFamily="18" charset="0"/>
              </a:rPr>
              <a:t> = an;	balance = b;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}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public void </a:t>
            </a:r>
            <a:r>
              <a:rPr lang="en-US" sz="1550" dirty="0" err="1">
                <a:latin typeface="Cambria" panose="02040503050406030204" pitchFamily="18" charset="0"/>
              </a:rPr>
              <a:t>addInterest</a:t>
            </a:r>
            <a:r>
              <a:rPr lang="en-US" sz="1550" dirty="0">
                <a:latin typeface="Cambria" panose="02040503050406030204" pitchFamily="18" charset="0"/>
              </a:rPr>
              <a:t>(double rate){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	balance  = balance + (balance * rate / 100);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}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public void show( ){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	</a:t>
            </a:r>
            <a:r>
              <a:rPr lang="en-US" sz="1550" dirty="0" err="1">
                <a:latin typeface="Cambria" panose="02040503050406030204" pitchFamily="18" charset="0"/>
              </a:rPr>
              <a:t>System.out.println</a:t>
            </a:r>
            <a:r>
              <a:rPr lang="en-US" sz="1550" dirty="0">
                <a:latin typeface="Cambria" panose="02040503050406030204" pitchFamily="18" charset="0"/>
              </a:rPr>
              <a:t>(“</a:t>
            </a:r>
            <a:r>
              <a:rPr lang="en-US" sz="1550" dirty="0" err="1">
                <a:latin typeface="Cambria" panose="02040503050406030204" pitchFamily="18" charset="0"/>
              </a:rPr>
              <a:t>AccountNo</a:t>
            </a:r>
            <a:r>
              <a:rPr lang="en-US" sz="1550" dirty="0">
                <a:latin typeface="Cambria" panose="02040503050406030204" pitchFamily="18" charset="0"/>
              </a:rPr>
              <a:t>: ”+ </a:t>
            </a:r>
            <a:r>
              <a:rPr lang="en-US" sz="1550" dirty="0" err="1">
                <a:latin typeface="Cambria" panose="02040503050406030204" pitchFamily="18" charset="0"/>
              </a:rPr>
              <a:t>accountNo</a:t>
            </a:r>
            <a:r>
              <a:rPr lang="en-US" sz="1550" dirty="0">
                <a:latin typeface="Cambria" panose="02040503050406030204" pitchFamily="18" charset="0"/>
              </a:rPr>
              <a:t>);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	</a:t>
            </a:r>
            <a:r>
              <a:rPr lang="en-US" sz="1550" dirty="0" err="1">
                <a:latin typeface="Cambria" panose="02040503050406030204" pitchFamily="18" charset="0"/>
              </a:rPr>
              <a:t>System.out.println</a:t>
            </a:r>
            <a:r>
              <a:rPr lang="en-US" sz="1550" dirty="0">
                <a:latin typeface="Cambria" panose="02040503050406030204" pitchFamily="18" charset="0"/>
              </a:rPr>
              <a:t>(“Balance: ”+ balance);</a:t>
            </a:r>
          </a:p>
          <a:p>
            <a:pPr marL="0" lvl="1" algn="just">
              <a:tabLst>
                <a:tab pos="17145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	}</a:t>
            </a:r>
          </a:p>
          <a:p>
            <a:pPr marL="0" lvl="1" algn="just">
              <a:tabLst>
                <a:tab pos="228600" algn="l"/>
                <a:tab pos="457200" algn="l"/>
                <a:tab pos="685800" algn="l"/>
              </a:tabLst>
            </a:pPr>
            <a:r>
              <a:rPr lang="en-US" sz="1550" dirty="0">
                <a:latin typeface="Cambria" panose="02040503050406030204" pitchFamily="18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5006004" y="2065933"/>
            <a:ext cx="3846385" cy="869469"/>
          </a:xfrm>
          <a:prstGeom prst="rect">
            <a:avLst/>
          </a:prstGeom>
          <a:solidFill>
            <a:srgbClr val="CC3300"/>
          </a:solidFill>
        </p:spPr>
        <p:txBody>
          <a:bodyPr wrap="square" rtlCol="0">
            <a:spAutoFit/>
          </a:bodyPr>
          <a:lstStyle/>
          <a:p>
            <a:pPr algn="just">
              <a:spcAft>
                <a:spcPts val="300"/>
              </a:spcAft>
            </a:pPr>
            <a:r>
              <a:rPr lang="en-US" sz="1600" dirty="0">
                <a:latin typeface="Cambria" panose="02040503050406030204" pitchFamily="18" charset="0"/>
              </a:rPr>
              <a:t>What will be the memory representation for a4 after the following statement?</a:t>
            </a:r>
          </a:p>
          <a:p>
            <a:pPr algn="just">
              <a:spcAft>
                <a:spcPts val="300"/>
              </a:spcAft>
            </a:pPr>
            <a:r>
              <a:rPr lang="en-US" sz="1600" dirty="0">
                <a:latin typeface="Cambria" panose="02040503050406030204" pitchFamily="18" charset="0"/>
              </a:rPr>
              <a:t>Account a4 = a2;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026398" y="3193814"/>
          <a:ext cx="183184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1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500" dirty="0" err="1">
                          <a:latin typeface="Cambria" panose="02040503050406030204" pitchFamily="18" charset="0"/>
                        </a:rPr>
                        <a:t>accountNo</a:t>
                      </a:r>
                      <a:endParaRPr lang="en-US" sz="1500" dirty="0">
                        <a:latin typeface="Cambria" panose="02040503050406030204" pitchFamily="18" charset="0"/>
                      </a:endParaRP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ambria" panose="02040503050406030204" pitchFamily="18" charset="0"/>
                        </a:rPr>
                        <a:t>1112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mbria" panose="02040503050406030204" pitchFamily="18" charset="0"/>
                        </a:rPr>
                        <a:t>balance</a:t>
                      </a: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mbria" panose="02040503050406030204" pitchFamily="18" charset="0"/>
                        </a:rPr>
                        <a:t>250.0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80564" y="3978678"/>
            <a:ext cx="445847" cy="3690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</a:rPr>
              <a:t>a1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5098" y="3977092"/>
            <a:ext cx="4944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</a:rPr>
              <a:t>a2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006004" y="3194134"/>
          <a:ext cx="183184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1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500" dirty="0" err="1">
                          <a:latin typeface="Cambria" panose="02040503050406030204" pitchFamily="18" charset="0"/>
                        </a:rPr>
                        <a:t>accountNo</a:t>
                      </a:r>
                      <a:endParaRPr lang="en-US" sz="1500" dirty="0">
                        <a:latin typeface="Cambria" panose="02040503050406030204" pitchFamily="18" charset="0"/>
                      </a:endParaRP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ambria" panose="02040503050406030204" pitchFamily="18" charset="0"/>
                        </a:rPr>
                        <a:t>1111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mbria" panose="02040503050406030204" pitchFamily="18" charset="0"/>
                        </a:rPr>
                        <a:t>balance</a:t>
                      </a: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mbria" panose="02040503050406030204" pitchFamily="18" charset="0"/>
                        </a:rPr>
                        <a:t>200.0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33341" y="4451188"/>
          <a:ext cx="300342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4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500" dirty="0" err="1">
                          <a:latin typeface="Cambria" panose="02040503050406030204" pitchFamily="18" charset="0"/>
                        </a:rPr>
                        <a:t>perDayTransactionLimit</a:t>
                      </a:r>
                      <a:endParaRPr lang="en-US" sz="1500" dirty="0">
                        <a:latin typeface="Cambria" panose="02040503050406030204" pitchFamily="18" charset="0"/>
                      </a:endParaRP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ambria" panose="02040503050406030204" pitchFamily="18" charset="0"/>
                        </a:rPr>
                        <a:t>500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2" name="Curved Connector 31"/>
          <p:cNvCxnSpPr>
            <a:stCxn id="4" idx="3"/>
            <a:endCxn id="19" idx="0"/>
          </p:cNvCxnSpPr>
          <p:nvPr/>
        </p:nvCxnSpPr>
        <p:spPr>
          <a:xfrm>
            <a:off x="6126411" y="4163184"/>
            <a:ext cx="808642" cy="288004"/>
          </a:xfrm>
          <a:prstGeom prst="curvedConnector2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/>
          <p:cNvCxnSpPr>
            <a:stCxn id="17" idx="1"/>
            <a:endCxn id="19" idx="0"/>
          </p:cNvCxnSpPr>
          <p:nvPr/>
        </p:nvCxnSpPr>
        <p:spPr>
          <a:xfrm rot="10800000" flipV="1">
            <a:off x="6935054" y="4161758"/>
            <a:ext cx="760045" cy="289430"/>
          </a:xfrm>
          <a:prstGeom prst="curvedConnector2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93087" y="4924011"/>
            <a:ext cx="445847" cy="3690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</a:rPr>
              <a:t>a3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000087" y="5403929"/>
          <a:ext cx="183184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1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500" dirty="0" err="1">
                          <a:latin typeface="Cambria" panose="02040503050406030204" pitchFamily="18" charset="0"/>
                        </a:rPr>
                        <a:t>accountNo</a:t>
                      </a:r>
                      <a:endParaRPr lang="en-US" sz="1500" dirty="0">
                        <a:latin typeface="Cambria" panose="02040503050406030204" pitchFamily="18" charset="0"/>
                      </a:endParaRP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ambria" panose="02040503050406030204" pitchFamily="18" charset="0"/>
                        </a:rPr>
                        <a:t>1113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mbria" panose="02040503050406030204" pitchFamily="18" charset="0"/>
                        </a:rPr>
                        <a:t>balance</a:t>
                      </a:r>
                    </a:p>
                  </a:txBody>
                  <a:tcPr anchor="ctr"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mbria" panose="02040503050406030204" pitchFamily="18" charset="0"/>
                        </a:rPr>
                        <a:t>300.0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3" name="Curved Connector 22"/>
          <p:cNvCxnSpPr>
            <a:stCxn id="21" idx="3"/>
            <a:endCxn id="19" idx="2"/>
          </p:cNvCxnSpPr>
          <p:nvPr/>
        </p:nvCxnSpPr>
        <p:spPr>
          <a:xfrm flipV="1">
            <a:off x="6138934" y="4822028"/>
            <a:ext cx="796119" cy="286489"/>
          </a:xfrm>
          <a:prstGeom prst="curvedConnector2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35870" y="4923691"/>
            <a:ext cx="4944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</a:rPr>
              <a:t>a4</a:t>
            </a:r>
          </a:p>
        </p:txBody>
      </p:sp>
      <p:cxnSp>
        <p:nvCxnSpPr>
          <p:cNvPr id="20" name="Curved Connector 19"/>
          <p:cNvCxnSpPr>
            <a:stCxn id="16" idx="3"/>
            <a:endCxn id="17" idx="3"/>
          </p:cNvCxnSpPr>
          <p:nvPr/>
        </p:nvCxnSpPr>
        <p:spPr>
          <a:xfrm flipH="1" flipV="1">
            <a:off x="8189545" y="4161758"/>
            <a:ext cx="40772" cy="946599"/>
          </a:xfrm>
          <a:prstGeom prst="curvedConnector3">
            <a:avLst>
              <a:gd name="adj1" fmla="val -1191443"/>
            </a:avLst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163828" y="5345991"/>
            <a:ext cx="1626801" cy="553998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Cambria" panose="02040503050406030204" pitchFamily="18" charset="0"/>
              </a:rPr>
              <a:t>No New Memory for a4</a:t>
            </a:r>
          </a:p>
        </p:txBody>
      </p:sp>
    </p:spTree>
    <p:extLst>
      <p:ext uri="{BB962C8B-B14F-4D97-AF65-F5344CB8AC3E}">
        <p14:creationId xmlns:p14="http://schemas.microsoft.com/office/powerpoint/2010/main" val="2431101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5" y="595107"/>
            <a:ext cx="3232896" cy="493415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1" y="1471615"/>
            <a:ext cx="794385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Java Complete Reference, 7th Edition, By Herbert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Schildt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44" indent="-285744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Programmer’s Guide to Java™ SCJP Certification A Comprehensive Primer, 3</a:t>
            </a:r>
            <a:r>
              <a:rPr lang="en-US" baseline="30000" dirty="0">
                <a:latin typeface="Cambria" panose="02040503050406030204" pitchFamily="18" charset="0"/>
                <a:ea typeface="Cambria" panose="02040503050406030204" pitchFamily="18" charset="0"/>
              </a:rPr>
              <a:t>rd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edition, by Khalid A. Mughal and Rolf W. Rasmussen</a:t>
            </a:r>
          </a:p>
          <a:p>
            <a:pPr marL="285744" indent="-285744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Java How to Program Java, 9th Edition, By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Deitel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Deitel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44" indent="-285744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Java Language Specification, By J. Gosling, B. Joy, G. Steele,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G.Bracha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and A. Buckley</a:t>
            </a:r>
          </a:p>
          <a:p>
            <a:pPr marL="285744" indent="-285744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Introduction to Programming Using Java, 6th Edition, By David j. Eck</a:t>
            </a:r>
          </a:p>
          <a:p>
            <a:pPr marL="285744" indent="-285744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Head First Java, By Kathy Sierra and Bert Bates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578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5" y="595107"/>
            <a:ext cx="3232896" cy="493415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1" y="1471622"/>
            <a:ext cx="79438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Java Complete Reference, 7th Edition, By Herbert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Schildt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44" indent="-285744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Programmer’s Guide to Java™ SCJP Certification A Comprehensive Primer, 3</a:t>
            </a:r>
            <a:r>
              <a:rPr lang="en-US" baseline="30000" dirty="0">
                <a:latin typeface="Cambria" panose="02040503050406030204" pitchFamily="18" charset="0"/>
                <a:ea typeface="Cambria" panose="02040503050406030204" pitchFamily="18" charset="0"/>
              </a:rPr>
              <a:t>rd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edition, by Khalid A. Mughal and Rolf W. Rasmussen</a:t>
            </a:r>
          </a:p>
          <a:p>
            <a:pPr marL="285744" indent="-285744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Java Language Specification, By J. Gosling, B. Joy, G. Steele,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G.Bracha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and A. Buckley</a:t>
            </a:r>
          </a:p>
          <a:p>
            <a:pPr marL="285744" indent="-285744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docs.oracle.com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883629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1174</TotalTime>
  <Words>1347</Words>
  <Application>Microsoft Office PowerPoint</Application>
  <PresentationFormat>On-screen Show (4:3)</PresentationFormat>
  <Paragraphs>233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Spectrum</vt:lpstr>
      <vt:lpstr>Variable Types</vt:lpstr>
      <vt:lpstr>Lecture Outline</vt:lpstr>
      <vt:lpstr>Variable Types</vt:lpstr>
      <vt:lpstr>Variable Types</vt:lpstr>
      <vt:lpstr>Variable Types</vt:lpstr>
      <vt:lpstr>Variable Types</vt:lpstr>
      <vt:lpstr>Variable Types</vt:lpstr>
      <vt:lpstr>Variable Types</vt:lpstr>
      <vt:lpstr>Variable Types</vt:lpstr>
      <vt:lpstr>Variable Types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 Learning Materials - OOP1</dc:title>
  <dc:creator>Mohaimen-Bin-Noor</dc:creator>
  <cp:lastModifiedBy>Nyme Ahmed</cp:lastModifiedBy>
  <cp:revision>51</cp:revision>
  <dcterms:created xsi:type="dcterms:W3CDTF">2018-12-10T17:20:29Z</dcterms:created>
  <dcterms:modified xsi:type="dcterms:W3CDTF">2025-03-25T11:48:03Z</dcterms:modified>
</cp:coreProperties>
</file>
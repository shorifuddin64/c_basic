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83" r:id="rId5"/>
    <p:sldId id="284" r:id="rId6"/>
    <p:sldId id="285" r:id="rId7"/>
    <p:sldId id="258" r:id="rId8"/>
    <p:sldId id="267" r:id="rId9"/>
    <p:sldId id="268" r:id="rId10"/>
    <p:sldId id="269" r:id="rId11"/>
    <p:sldId id="270" r:id="rId12"/>
    <p:sldId id="271" r:id="rId13"/>
    <p:sldId id="286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4D1CD-0F59-45D2-9BD9-CF6D81A2A3BC}" v="1" dt="2024-11-01T14:10:50.3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5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6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yme Ahmed" userId="dc44b642-4733-4b7f-b204-acd223264e3c" providerId="ADAL" clId="{CEA4D1CD-0F59-45D2-9BD9-CF6D81A2A3BC}"/>
    <pc:docChg chg="custSel modSld">
      <pc:chgData name="Nyme Ahmed" userId="dc44b642-4733-4b7f-b204-acd223264e3c" providerId="ADAL" clId="{CEA4D1CD-0F59-45D2-9BD9-CF6D81A2A3BC}" dt="2024-11-01T14:10:57.463" v="6" actId="20577"/>
      <pc:docMkLst>
        <pc:docMk/>
      </pc:docMkLst>
      <pc:sldChg chg="addSp delSp modSp mod">
        <pc:chgData name="Nyme Ahmed" userId="dc44b642-4733-4b7f-b204-acd223264e3c" providerId="ADAL" clId="{CEA4D1CD-0F59-45D2-9BD9-CF6D81A2A3BC}" dt="2024-11-01T14:10:57.463" v="6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CEA4D1CD-0F59-45D2-9BD9-CF6D81A2A3BC}" dt="2024-11-01T14:10:57.463" v="6" actId="20577"/>
          <ac:graphicFrameMkLst>
            <pc:docMk/>
            <pc:sldMk cId="700707328" sldId="256"/>
            <ac:graphicFrameMk id="5" creationId="{D0F91383-4A5F-9DE5-06A1-490D17462F2E}"/>
          </ac:graphicFrameMkLst>
        </pc:graphicFrameChg>
        <pc:graphicFrameChg chg="del">
          <ac:chgData name="Nyme Ahmed" userId="dc44b642-4733-4b7f-b204-acd223264e3c" providerId="ADAL" clId="{CEA4D1CD-0F59-45D2-9BD9-CF6D81A2A3BC}" dt="2024-11-01T14:10:49.680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914486"/>
            <a:ext cx="7808976" cy="988501"/>
          </a:xfrm>
        </p:spPr>
        <p:txBody>
          <a:bodyPr>
            <a:normAutofit fontScale="90000"/>
          </a:bodyPr>
          <a:lstStyle/>
          <a:p>
            <a:r>
              <a:rPr lang="en-US" dirty="0"/>
              <a:t>Inheritance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-1(JAVA)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F91383-4A5F-9DE5-06A1-490D17462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82462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613947523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78033697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556618659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2643714385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94917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7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 Inheritance definition and example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 Different types of Inheritance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 Constructor chaining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 this and super keyword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 Method Overriding in inheritance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Inheritance </a:t>
            </a:r>
            <a:endParaRPr lang="x-non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E4D9660-65B7-48A7-8013-902A0055AC6D}"/>
              </a:ext>
            </a:extLst>
          </p:cNvPr>
          <p:cNvSpPr txBox="1">
            <a:spLocks/>
          </p:cNvSpPr>
          <p:nvPr/>
        </p:nvSpPr>
        <p:spPr>
          <a:xfrm>
            <a:off x="2912012" y="2592625"/>
            <a:ext cx="8930799" cy="3834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Inheritance 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02EE4-7797-4DD3-A482-110A776CF8FA}"/>
              </a:ext>
            </a:extLst>
          </p:cNvPr>
          <p:cNvSpPr/>
          <p:nvPr/>
        </p:nvSpPr>
        <p:spPr>
          <a:xfrm>
            <a:off x="4536613" y="2157624"/>
            <a:ext cx="1997476" cy="665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FAAC8-C8DF-41B1-B38F-CB2C24111A95}"/>
              </a:ext>
            </a:extLst>
          </p:cNvPr>
          <p:cNvSpPr/>
          <p:nvPr/>
        </p:nvSpPr>
        <p:spPr>
          <a:xfrm>
            <a:off x="4583268" y="3729775"/>
            <a:ext cx="1917577" cy="665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F523BE-8C7A-4D29-958C-AB912AF1079E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H="1" flipV="1">
            <a:off x="5535351" y="2823449"/>
            <a:ext cx="6706" cy="906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61C9DDE-0DB5-48A4-A31D-191340046A6E}"/>
              </a:ext>
            </a:extLst>
          </p:cNvPr>
          <p:cNvSpPr/>
          <p:nvPr/>
        </p:nvSpPr>
        <p:spPr>
          <a:xfrm>
            <a:off x="6950534" y="2299057"/>
            <a:ext cx="1591895" cy="4793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name,age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B714C7-799B-41E0-8AA7-7B5FD249113F}"/>
              </a:ext>
            </a:extLst>
          </p:cNvPr>
          <p:cNvSpPr/>
          <p:nvPr/>
        </p:nvSpPr>
        <p:spPr>
          <a:xfrm>
            <a:off x="6787694" y="3791174"/>
            <a:ext cx="1917577" cy="4257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id, </a:t>
            </a:r>
            <a:r>
              <a:rPr lang="en-US" dirty="0" err="1">
                <a:solidFill>
                  <a:schemeClr val="tx1"/>
                </a:solidFill>
              </a:rPr>
              <a:t>roomno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CDC81-C29A-4797-BE4E-2CDB14E2FBE3}"/>
              </a:ext>
            </a:extLst>
          </p:cNvPr>
          <p:cNvSpPr/>
          <p:nvPr/>
        </p:nvSpPr>
        <p:spPr>
          <a:xfrm>
            <a:off x="1287411" y="2128015"/>
            <a:ext cx="1624601" cy="834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Super class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Base class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Parent 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BB020E-AF11-4D3D-8BB4-3CDD5C5697F8}"/>
              </a:ext>
            </a:extLst>
          </p:cNvPr>
          <p:cNvSpPr/>
          <p:nvPr/>
        </p:nvSpPr>
        <p:spPr>
          <a:xfrm>
            <a:off x="1411550" y="3487854"/>
            <a:ext cx="1624601" cy="834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 class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Derived class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Child 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BFF9A0-7278-493F-8F9F-1C8C242A2A0D}"/>
              </a:ext>
            </a:extLst>
          </p:cNvPr>
          <p:cNvSpPr/>
          <p:nvPr/>
        </p:nvSpPr>
        <p:spPr>
          <a:xfrm>
            <a:off x="349371" y="5162365"/>
            <a:ext cx="8355900" cy="1028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Inheritance is the process where one class </a:t>
            </a:r>
            <a:r>
              <a:rPr lang="en-US" b="1" dirty="0">
                <a:solidFill>
                  <a:schemeClr val="tx1"/>
                </a:solidFill>
              </a:rPr>
              <a:t>posses the properties</a:t>
            </a:r>
            <a:r>
              <a:rPr lang="en-US" dirty="0">
                <a:solidFill>
                  <a:schemeClr val="tx1"/>
                </a:solidFill>
              </a:rPr>
              <a:t> of another class.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Inheritance is used for code </a:t>
            </a:r>
            <a:r>
              <a:rPr lang="en-US" b="1" dirty="0">
                <a:solidFill>
                  <a:schemeClr val="tx1"/>
                </a:solidFill>
              </a:rPr>
              <a:t>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implement </a:t>
            </a:r>
            <a:r>
              <a:rPr lang="en-US" b="1" dirty="0">
                <a:solidFill>
                  <a:schemeClr val="tx1"/>
                </a:solidFill>
              </a:rPr>
              <a:t>parent-child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CE971-238D-4ACE-B7DB-B64DCA28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F5E7E0C-4BEB-455D-9ED5-FC4A44CF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Inheritance </a:t>
            </a:r>
            <a:endParaRPr lang="x-none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2386E1-9C1E-4D6D-854A-93BA3F84C2FA}"/>
              </a:ext>
            </a:extLst>
          </p:cNvPr>
          <p:cNvSpPr/>
          <p:nvPr/>
        </p:nvSpPr>
        <p:spPr>
          <a:xfrm>
            <a:off x="710417" y="2217099"/>
            <a:ext cx="809595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  A class can be defined as a "subclass" of another class.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59000"/>
              <a:buFont typeface="Wingdings" panose="05000000000000000000" pitchFamily="2" charset="2"/>
              <a:buChar char="§"/>
            </a:pPr>
            <a:r>
              <a:rPr lang="en-GB" altLang="en-US" sz="2000" dirty="0">
                <a:latin typeface="Helvetica" panose="020B0604020202020204" pitchFamily="34" charset="0"/>
              </a:rPr>
              <a:t>The subclass inherits all data attributes of its superclass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Wingdings" panose="05000000000000000000" pitchFamily="2" charset="2"/>
              <a:buChar char="§"/>
            </a:pPr>
            <a:r>
              <a:rPr lang="en-GB" altLang="en-US" sz="2000" dirty="0">
                <a:latin typeface="Helvetica" panose="020B0604020202020204" pitchFamily="34" charset="0"/>
              </a:rPr>
              <a:t>The subclass inherits all methods of its superclass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Wingdings" panose="05000000000000000000" pitchFamily="2" charset="2"/>
              <a:buChar char="§"/>
            </a:pPr>
            <a:r>
              <a:rPr lang="en-GB" altLang="en-US" sz="2000" dirty="0">
                <a:latin typeface="Helvetica" panose="020B0604020202020204" pitchFamily="34" charset="0"/>
              </a:rPr>
              <a:t>The subclass inherits all associations of its superclass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  The subclass can: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000" b="1" dirty="0">
                <a:latin typeface="Helvetica" panose="020B0604020202020204" pitchFamily="34" charset="0"/>
              </a:rPr>
              <a:t>Add new functionality    (</a:t>
            </a:r>
            <a:r>
              <a:rPr lang="en-GB" altLang="en-US" sz="2000" b="1" dirty="0" err="1">
                <a:latin typeface="Helvetica" panose="020B0604020202020204" pitchFamily="34" charset="0"/>
              </a:rPr>
              <a:t>getY</a:t>
            </a:r>
            <a:r>
              <a:rPr lang="en-GB" altLang="en-US" sz="2000" b="1" dirty="0">
                <a:latin typeface="Helvetica" panose="020B0604020202020204" pitchFamily="34" charset="0"/>
              </a:rPr>
              <a:t>())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000" b="1" dirty="0">
                <a:latin typeface="Helvetica" panose="020B0604020202020204" pitchFamily="34" charset="0"/>
              </a:rPr>
              <a:t>Use inherited functionality   (</a:t>
            </a:r>
            <a:r>
              <a:rPr lang="en-GB" altLang="en-US" sz="2000" b="1" dirty="0" err="1">
                <a:latin typeface="Helvetica" panose="020B0604020202020204" pitchFamily="34" charset="0"/>
              </a:rPr>
              <a:t>getX</a:t>
            </a:r>
            <a:r>
              <a:rPr lang="en-GB" altLang="en-US" sz="2000" b="1" dirty="0">
                <a:latin typeface="Helvetica" panose="020B0604020202020204" pitchFamily="34" charset="0"/>
              </a:rPr>
              <a:t>())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000" b="1" dirty="0">
                <a:latin typeface="Helvetica" panose="020B0604020202020204" pitchFamily="34" charset="0"/>
              </a:rPr>
              <a:t>Override inherited functionality  (</a:t>
            </a:r>
            <a:r>
              <a:rPr lang="en-GB" altLang="en-US" sz="2000" b="1" dirty="0" err="1">
                <a:latin typeface="Helvetica" panose="020B0604020202020204" pitchFamily="34" charset="0"/>
              </a:rPr>
              <a:t>getArea</a:t>
            </a:r>
            <a:r>
              <a:rPr lang="en-GB" altLang="en-US" sz="2000" b="1" dirty="0">
                <a:latin typeface="Helvetica" panose="020B0604020202020204" pitchFamily="34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404693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CE971-238D-4ACE-B7DB-B64DCA28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F5E7E0C-4BEB-455D-9ED5-FC4A44CF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Inheritance </a:t>
            </a:r>
            <a:endParaRPr lang="x-none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2386E1-9C1E-4D6D-854A-93BA3F84C2FA}"/>
              </a:ext>
            </a:extLst>
          </p:cNvPr>
          <p:cNvSpPr/>
          <p:nvPr/>
        </p:nvSpPr>
        <p:spPr>
          <a:xfrm>
            <a:off x="710417" y="2217099"/>
            <a:ext cx="8095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endParaRPr lang="en-GB" altLang="en-US" sz="2000" dirty="0">
              <a:latin typeface="Helvetica" panose="020B0604020202020204" pitchFamily="34" charset="0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CEE94C1-647B-4C83-A152-64AF475CD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" y="2236372"/>
            <a:ext cx="8564563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When an object is created using new, the system must allocate enough memory to hold all its instance variables.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This includes any inherited instance variables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343000"/>
              <a:buFont typeface="Times New Roman" panose="02020603050405020304" pitchFamily="18" charset="0"/>
              <a:buNone/>
            </a:pPr>
            <a:endParaRPr lang="en-GB" altLang="en-US" sz="10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In this example, we can say that an Employee "is a kind of" Person.  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An Employee object inherits all of the attributes, methods and associations of Person</a:t>
            </a:r>
          </a:p>
        </p:txBody>
      </p:sp>
    </p:spTree>
    <p:extLst>
      <p:ext uri="{BB962C8B-B14F-4D97-AF65-F5344CB8AC3E}">
        <p14:creationId xmlns:p14="http://schemas.microsoft.com/office/powerpoint/2010/main" val="351711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CE971-238D-4ACE-B7DB-B64DCA283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F5E7E0C-4BEB-455D-9ED5-FC4A44CF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Inheritance </a:t>
            </a:r>
            <a:endParaRPr lang="x-none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2386E1-9C1E-4D6D-854A-93BA3F84C2FA}"/>
              </a:ext>
            </a:extLst>
          </p:cNvPr>
          <p:cNvSpPr/>
          <p:nvPr/>
        </p:nvSpPr>
        <p:spPr>
          <a:xfrm>
            <a:off x="710417" y="2217099"/>
            <a:ext cx="80959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endParaRPr lang="en-GB" altLang="en-US" sz="2000" dirty="0">
              <a:latin typeface="Helvetica" panose="020B0604020202020204" pitchFamily="34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23F27EB3-0AF7-4020-ABA2-BEA874EEC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663" y="479425"/>
            <a:ext cx="36766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>
                <a:latin typeface="Helvetica" panose="020B0604020202020204" pitchFamily="34" charset="0"/>
              </a:rPr>
              <a:t>What really happens?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A81C03FB-16E3-4221-B0E8-F4EEC1809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288" y="2510724"/>
            <a:ext cx="1939925" cy="1179513"/>
          </a:xfrm>
          <a:prstGeom prst="roundRect">
            <a:avLst>
              <a:gd name="adj" fmla="val 134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Person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name: String          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dob: Date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endParaRPr lang="en-GB" sz="1600" dirty="0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77B578E3-7109-4439-B736-9F12DB4AA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1013" y="3710874"/>
            <a:ext cx="0" cy="822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1384F570-42B6-4745-A954-8EDD41C5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288" y="4164899"/>
            <a:ext cx="1939925" cy="1125538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Employee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</a:t>
            </a:r>
            <a:r>
              <a:rPr lang="en-GB" sz="1600" dirty="0" err="1"/>
              <a:t>employeeID</a:t>
            </a:r>
            <a:r>
              <a:rPr lang="en-GB" sz="1600" dirty="0"/>
              <a:t>: </a:t>
            </a:r>
            <a:r>
              <a:rPr lang="en-GB" sz="1600" dirty="0" err="1"/>
              <a:t>int</a:t>
            </a:r>
            <a:endParaRPr lang="en-GB" sz="1600" dirty="0"/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salary: </a:t>
            </a:r>
            <a:r>
              <a:rPr lang="en-GB" sz="1600" dirty="0" err="1"/>
              <a:t>int</a:t>
            </a:r>
            <a:endParaRPr lang="en-GB" sz="1600" dirty="0"/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</a:t>
            </a:r>
            <a:r>
              <a:rPr lang="en-GB" sz="1600" dirty="0" err="1"/>
              <a:t>startDate</a:t>
            </a:r>
            <a:r>
              <a:rPr lang="en-GB" sz="1600" dirty="0"/>
              <a:t>: Date</a:t>
            </a: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58F4AC12-B685-471B-9BD3-498731B87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251" y="2485324"/>
            <a:ext cx="2538412" cy="100965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Person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name = "John Smith"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dob = Jan 13, 1954</a:t>
            </a: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35A6E1E9-CBEB-4D4C-BD39-B06B29480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38" y="3175887"/>
            <a:ext cx="2778125" cy="227171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Employee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name = "Sally Halls"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dob = Mar 15, 1968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employeeID = 37518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salary = 65000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  <a:tab pos="2171700" algn="l"/>
              </a:tabLst>
              <a:defRPr/>
            </a:pPr>
            <a:r>
              <a:rPr lang="en-GB" sz="1600"/>
              <a:t>startDate = Dec 15, 2000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ABD47C62-6385-4462-A4CE-23B7EA7CB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01" y="3841049"/>
            <a:ext cx="9223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000000"/>
              </a:buClr>
              <a:buSzPct val="67000"/>
              <a:buFont typeface="StarBats" charset="0"/>
              <a:buNone/>
            </a:pPr>
            <a:r>
              <a:rPr lang="en-GB" altLang="en-US" sz="1600">
                <a:latin typeface="Times" panose="02020603050405020304" pitchFamily="18" charset="0"/>
              </a:rPr>
              <a:t>is a kind of</a:t>
            </a:r>
          </a:p>
        </p:txBody>
      </p:sp>
    </p:spTree>
    <p:extLst>
      <p:ext uri="{BB962C8B-B14F-4D97-AF65-F5344CB8AC3E}">
        <p14:creationId xmlns:p14="http://schemas.microsoft.com/office/powerpoint/2010/main" val="60293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Inheritance</a:t>
            </a:r>
            <a:endParaRPr lang="x-none" sz="2800" dirty="0"/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78981B62-9451-4835-AC78-98A87BB8A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1327150"/>
            <a:ext cx="8564563" cy="112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dirty="0">
                <a:latin typeface="Helvetica" panose="020B0604020202020204" pitchFamily="34" charset="0"/>
              </a:rPr>
              <a:t>Inheritance is declared using the "extends" keyword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000" dirty="0">
                <a:latin typeface="Helvetica" panose="020B0604020202020204" pitchFamily="34" charset="0"/>
              </a:rPr>
              <a:t>If inheritance is not defined, the class extends a class called </a:t>
            </a:r>
            <a:r>
              <a:rPr lang="en-GB" altLang="en-US" sz="2000" b="1" dirty="0">
                <a:latin typeface="Helvetica" panose="020B0604020202020204" pitchFamily="34" charset="0"/>
              </a:rPr>
              <a:t>Object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None/>
            </a:pPr>
            <a:endParaRPr lang="en-GB" altLang="en-US" dirty="0">
              <a:latin typeface="Helvetica" panose="020B0604020202020204" pitchFamily="34" charset="0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18495898-5AAE-4D53-881D-173FFDDE7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0" y="2557463"/>
            <a:ext cx="1939925" cy="1179512"/>
          </a:xfrm>
          <a:prstGeom prst="roundRect">
            <a:avLst>
              <a:gd name="adj" fmla="val 134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Person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name: String          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 dirty="0"/>
              <a:t>- dob: Date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endParaRPr lang="en-GB" sz="1600" dirty="0"/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BF94843B-1885-4B08-96F4-47C0B574E1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0675" y="3757613"/>
            <a:ext cx="0" cy="822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251A78F9-C6BA-4021-9A8B-D4334113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0" y="4427538"/>
            <a:ext cx="1939925" cy="1125537"/>
          </a:xfrm>
          <a:prstGeom prst="roundRect">
            <a:avLst>
              <a:gd name="adj" fmla="val 139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/>
              <a:t>Employee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/>
              <a:t>- employeeID: int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/>
              <a:t>- salary: int</a:t>
            </a:r>
          </a:p>
          <a:p>
            <a:pPr>
              <a:buClr>
                <a:srgbClr val="000000"/>
              </a:buClr>
              <a:buSzPct val="67000"/>
              <a:buFont typeface="StarBats" charset="0"/>
              <a:buNone/>
              <a:tabLst>
                <a:tab pos="723900" algn="l"/>
                <a:tab pos="1447800" algn="l"/>
              </a:tabLst>
              <a:defRPr/>
            </a:pPr>
            <a:r>
              <a:rPr lang="en-GB" sz="1600"/>
              <a:t>- startDate: Date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6A15F07E-4F84-4960-9B0F-81E2D2337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2316163"/>
            <a:ext cx="3300413" cy="1622425"/>
          </a:xfrm>
          <a:prstGeom prst="roundRect">
            <a:avLst>
              <a:gd name="adj" fmla="val 97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A5E81BD5-48F9-44B9-9082-50A10129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13" y="2535238"/>
            <a:ext cx="2919412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class Person 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String name;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Date dob;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[...]</a:t>
            </a: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F9A57E4E-B5BB-4418-A588-5EA787755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4095750"/>
            <a:ext cx="4779963" cy="1787525"/>
          </a:xfrm>
          <a:prstGeom prst="roundRect">
            <a:avLst>
              <a:gd name="adj" fmla="val 88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F90C80C2-0F37-471C-863D-E813FF42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4314825"/>
            <a:ext cx="4032250" cy="173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class Employee extends Person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  private </a:t>
            </a:r>
            <a:r>
              <a:rPr lang="en-GB" altLang="en-US" sz="1400" dirty="0" err="1">
                <a:latin typeface="Courier" charset="0"/>
              </a:rPr>
              <a:t>int</a:t>
            </a:r>
            <a:r>
              <a:rPr lang="en-GB" altLang="en-US" sz="1400" dirty="0">
                <a:latin typeface="Courier" charset="0"/>
              </a:rPr>
              <a:t> </a:t>
            </a:r>
            <a:r>
              <a:rPr lang="en-GB" altLang="en-US" sz="1400" dirty="0" err="1">
                <a:latin typeface="Courier" charset="0"/>
              </a:rPr>
              <a:t>employeID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</a:t>
            </a:r>
            <a:r>
              <a:rPr lang="en-GB" altLang="en-US" sz="1400" dirty="0" err="1">
                <a:latin typeface="Courier" charset="0"/>
              </a:rPr>
              <a:t>int</a:t>
            </a:r>
            <a:r>
              <a:rPr lang="en-GB" altLang="en-US" sz="1400" dirty="0">
                <a:latin typeface="Courier" charset="0"/>
              </a:rPr>
              <a:t> salary;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Date </a:t>
            </a:r>
            <a:r>
              <a:rPr lang="en-GB" altLang="en-US" sz="1400" dirty="0" err="1">
                <a:latin typeface="Courier" charset="0"/>
              </a:rPr>
              <a:t>startDate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	[...]</a:t>
            </a:r>
          </a:p>
        </p:txBody>
      </p:sp>
      <p:sp>
        <p:nvSpPr>
          <p:cNvPr id="21" name="AutoShape 12">
            <a:extLst>
              <a:ext uri="{FF2B5EF4-FFF2-40B4-BE49-F238E27FC236}">
                <a16:creationId xmlns:a16="http://schemas.microsoft.com/office/drawing/2014/main" id="{32742B82-E12F-4CA4-9C7F-4F9C0C617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6005513"/>
            <a:ext cx="4779963" cy="568325"/>
          </a:xfrm>
          <a:prstGeom prst="roundRect">
            <a:avLst>
              <a:gd name="adj" fmla="val 278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marL="211138" indent="-211138">
              <a:spcBef>
                <a:spcPts val="275"/>
              </a:spcBef>
              <a:buClr>
                <a:srgbClr val="000000"/>
              </a:buClr>
              <a:buSzPct val="174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/>
            </a:pPr>
            <a:r>
              <a:rPr lang="en-GB" sz="1600" dirty="0">
                <a:latin typeface="Courier" charset="0"/>
              </a:rPr>
              <a:t>Employee </a:t>
            </a:r>
            <a:r>
              <a:rPr lang="en-GB" sz="1600" dirty="0" err="1">
                <a:latin typeface="Courier" charset="0"/>
              </a:rPr>
              <a:t>anEmployee</a:t>
            </a:r>
            <a:r>
              <a:rPr lang="en-GB" sz="1600" dirty="0">
                <a:latin typeface="Courier" charset="0"/>
              </a:rPr>
              <a:t> = new Employee();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Types of </a:t>
            </a:r>
            <a:r>
              <a:rPr lang="en-US" dirty="0"/>
              <a:t>Inheritance</a:t>
            </a:r>
            <a:endParaRPr lang="x-none" dirty="0"/>
          </a:p>
          <a:p>
            <a:endParaRPr lang="x-none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73AE7A-BFB6-434D-A6AE-919F403E0B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355" y="2437193"/>
            <a:ext cx="5184718" cy="350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Types of </a:t>
            </a:r>
            <a:r>
              <a:rPr lang="en-US" sz="2800" dirty="0"/>
              <a:t>Inheritance</a:t>
            </a:r>
            <a:endParaRPr lang="x-none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x-none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EE548-DCD9-41CC-A3E1-BD3CB0272AA9}"/>
              </a:ext>
            </a:extLst>
          </p:cNvPr>
          <p:cNvSpPr/>
          <p:nvPr/>
        </p:nvSpPr>
        <p:spPr>
          <a:xfrm>
            <a:off x="506437" y="1645920"/>
            <a:ext cx="7132320" cy="410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800" dirty="0">
                <a:latin typeface="Helvetica" panose="020B0604020202020204" pitchFamily="34" charset="0"/>
              </a:rPr>
              <a:t>There is no limit to the number of subclasses a class can have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None/>
            </a:pPr>
            <a:endParaRPr lang="en-GB" altLang="en-US" sz="2400" dirty="0">
              <a:latin typeface="Helvetica" panose="020B0604020202020204" pitchFamily="34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800" dirty="0">
                <a:latin typeface="Helvetica" panose="020B0604020202020204" pitchFamily="34" charset="0"/>
              </a:rPr>
              <a:t>There is no limit to the depth of the class tree.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800" dirty="0">
                <a:latin typeface="Helvetica" panose="020B0604020202020204" pitchFamily="34" charset="0"/>
              </a:rPr>
              <a:t>Each Java class has one (and only one) superclass.</a:t>
            </a:r>
          </a:p>
          <a:p>
            <a:pPr lvl="1">
              <a:spcBef>
                <a:spcPts val="275"/>
              </a:spcBef>
              <a:buClr>
                <a:srgbClr val="000000"/>
              </a:buClr>
              <a:buSzPct val="85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altLang="en-US" sz="2800" dirty="0">
                <a:latin typeface="Helvetica" panose="020B0604020202020204" pitchFamily="34" charset="0"/>
              </a:rPr>
              <a:t>C++ allows for multiple inheritance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59000"/>
              <a:buFont typeface="Times New Roman" panose="02020603050405020304" pitchFamily="18" charset="0"/>
              <a:buBlip>
                <a:blip r:embed="rId2"/>
              </a:buBlip>
            </a:pPr>
            <a:endParaRPr lang="en-GB" altLang="en-US" sz="28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13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1"/>
            <a:ext cx="6543608" cy="105543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x-none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18182-9F68-4D74-9FF2-230EAAEAED7C}"/>
              </a:ext>
            </a:extLst>
          </p:cNvPr>
          <p:cNvSpPr/>
          <p:nvPr/>
        </p:nvSpPr>
        <p:spPr>
          <a:xfrm>
            <a:off x="335494" y="1659988"/>
            <a:ext cx="8344272" cy="436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275"/>
              </a:spcBef>
              <a:buClr>
                <a:srgbClr val="000000"/>
              </a:buClr>
              <a:buSzPct val="59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Classes use constructors to initialize instance variables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When a subclass object is created, its constructor is called.</a:t>
            </a:r>
          </a:p>
          <a:p>
            <a:pPr marL="800100" lvl="1" indent="-342900">
              <a:spcBef>
                <a:spcPts val="275"/>
              </a:spcBef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It is the responsibility of the subclass constructor to invoke the appropriate superclass constructors so that the instance variables defined in the superclass are properly initialized</a:t>
            </a:r>
          </a:p>
          <a:p>
            <a:pPr marL="171450" indent="-171450">
              <a:spcBef>
                <a:spcPts val="275"/>
              </a:spcBef>
              <a:buClr>
                <a:srgbClr val="000000"/>
              </a:buClr>
              <a:buSzPct val="343000"/>
              <a:buFont typeface="Arial" panose="020B0604020202020204" pitchFamily="34" charset="0"/>
              <a:buChar char="•"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 marL="285750" indent="-285750">
              <a:spcBef>
                <a:spcPts val="275"/>
              </a:spcBef>
              <a:buClr>
                <a:srgbClr val="000000"/>
              </a:buClr>
              <a:buSzPct val="59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Superclass constructors can be called using the "super" keyword in a manner similar to "this"</a:t>
            </a:r>
          </a:p>
          <a:p>
            <a:pPr marL="742950" lvl="1" indent="-285750">
              <a:spcBef>
                <a:spcPts val="275"/>
              </a:spcBef>
              <a:buClr>
                <a:srgbClr val="000000"/>
              </a:buClr>
              <a:buSzPct val="59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It must be the first line of code in the constructor</a:t>
            </a:r>
          </a:p>
          <a:p>
            <a:pPr marL="628650" lvl="1" indent="-171450">
              <a:spcBef>
                <a:spcPts val="275"/>
              </a:spcBef>
              <a:buClr>
                <a:srgbClr val="000000"/>
              </a:buClr>
              <a:buSzPct val="343000"/>
              <a:buFont typeface="Arial" panose="020B0604020202020204" pitchFamily="34" charset="0"/>
              <a:buChar char="•"/>
            </a:pPr>
            <a:endParaRPr lang="en-GB" altLang="en-US" sz="2000" dirty="0">
              <a:latin typeface="Helvetica" panose="020B0604020202020204" pitchFamily="34" charset="0"/>
            </a:endParaRPr>
          </a:p>
          <a:p>
            <a:pPr marL="285750" indent="-285750">
              <a:spcBef>
                <a:spcPts val="275"/>
              </a:spcBef>
              <a:buClr>
                <a:srgbClr val="000000"/>
              </a:buClr>
              <a:buSzPct val="59000"/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</a:rPr>
              <a:t>If a call to super is not made, the system will automatically attempt to invoke the </a:t>
            </a:r>
            <a:r>
              <a:rPr lang="en-GB" altLang="en-US" sz="2000" b="1" dirty="0">
                <a:latin typeface="Helvetica" panose="020B0604020202020204" pitchFamily="34" charset="0"/>
              </a:rPr>
              <a:t>no-argument</a:t>
            </a:r>
            <a:r>
              <a:rPr lang="en-GB" altLang="en-US" sz="2000" dirty="0">
                <a:latin typeface="Helvetica" panose="020B0604020202020204" pitchFamily="34" charset="0"/>
              </a:rPr>
              <a:t> constructor of the superclass.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BB7D9B9-3B4C-4BA0-A5B4-88CBDFAE6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84" y="914400"/>
            <a:ext cx="48133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 and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2155746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Constructors -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F253F-8239-4E0F-ACE8-24F17B4F3D27}"/>
              </a:ext>
            </a:extLst>
          </p:cNvPr>
          <p:cNvSpPr/>
          <p:nvPr/>
        </p:nvSpPr>
        <p:spPr>
          <a:xfrm>
            <a:off x="436098" y="1393389"/>
            <a:ext cx="7807570" cy="5593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public class </a:t>
            </a:r>
            <a:r>
              <a:rPr lang="en-GB" altLang="en-US" sz="1200" dirty="0" err="1">
                <a:latin typeface="Courier" charset="0"/>
              </a:rPr>
              <a:t>BankAccount</a:t>
            </a:r>
            <a:endParaRPr lang="en-GB" altLang="en-US" sz="12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private String </a:t>
            </a:r>
            <a:r>
              <a:rPr lang="en-GB" altLang="en-US" sz="1200" dirty="0" err="1">
                <a:latin typeface="Courier" charset="0"/>
              </a:rPr>
              <a:t>ownersName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private int </a:t>
            </a:r>
            <a:r>
              <a:rPr lang="en-GB" altLang="en-US" sz="1200" dirty="0" err="1">
                <a:latin typeface="Courier" charset="0"/>
              </a:rPr>
              <a:t>accountNumber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private float balance;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2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public </a:t>
            </a:r>
            <a:r>
              <a:rPr lang="en-GB" altLang="en-US" sz="1200" dirty="0" err="1">
                <a:latin typeface="Courier" charset="0"/>
              </a:rPr>
              <a:t>BankAccount</a:t>
            </a:r>
            <a:r>
              <a:rPr lang="en-GB" altLang="en-US" sz="1200" dirty="0">
                <a:latin typeface="Courier" charset="0"/>
              </a:rPr>
              <a:t>(int </a:t>
            </a:r>
            <a:r>
              <a:rPr lang="en-GB" altLang="en-US" sz="1200" dirty="0" err="1">
                <a:latin typeface="Courier" charset="0"/>
              </a:rPr>
              <a:t>anAccountNumber</a:t>
            </a:r>
            <a:r>
              <a:rPr lang="en-GB" altLang="en-US" sz="1200" dirty="0">
                <a:latin typeface="Courier" charset="0"/>
              </a:rPr>
              <a:t>, String </a:t>
            </a:r>
            <a:r>
              <a:rPr lang="en-GB" altLang="en-US" sz="1200" dirty="0" err="1">
                <a:latin typeface="Courier" charset="0"/>
              </a:rPr>
              <a:t>aName</a:t>
            </a:r>
            <a:r>
              <a:rPr lang="en-GB" altLang="en-US" sz="1200" dirty="0">
                <a:latin typeface="Courier" charset="0"/>
              </a:rPr>
              <a:t>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	</a:t>
            </a:r>
            <a:r>
              <a:rPr lang="en-GB" altLang="en-US" sz="1200" dirty="0" err="1">
                <a:latin typeface="Courier" charset="0"/>
              </a:rPr>
              <a:t>accountNumber</a:t>
            </a:r>
            <a:r>
              <a:rPr lang="en-GB" altLang="en-US" sz="1200" dirty="0">
                <a:latin typeface="Courier" charset="0"/>
              </a:rPr>
              <a:t> = </a:t>
            </a:r>
            <a:r>
              <a:rPr lang="en-GB" altLang="en-US" sz="1200" dirty="0" err="1">
                <a:latin typeface="Courier" charset="0"/>
              </a:rPr>
              <a:t>anAccountNumber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	</a:t>
            </a:r>
            <a:r>
              <a:rPr lang="en-GB" altLang="en-US" sz="1200" dirty="0" err="1">
                <a:latin typeface="Courier" charset="0"/>
              </a:rPr>
              <a:t>ownersName</a:t>
            </a:r>
            <a:r>
              <a:rPr lang="en-GB" altLang="en-US" sz="1200" dirty="0">
                <a:latin typeface="Courier" charset="0"/>
              </a:rPr>
              <a:t> = </a:t>
            </a:r>
            <a:r>
              <a:rPr lang="en-GB" altLang="en-US" sz="1200" dirty="0" err="1">
                <a:latin typeface="Courier" charset="0"/>
              </a:rPr>
              <a:t>aName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[...]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2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public class </a:t>
            </a:r>
            <a:r>
              <a:rPr lang="en-GB" altLang="en-US" sz="1200" dirty="0" err="1">
                <a:latin typeface="Courier" charset="0"/>
              </a:rPr>
              <a:t>OverdraftAccount</a:t>
            </a:r>
            <a:r>
              <a:rPr lang="en-GB" altLang="en-US" sz="1200" dirty="0">
                <a:latin typeface="Courier" charset="0"/>
              </a:rPr>
              <a:t> extends </a:t>
            </a:r>
            <a:r>
              <a:rPr lang="en-GB" altLang="en-US" sz="1200" dirty="0" err="1">
                <a:latin typeface="Courier" charset="0"/>
              </a:rPr>
              <a:t>BankAccount</a:t>
            </a:r>
            <a:endParaRPr lang="en-GB" altLang="en-US" sz="12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private float </a:t>
            </a:r>
            <a:r>
              <a:rPr lang="en-GB" altLang="en-US" sz="1200" dirty="0" err="1">
                <a:latin typeface="Courier" charset="0"/>
              </a:rPr>
              <a:t>overdraftLimit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2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public </a:t>
            </a:r>
            <a:r>
              <a:rPr lang="en-GB" altLang="en-US" sz="1200" dirty="0" err="1">
                <a:latin typeface="Courier" charset="0"/>
              </a:rPr>
              <a:t>OverdraftAccount</a:t>
            </a:r>
            <a:r>
              <a:rPr lang="en-GB" altLang="en-US" sz="1200" dirty="0">
                <a:latin typeface="Courier" charset="0"/>
              </a:rPr>
              <a:t>(int </a:t>
            </a:r>
            <a:r>
              <a:rPr lang="en-GB" altLang="en-US" sz="1200" dirty="0" err="1">
                <a:latin typeface="Courier" charset="0"/>
              </a:rPr>
              <a:t>anAccountNumber</a:t>
            </a:r>
            <a:r>
              <a:rPr lang="en-GB" altLang="en-US" sz="1200" dirty="0">
                <a:latin typeface="Courier" charset="0"/>
              </a:rPr>
              <a:t>, String </a:t>
            </a:r>
            <a:r>
              <a:rPr lang="en-GB" altLang="en-US" sz="1200" dirty="0" err="1">
                <a:latin typeface="Courier" charset="0"/>
              </a:rPr>
              <a:t>aName</a:t>
            </a:r>
            <a:r>
              <a:rPr lang="en-GB" altLang="en-US" sz="1200" dirty="0">
                <a:latin typeface="Courier" charset="0"/>
              </a:rPr>
              <a:t>, float </a:t>
            </a:r>
            <a:r>
              <a:rPr lang="en-GB" altLang="en-US" sz="1200" dirty="0" err="1">
                <a:latin typeface="Courier" charset="0"/>
              </a:rPr>
              <a:t>aLimit</a:t>
            </a:r>
            <a:r>
              <a:rPr lang="en-GB" altLang="en-US" sz="1200" dirty="0">
                <a:latin typeface="Courier" charset="0"/>
              </a:rPr>
              <a:t>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	</a:t>
            </a:r>
            <a:r>
              <a:rPr lang="en-GB" altLang="en-US" sz="1200" b="1" i="1" dirty="0">
                <a:latin typeface="Courier" charset="0"/>
              </a:rPr>
              <a:t>super(</a:t>
            </a:r>
            <a:r>
              <a:rPr lang="en-GB" altLang="en-US" sz="1200" b="1" i="1" dirty="0" err="1">
                <a:latin typeface="Courier" charset="0"/>
              </a:rPr>
              <a:t>anAccountNumber</a:t>
            </a:r>
            <a:r>
              <a:rPr lang="en-GB" altLang="en-US" sz="1200" b="1" i="1" dirty="0">
                <a:latin typeface="Courier" charset="0"/>
              </a:rPr>
              <a:t>, </a:t>
            </a:r>
            <a:r>
              <a:rPr lang="en-GB" altLang="en-US" sz="1200" b="1" i="1" dirty="0" err="1">
                <a:latin typeface="Courier" charset="0"/>
              </a:rPr>
              <a:t>aName</a:t>
            </a:r>
            <a:r>
              <a:rPr lang="en-GB" altLang="en-US" sz="1200" b="1" i="1" dirty="0">
                <a:latin typeface="Courier" charset="0"/>
              </a:rPr>
              <a:t>);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	</a:t>
            </a:r>
            <a:r>
              <a:rPr lang="en-GB" altLang="en-US" sz="1200" dirty="0" err="1">
                <a:latin typeface="Courier" charset="0"/>
              </a:rPr>
              <a:t>overdraftLimit</a:t>
            </a:r>
            <a:r>
              <a:rPr lang="en-GB" altLang="en-US" sz="1200" dirty="0">
                <a:latin typeface="Courier" charset="0"/>
              </a:rPr>
              <a:t> = </a:t>
            </a:r>
            <a:r>
              <a:rPr lang="en-GB" altLang="en-US" sz="1200" dirty="0" err="1">
                <a:latin typeface="Courier" charset="0"/>
              </a:rPr>
              <a:t>aLimit</a:t>
            </a:r>
            <a:r>
              <a:rPr lang="en-GB" altLang="en-US" sz="12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200" dirty="0">
                <a:latin typeface="Courier" charset="0"/>
              </a:rPr>
              <a:t>}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3171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Method overriding -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EAE00-F9C0-43C3-8177-17E4DC8229B3}"/>
              </a:ext>
            </a:extLst>
          </p:cNvPr>
          <p:cNvSpPr/>
          <p:nvPr/>
        </p:nvSpPr>
        <p:spPr>
          <a:xfrm>
            <a:off x="478302" y="1224576"/>
            <a:ext cx="7821636" cy="5855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class </a:t>
            </a:r>
            <a:r>
              <a:rPr lang="en-GB" altLang="en-US" sz="1400" dirty="0" err="1">
                <a:latin typeface="Courier" charset="0"/>
              </a:rPr>
              <a:t>BankAccount</a:t>
            </a: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String </a:t>
            </a:r>
            <a:r>
              <a:rPr lang="en-GB" altLang="en-US" sz="1400" dirty="0" err="1">
                <a:latin typeface="Courier" charset="0"/>
              </a:rPr>
              <a:t>ownersName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int </a:t>
            </a:r>
            <a:r>
              <a:rPr lang="en-GB" altLang="en-US" sz="1400" dirty="0" err="1">
                <a:latin typeface="Courier" charset="0"/>
              </a:rPr>
              <a:t>accountNumber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protected float balance;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public void deposit(float </a:t>
            </a:r>
            <a:r>
              <a:rPr lang="en-GB" altLang="en-US" sz="1400" dirty="0" err="1">
                <a:latin typeface="Courier" charset="0"/>
              </a:rPr>
              <a:t>anAmount</a:t>
            </a:r>
            <a:r>
              <a:rPr lang="en-GB" altLang="en-US" sz="1400" dirty="0">
                <a:latin typeface="Courier" charset="0"/>
              </a:rPr>
              <a:t>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	if (</a:t>
            </a:r>
            <a:r>
              <a:rPr lang="en-GB" altLang="en-US" sz="1400" dirty="0" err="1">
                <a:latin typeface="Courier" charset="0"/>
              </a:rPr>
              <a:t>anAmount</a:t>
            </a:r>
            <a:r>
              <a:rPr lang="en-GB" altLang="en-US" sz="1400" dirty="0">
                <a:latin typeface="Courier" charset="0"/>
              </a:rPr>
              <a:t>&gt;0.0)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		balance = balance + </a:t>
            </a:r>
            <a:r>
              <a:rPr lang="en-GB" altLang="en-US" sz="1400" dirty="0" err="1">
                <a:latin typeface="Courier" charset="0"/>
              </a:rPr>
              <a:t>anAmount</a:t>
            </a:r>
            <a:r>
              <a:rPr lang="en-GB" altLang="en-US" sz="1400" dirty="0"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public void withdraw(float 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	if ((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&gt;0.0) &amp;&amp; (balance&gt;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))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		balance = balance - 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public float </a:t>
            </a:r>
            <a:r>
              <a:rPr lang="en-GB" altLang="en-US" sz="1400" dirty="0" err="1">
                <a:latin typeface="Courier" charset="0"/>
              </a:rPr>
              <a:t>getBalance</a:t>
            </a:r>
            <a:r>
              <a:rPr lang="en-GB" altLang="en-US" sz="1400" dirty="0">
                <a:latin typeface="Courier" charset="0"/>
              </a:rPr>
              <a:t>()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	return balance;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28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buSzPct val="38000"/>
              <a:buFont typeface="StarBats" charset="0"/>
              <a:buNone/>
            </a:pPr>
            <a:r>
              <a:rPr lang="en-GB" altLang="en-US" sz="2800" dirty="0">
                <a:latin typeface="Helvetica" panose="020B0604020202020204" pitchFamily="34" charset="0"/>
              </a:rPr>
              <a:t>Method overriding -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EAE00-F9C0-43C3-8177-17E4DC8229B3}"/>
              </a:ext>
            </a:extLst>
          </p:cNvPr>
          <p:cNvSpPr/>
          <p:nvPr/>
        </p:nvSpPr>
        <p:spPr>
          <a:xfrm>
            <a:off x="478301" y="1744928"/>
            <a:ext cx="8060787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public class </a:t>
            </a:r>
            <a:r>
              <a:rPr lang="en-GB" altLang="en-US" sz="1400" dirty="0" err="1">
                <a:latin typeface="Courier" charset="0"/>
              </a:rPr>
              <a:t>OverdraftAccount</a:t>
            </a:r>
            <a:r>
              <a:rPr lang="en-GB" altLang="en-US" sz="1400" dirty="0">
                <a:latin typeface="Courier" charset="0"/>
              </a:rPr>
              <a:t> extends </a:t>
            </a:r>
            <a:r>
              <a:rPr lang="en-GB" altLang="en-US" sz="1400" dirty="0" err="1">
                <a:latin typeface="Courier" charset="0"/>
              </a:rPr>
              <a:t>BankAccount</a:t>
            </a: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private float limit;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	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public void withdraw(float 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) // Overriding method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{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	if ((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&gt;0.0) &amp;&amp; (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getBalance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()+limit&gt;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))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		balance = balance - </a:t>
            </a:r>
            <a:r>
              <a:rPr lang="en-GB" altLang="en-US" sz="1400" b="1" i="1" dirty="0" err="1">
                <a:solidFill>
                  <a:srgbClr val="00B050"/>
                </a:solidFill>
                <a:latin typeface="Courier" charset="0"/>
              </a:rPr>
              <a:t>anAmount</a:t>
            </a: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;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b="1" i="1" dirty="0">
                <a:solidFill>
                  <a:srgbClr val="00B050"/>
                </a:solidFill>
                <a:latin typeface="Courier" charset="0"/>
              </a:rPr>
              <a:t>	}</a:t>
            </a: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endParaRPr lang="en-GB" altLang="en-US" sz="1400" dirty="0">
              <a:latin typeface="Courier" charset="0"/>
            </a:endParaRPr>
          </a:p>
          <a:p>
            <a:pPr>
              <a:spcBef>
                <a:spcPts val="275"/>
              </a:spcBef>
              <a:buClr>
                <a:srgbClr val="000000"/>
              </a:buClr>
              <a:buSzPct val="174000"/>
              <a:buFont typeface="Times New Roman" panose="02020603050405020304" pitchFamily="18" charset="0"/>
              <a:buNone/>
            </a:pPr>
            <a:r>
              <a:rPr lang="en-GB" altLang="en-US" sz="1400" dirty="0">
                <a:latin typeface="Courier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6019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42351" y="1582340"/>
            <a:ext cx="8432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3. Java How to Program Java, 9th Edition,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The Java Language Specification, By J. Gosling, B. Joy, G. Steele, </a:t>
            </a:r>
            <a:r>
              <a:rPr lang="en-US" dirty="0" err="1"/>
              <a:t>G.Bracha</a:t>
            </a:r>
            <a:r>
              <a:rPr lang="en-US" dirty="0"/>
              <a:t> and A. Buckley</a:t>
            </a:r>
          </a:p>
          <a:p>
            <a:endParaRPr lang="en-US" dirty="0"/>
          </a:p>
          <a:p>
            <a:r>
              <a:rPr lang="en-US" dirty="0"/>
              <a:t>5. Introduction to Programming Using Java, 6th Edition, By David j. Eck</a:t>
            </a:r>
          </a:p>
          <a:p>
            <a:endParaRPr lang="en-US" dirty="0"/>
          </a:p>
          <a:p>
            <a:r>
              <a:rPr lang="en-US" dirty="0"/>
              <a:t>6. Head First Java, By Kathy Sierra and Bert Bates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801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1. 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2. The Java Tutorials. http://docs.oracle.com/javase/tutorial/</a:t>
            </a:r>
            <a:endParaRPr lang="x-none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571</TotalTime>
  <Words>978</Words>
  <Application>Microsoft Office PowerPoint</Application>
  <PresentationFormat>On-screen Show (4:3)</PresentationFormat>
  <Paragraphs>189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Corbel</vt:lpstr>
      <vt:lpstr>Courier</vt:lpstr>
      <vt:lpstr>Helvetica</vt:lpstr>
      <vt:lpstr>StarBats</vt:lpstr>
      <vt:lpstr>Times</vt:lpstr>
      <vt:lpstr>Times New Roman</vt:lpstr>
      <vt:lpstr>Wingdings</vt:lpstr>
      <vt:lpstr>Spectrum</vt:lpstr>
      <vt:lpstr>Inheritance </vt:lpstr>
      <vt:lpstr>Lecture Outline</vt:lpstr>
      <vt:lpstr>Inheritance</vt:lpstr>
      <vt:lpstr>Inheritance</vt:lpstr>
      <vt:lpstr>Inheritance</vt:lpstr>
      <vt:lpstr>Inheritance</vt:lpstr>
      <vt:lpstr>PowerPoint Presentation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60</cp:revision>
  <dcterms:created xsi:type="dcterms:W3CDTF">2018-12-10T17:20:29Z</dcterms:created>
  <dcterms:modified xsi:type="dcterms:W3CDTF">2024-11-01T14:10:59Z</dcterms:modified>
</cp:coreProperties>
</file>
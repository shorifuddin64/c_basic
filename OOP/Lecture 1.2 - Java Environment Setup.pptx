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8" r:id="rId5"/>
    <p:sldId id="269" r:id="rId6"/>
    <p:sldId id="270" r:id="rId7"/>
    <p:sldId id="271" r:id="rId8"/>
    <p:sldId id="27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CD21"/>
    <a:srgbClr val="F33925"/>
    <a:srgbClr val="F3E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E3B249-CFB8-45F8-8976-8FF113B56EE4}" v="1" dt="2024-10-31T20:23:24.1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yme Ahmed" userId="dc44b642-4733-4b7f-b204-acd223264e3c" providerId="ADAL" clId="{C7E3B249-CFB8-45F8-8976-8FF113B56EE4}"/>
    <pc:docChg chg="custSel modSld">
      <pc:chgData name="Nyme Ahmed" userId="dc44b642-4733-4b7f-b204-acd223264e3c" providerId="ADAL" clId="{C7E3B249-CFB8-45F8-8976-8FF113B56EE4}" dt="2024-10-31T20:23:36.626" v="7" actId="20577"/>
      <pc:docMkLst>
        <pc:docMk/>
      </pc:docMkLst>
      <pc:sldChg chg="addSp delSp modSp mod">
        <pc:chgData name="Nyme Ahmed" userId="dc44b642-4733-4b7f-b204-acd223264e3c" providerId="ADAL" clId="{C7E3B249-CFB8-45F8-8976-8FF113B56EE4}" dt="2024-10-31T20:23:36.626" v="7" actId="20577"/>
        <pc:sldMkLst>
          <pc:docMk/>
          <pc:sldMk cId="700707328" sldId="256"/>
        </pc:sldMkLst>
        <pc:graphicFrameChg chg="add mod modGraphic">
          <ac:chgData name="Nyme Ahmed" userId="dc44b642-4733-4b7f-b204-acd223264e3c" providerId="ADAL" clId="{C7E3B249-CFB8-45F8-8976-8FF113B56EE4}" dt="2024-10-31T20:23:36.626" v="7" actId="20577"/>
          <ac:graphicFrameMkLst>
            <pc:docMk/>
            <pc:sldMk cId="700707328" sldId="256"/>
            <ac:graphicFrameMk id="5" creationId="{6511F242-99B9-AD2E-E148-7EBA2F698277}"/>
          </ac:graphicFrameMkLst>
        </pc:graphicFrameChg>
        <pc:graphicFrameChg chg="del">
          <ac:chgData name="Nyme Ahmed" userId="dc44b642-4733-4b7f-b204-acd223264e3c" providerId="ADAL" clId="{C7E3B249-CFB8-45F8-8976-8FF113B56EE4}" dt="2024-10-31T20:23:23.002" v="0" actId="478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Environment Setup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CSC1205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114676" y="1538380"/>
            <a:ext cx="4370342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Object Oriented Programming 1 (JAVA)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11F242-99B9-AD2E-E148-7EBA2F698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499465"/>
              </p:ext>
            </p:extLst>
          </p:nvPr>
        </p:nvGraphicFramePr>
        <p:xfrm>
          <a:off x="404101" y="5319620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55278280"/>
                    </a:ext>
                  </a:extLst>
                </a:gridCol>
                <a:gridCol w="3897085">
                  <a:extLst>
                    <a:ext uri="{9D8B030D-6E8A-4147-A177-3AD203B41FA5}">
                      <a16:colId xmlns:a16="http://schemas.microsoft.com/office/drawing/2014/main" val="1926195622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3935478186"/>
                    </a:ext>
                  </a:extLst>
                </a:gridCol>
                <a:gridCol w="1725403">
                  <a:extLst>
                    <a:ext uri="{9D8B030D-6E8A-4147-A177-3AD203B41FA5}">
                      <a16:colId xmlns:a16="http://schemas.microsoft.com/office/drawing/2014/main" val="3865955850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597640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i="1" dirty="0"/>
                        <a:t>Nyme Ahmed [</a:t>
                      </a:r>
                      <a:r>
                        <a:rPr lang="en-US" i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nyme.ahmed@aiub.edu</a:t>
                      </a:r>
                      <a:r>
                        <a:rPr lang="en-US" i="1" dirty="0"/>
                        <a:t>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641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Environment Setup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How to Setup Java Environment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Environment Setup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183511"/>
            <a:ext cx="7446545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</a:rPr>
              <a:t>Before We install JDK in our PC, first we should check whether it is already installed or not. The following steps illustrate the process:</a:t>
            </a:r>
            <a:endParaRPr lang="x-none" dirty="0">
              <a:latin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935294" y="2953430"/>
            <a:ext cx="5143500" cy="923330"/>
          </a:xfrm>
          <a:prstGeom prst="rect">
            <a:avLst/>
          </a:prstGeom>
          <a:solidFill>
            <a:srgbClr val="F3E0AF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dirty="0">
                <a:latin typeface="Cambria" panose="02040503050406030204" pitchFamily="18" charset="0"/>
              </a:rPr>
              <a:t>Go to </a:t>
            </a:r>
            <a:r>
              <a:rPr lang="en-US" b="1" i="1" dirty="0">
                <a:latin typeface="Cambria" panose="02040503050406030204" pitchFamily="18" charset="0"/>
              </a:rPr>
              <a:t>Start</a:t>
            </a:r>
          </a:p>
          <a:p>
            <a:pPr marL="342900" indent="-342900" algn="just">
              <a:buFontTx/>
              <a:buAutoNum type="arabicPeriod"/>
            </a:pPr>
            <a:r>
              <a:rPr lang="en-US" dirty="0">
                <a:latin typeface="Cambria" panose="02040503050406030204" pitchFamily="18" charset="0"/>
              </a:rPr>
              <a:t>Type </a:t>
            </a:r>
            <a:r>
              <a:rPr lang="en-US" b="1" i="1" dirty="0" err="1">
                <a:latin typeface="Cambria" panose="02040503050406030204" pitchFamily="18" charset="0"/>
              </a:rPr>
              <a:t>cmd</a:t>
            </a:r>
            <a:r>
              <a:rPr lang="en-US" dirty="0">
                <a:latin typeface="Cambria" panose="02040503050406030204" pitchFamily="18" charset="0"/>
              </a:rPr>
              <a:t> and open </a:t>
            </a:r>
            <a:r>
              <a:rPr lang="en-US" b="1" i="1" dirty="0">
                <a:latin typeface="Cambria" panose="02040503050406030204" pitchFamily="18" charset="0"/>
              </a:rPr>
              <a:t>Command Prompt</a:t>
            </a:r>
            <a:r>
              <a:rPr lang="en-US" dirty="0">
                <a:latin typeface="Cambria" panose="02040503050406030204" pitchFamily="18" charset="0"/>
              </a:rPr>
              <a:t>.</a:t>
            </a:r>
          </a:p>
          <a:p>
            <a:pPr marL="342900" indent="-342900" algn="just">
              <a:buFontTx/>
              <a:buAutoNum type="arabicPeriod"/>
            </a:pPr>
            <a:r>
              <a:rPr lang="en-US" dirty="0">
                <a:latin typeface="Cambria" panose="02040503050406030204" pitchFamily="18" charset="0"/>
              </a:rPr>
              <a:t>Give a command </a:t>
            </a:r>
            <a:r>
              <a:rPr lang="en-US" b="1" i="1" dirty="0">
                <a:latin typeface="Cambria" panose="02040503050406030204" pitchFamily="18" charset="0"/>
              </a:rPr>
              <a:t>java </a:t>
            </a:r>
            <a:r>
              <a:rPr lang="en-US" dirty="0">
                <a:latin typeface="Cambria" panose="02040503050406030204" pitchFamily="18" charset="0"/>
              </a:rPr>
              <a:t>and hit the </a:t>
            </a:r>
            <a:r>
              <a:rPr lang="en-US" b="1" i="1" dirty="0">
                <a:latin typeface="Cambria" panose="02040503050406030204" pitchFamily="18" charset="0"/>
              </a:rPr>
              <a:t>Enter</a:t>
            </a:r>
            <a:r>
              <a:rPr lang="en-US" dirty="0">
                <a:latin typeface="Cambria" panose="02040503050406030204" pitchFamily="18" charset="0"/>
              </a:rPr>
              <a:t> key.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043323" y="5786522"/>
            <a:ext cx="3309938" cy="369332"/>
          </a:xfrm>
          <a:prstGeom prst="rect">
            <a:avLst/>
          </a:prstGeom>
          <a:solidFill>
            <a:srgbClr val="F3392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</a:rPr>
              <a:t>Not Installed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91791" y="5786522"/>
            <a:ext cx="3309938" cy="369332"/>
          </a:xfrm>
          <a:prstGeom prst="rect">
            <a:avLst/>
          </a:prstGeom>
          <a:solidFill>
            <a:srgbClr val="42CD2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</a:rPr>
              <a:t>Installed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23" y="3945587"/>
            <a:ext cx="3315422" cy="177210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868" y="3945587"/>
            <a:ext cx="3312861" cy="177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Environment Setup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745130" y="2456345"/>
            <a:ext cx="5851394" cy="923330"/>
          </a:xfrm>
          <a:prstGeom prst="rect">
            <a:avLst/>
          </a:prstGeom>
          <a:solidFill>
            <a:srgbClr val="F3E0A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</a:rPr>
              <a:t>4. If </a:t>
            </a:r>
            <a:r>
              <a:rPr lang="en-US" b="1" i="1" dirty="0">
                <a:latin typeface="Cambria" panose="02040503050406030204" pitchFamily="18" charset="0"/>
              </a:rPr>
              <a:t>“Not Installed”</a:t>
            </a:r>
            <a:r>
              <a:rPr lang="en-US" dirty="0">
                <a:latin typeface="Cambria" panose="02040503050406030204" pitchFamily="18" charset="0"/>
              </a:rPr>
              <a:t>, Install JDK and go to 5. Else go to 5.</a:t>
            </a:r>
          </a:p>
          <a:p>
            <a:pPr algn="just"/>
            <a:r>
              <a:rPr lang="en-US" dirty="0">
                <a:latin typeface="Cambria" panose="02040503050406030204" pitchFamily="18" charset="0"/>
              </a:rPr>
              <a:t>5. Open </a:t>
            </a:r>
            <a:r>
              <a:rPr lang="en-US" b="1" i="1" dirty="0">
                <a:latin typeface="Cambria" panose="02040503050406030204" pitchFamily="18" charset="0"/>
              </a:rPr>
              <a:t>Command Prompt</a:t>
            </a:r>
            <a:r>
              <a:rPr lang="en-US" dirty="0">
                <a:latin typeface="Cambria" panose="02040503050406030204" pitchFamily="18" charset="0"/>
              </a:rPr>
              <a:t> again.</a:t>
            </a:r>
          </a:p>
          <a:p>
            <a:pPr algn="just"/>
            <a:r>
              <a:rPr lang="en-US" dirty="0">
                <a:latin typeface="Cambria" panose="02040503050406030204" pitchFamily="18" charset="0"/>
              </a:rPr>
              <a:t>6. Give a command </a:t>
            </a:r>
            <a:r>
              <a:rPr lang="en-US" b="1" i="1" dirty="0" err="1">
                <a:latin typeface="Cambria" panose="02040503050406030204" pitchFamily="18" charset="0"/>
              </a:rPr>
              <a:t>javac</a:t>
            </a:r>
            <a:r>
              <a:rPr lang="en-US" b="1" i="1" dirty="0">
                <a:latin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</a:rPr>
              <a:t>and hit the </a:t>
            </a:r>
            <a:r>
              <a:rPr lang="en-US" b="1" i="1" dirty="0">
                <a:latin typeface="Cambria" panose="02040503050406030204" pitchFamily="18" charset="0"/>
              </a:rPr>
              <a:t>Enter</a:t>
            </a:r>
            <a:r>
              <a:rPr lang="en-US" dirty="0">
                <a:latin typeface="Cambria" panose="02040503050406030204" pitchFamily="18" charset="0"/>
              </a:rPr>
              <a:t> key.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043323" y="5786522"/>
            <a:ext cx="3309938" cy="369332"/>
          </a:xfrm>
          <a:prstGeom prst="rect">
            <a:avLst/>
          </a:prstGeom>
          <a:solidFill>
            <a:srgbClr val="F3392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</a:rPr>
              <a:t>Path Not Configured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91791" y="5786522"/>
            <a:ext cx="3309938" cy="369332"/>
          </a:xfrm>
          <a:prstGeom prst="rect">
            <a:avLst/>
          </a:prstGeom>
          <a:solidFill>
            <a:srgbClr val="42CD2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</a:rPr>
              <a:t>Path Configured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792" y="3818962"/>
            <a:ext cx="3309938" cy="17985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23" y="3818962"/>
            <a:ext cx="3309938" cy="179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Environment Setup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61892" y="2196192"/>
            <a:ext cx="4680222" cy="2585323"/>
          </a:xfrm>
          <a:prstGeom prst="rect">
            <a:avLst/>
          </a:prstGeom>
          <a:solidFill>
            <a:srgbClr val="F3E0A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</a:rPr>
              <a:t>7. Configure Environment Variable</a:t>
            </a:r>
          </a:p>
          <a:p>
            <a:pPr algn="just"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</a:rPr>
              <a:t>	(a) Go to </a:t>
            </a:r>
            <a:r>
              <a:rPr lang="en-US" b="1" i="1" dirty="0">
                <a:latin typeface="Cambria" panose="02040503050406030204" pitchFamily="18" charset="0"/>
              </a:rPr>
              <a:t>This PC</a:t>
            </a:r>
          </a:p>
          <a:p>
            <a:pPr algn="just">
              <a:tabLst>
                <a:tab pos="457200" algn="l"/>
              </a:tabLst>
            </a:pPr>
            <a:r>
              <a:rPr lang="en-US" b="1" i="1" dirty="0">
                <a:latin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</a:rPr>
              <a:t>(b) Go to </a:t>
            </a:r>
            <a:r>
              <a:rPr lang="en-US" b="1" i="1" dirty="0">
                <a:latin typeface="Cambria" panose="02040503050406030204" pitchFamily="18" charset="0"/>
              </a:rPr>
              <a:t>C Drive</a:t>
            </a:r>
          </a:p>
          <a:p>
            <a:pPr algn="just">
              <a:tabLst>
                <a:tab pos="457200" algn="l"/>
              </a:tabLst>
            </a:pPr>
            <a:r>
              <a:rPr lang="en-US" b="1" i="1" dirty="0">
                <a:latin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</a:rPr>
              <a:t>(c) Go to </a:t>
            </a:r>
            <a:r>
              <a:rPr lang="en-US" b="1" i="1" dirty="0">
                <a:latin typeface="Cambria" panose="02040503050406030204" pitchFamily="18" charset="0"/>
              </a:rPr>
              <a:t>Program Files</a:t>
            </a:r>
          </a:p>
          <a:p>
            <a:pPr algn="just">
              <a:tabLst>
                <a:tab pos="457200" algn="l"/>
              </a:tabLst>
            </a:pPr>
            <a:r>
              <a:rPr lang="en-US" b="1" i="1" dirty="0">
                <a:latin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</a:rPr>
              <a:t>(d) Go to </a:t>
            </a:r>
            <a:r>
              <a:rPr lang="en-US" b="1" i="1" dirty="0">
                <a:latin typeface="Cambria" panose="02040503050406030204" pitchFamily="18" charset="0"/>
              </a:rPr>
              <a:t>Java</a:t>
            </a:r>
          </a:p>
          <a:p>
            <a:pPr algn="just">
              <a:tabLst>
                <a:tab pos="457200" algn="l"/>
              </a:tabLst>
            </a:pPr>
            <a:r>
              <a:rPr lang="en-US" b="1" i="1" dirty="0">
                <a:latin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</a:rPr>
              <a:t>(e) Go to </a:t>
            </a:r>
            <a:r>
              <a:rPr lang="en-US" b="1" i="1" dirty="0">
                <a:latin typeface="Cambria" panose="02040503050406030204" pitchFamily="18" charset="0"/>
              </a:rPr>
              <a:t>jdk1.8.xxxx</a:t>
            </a:r>
            <a:endParaRPr lang="en-US" dirty="0">
              <a:latin typeface="Cambria" panose="020405030504060302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</a:rPr>
              <a:t>	      (</a:t>
            </a:r>
            <a:r>
              <a:rPr lang="en-US" dirty="0" err="1">
                <a:latin typeface="Cambria" panose="02040503050406030204" pitchFamily="18" charset="0"/>
              </a:rPr>
              <a:t>xxxx</a:t>
            </a:r>
            <a:r>
              <a:rPr lang="en-US" dirty="0">
                <a:latin typeface="Cambria" panose="02040503050406030204" pitchFamily="18" charset="0"/>
              </a:rPr>
              <a:t> is the version number)</a:t>
            </a:r>
          </a:p>
          <a:p>
            <a:pPr algn="just"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</a:rPr>
              <a:t>         (f) Go to </a:t>
            </a:r>
            <a:r>
              <a:rPr lang="en-US" b="1" i="1" dirty="0">
                <a:latin typeface="Cambria" panose="02040503050406030204" pitchFamily="18" charset="0"/>
              </a:rPr>
              <a:t>bin</a:t>
            </a:r>
          </a:p>
          <a:p>
            <a:pPr algn="just"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</a:rPr>
              <a:t>	(g) Copy the path specified in the picture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4331" y="3408408"/>
            <a:ext cx="231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Copy This Path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F4BC3-8B18-C105-8D62-BB08E8655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114" y="3772207"/>
            <a:ext cx="4089579" cy="237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33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Environment Setup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61891" y="2196192"/>
            <a:ext cx="5967459" cy="369332"/>
          </a:xfrm>
          <a:prstGeom prst="rect">
            <a:avLst/>
          </a:prstGeom>
          <a:solidFill>
            <a:srgbClr val="F3E0A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</a:rPr>
              <a:t>7. Now to paste the copied path:</a:t>
            </a:r>
          </a:p>
        </p:txBody>
      </p: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475" y="4182154"/>
            <a:ext cx="3532323" cy="1985962"/>
          </a:xfrm>
          <a:prstGeom prst="rect">
            <a:avLst/>
          </a:prstGeom>
        </p:spPr>
      </p:pic>
      <p:pic>
        <p:nvPicPr>
          <p:cNvPr id="13" name="Content Placeholder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474" y="4182154"/>
            <a:ext cx="3532323" cy="1985962"/>
          </a:xfrm>
          <a:prstGeom prst="rect">
            <a:avLst/>
          </a:prstGeom>
        </p:spPr>
      </p:pic>
      <p:pic>
        <p:nvPicPr>
          <p:cNvPr id="14" name="Content Placeholder 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473" y="4180809"/>
            <a:ext cx="3532323" cy="1987307"/>
          </a:xfrm>
          <a:prstGeom prst="rect">
            <a:avLst/>
          </a:prstGeom>
        </p:spPr>
      </p:pic>
      <p:pic>
        <p:nvPicPr>
          <p:cNvPr id="15" name="Content Placeholder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475" y="4180808"/>
            <a:ext cx="3532321" cy="19873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61890" y="2558011"/>
            <a:ext cx="5967459" cy="369332"/>
          </a:xfrm>
          <a:prstGeom prst="rect">
            <a:avLst/>
          </a:prstGeom>
          <a:solidFill>
            <a:srgbClr val="F3E0AF"/>
          </a:solidFill>
        </p:spPr>
        <p:txBody>
          <a:bodyPr wrap="square" rtlCol="0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</a:rPr>
              <a:t>	(a) Right Click on </a:t>
            </a:r>
            <a:r>
              <a:rPr lang="en-US" b="1" i="1" dirty="0">
                <a:latin typeface="Cambria" panose="02040503050406030204" pitchFamily="18" charset="0"/>
              </a:rPr>
              <a:t>This PC </a:t>
            </a:r>
            <a:r>
              <a:rPr lang="en-US" dirty="0">
                <a:latin typeface="Cambria" panose="02040503050406030204" pitchFamily="18" charset="0"/>
              </a:rPr>
              <a:t>and select </a:t>
            </a:r>
            <a:r>
              <a:rPr lang="en-US" b="1" i="1" dirty="0">
                <a:latin typeface="Cambria" panose="02040503050406030204" pitchFamily="18" charset="0"/>
              </a:rPr>
              <a:t>Properties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61891" y="2928571"/>
            <a:ext cx="5967459" cy="369332"/>
          </a:xfrm>
          <a:prstGeom prst="rect">
            <a:avLst/>
          </a:prstGeom>
          <a:solidFill>
            <a:srgbClr val="F3E0AF"/>
          </a:solidFill>
        </p:spPr>
        <p:txBody>
          <a:bodyPr wrap="square" rtlCol="0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b="1" i="1" dirty="0">
                <a:latin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</a:rPr>
              <a:t>(b) Click on </a:t>
            </a:r>
            <a:r>
              <a:rPr lang="en-US" b="1" i="1" dirty="0">
                <a:latin typeface="Cambria" panose="02040503050406030204" pitchFamily="18" charset="0"/>
              </a:rPr>
              <a:t>Advanced System Settings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61889" y="3297903"/>
            <a:ext cx="5967459" cy="369332"/>
          </a:xfrm>
          <a:prstGeom prst="rect">
            <a:avLst/>
          </a:prstGeom>
          <a:solidFill>
            <a:srgbClr val="F3E0AF"/>
          </a:solidFill>
        </p:spPr>
        <p:txBody>
          <a:bodyPr wrap="square" rtlCol="0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b="1" i="1" dirty="0">
                <a:latin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</a:rPr>
              <a:t>(c) Select </a:t>
            </a:r>
            <a:r>
              <a:rPr lang="en-US" b="1" i="1" dirty="0">
                <a:latin typeface="Cambria" panose="02040503050406030204" pitchFamily="18" charset="0"/>
              </a:rPr>
              <a:t>Environment Variable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61887" y="3647781"/>
            <a:ext cx="5967459" cy="369332"/>
          </a:xfrm>
          <a:prstGeom prst="rect">
            <a:avLst/>
          </a:prstGeom>
          <a:solidFill>
            <a:srgbClr val="F3E0AF"/>
          </a:solidFill>
        </p:spPr>
        <p:txBody>
          <a:bodyPr wrap="square" rtlCol="0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b="1" i="1" dirty="0">
                <a:latin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</a:rPr>
              <a:t>(d) Select </a:t>
            </a:r>
            <a:r>
              <a:rPr lang="en-US" b="1" i="1" dirty="0">
                <a:latin typeface="Cambria" panose="02040503050406030204" pitchFamily="18" charset="0"/>
              </a:rPr>
              <a:t>Path </a:t>
            </a:r>
            <a:r>
              <a:rPr lang="en-US" dirty="0">
                <a:latin typeface="Cambria" panose="02040503050406030204" pitchFamily="18" charset="0"/>
              </a:rPr>
              <a:t>from the bottom box and click on Edit</a:t>
            </a:r>
            <a:endParaRPr lang="en-US" b="1" i="1" dirty="0">
              <a:latin typeface="Cambria" panose="02040503050406030204" pitchFamily="18" charset="0"/>
            </a:endParaRPr>
          </a:p>
        </p:txBody>
      </p:sp>
      <p:pic>
        <p:nvPicPr>
          <p:cNvPr id="21" name="Content Placeholder 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004" y="2126624"/>
            <a:ext cx="2048792" cy="194771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24473" y="4196246"/>
            <a:ext cx="3532324" cy="19718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61891" y="3995603"/>
            <a:ext cx="5967459" cy="369332"/>
          </a:xfrm>
          <a:prstGeom prst="rect">
            <a:avLst/>
          </a:prstGeom>
          <a:solidFill>
            <a:srgbClr val="F3E0AF"/>
          </a:solidFill>
        </p:spPr>
        <p:txBody>
          <a:bodyPr wrap="square" rtlCol="0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b="1" i="1" dirty="0">
                <a:latin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</a:rPr>
              <a:t>(e) Click on </a:t>
            </a:r>
            <a:r>
              <a:rPr lang="en-US" b="1" i="1" dirty="0">
                <a:latin typeface="Cambria" panose="02040503050406030204" pitchFamily="18" charset="0"/>
              </a:rPr>
              <a:t>New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61891" y="4345481"/>
            <a:ext cx="5967459" cy="369332"/>
          </a:xfrm>
          <a:prstGeom prst="rect">
            <a:avLst/>
          </a:prstGeom>
          <a:solidFill>
            <a:srgbClr val="F3E0AF"/>
          </a:solidFill>
        </p:spPr>
        <p:txBody>
          <a:bodyPr wrap="square" rtlCol="0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b="1" i="1" dirty="0">
                <a:latin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</a:rPr>
              <a:t>(f) Paste the path and click on </a:t>
            </a:r>
            <a:r>
              <a:rPr lang="en-US" b="1" i="1" dirty="0">
                <a:latin typeface="Cambria" panose="02040503050406030204" pitchFamily="18" charset="0"/>
              </a:rPr>
              <a:t>OK</a:t>
            </a:r>
            <a:r>
              <a:rPr lang="en-US" dirty="0">
                <a:latin typeface="Cambria" panose="02040503050406030204" pitchFamily="18" charset="0"/>
              </a:rPr>
              <a:t>.</a:t>
            </a:r>
            <a:endParaRPr lang="en-US" b="1" i="1" dirty="0">
              <a:latin typeface="Cambria" panose="02040503050406030204" pitchFamily="18" charset="0"/>
            </a:endParaRPr>
          </a:p>
        </p:txBody>
      </p:sp>
      <p:pic>
        <p:nvPicPr>
          <p:cNvPr id="23" name="Content Placeholder 3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004" y="2126624"/>
            <a:ext cx="2048792" cy="19477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61886" y="4736348"/>
            <a:ext cx="5967459" cy="369332"/>
          </a:xfrm>
          <a:prstGeom prst="rect">
            <a:avLst/>
          </a:prstGeom>
          <a:solidFill>
            <a:srgbClr val="F3E0A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</a:rPr>
              <a:t>8. Click on </a:t>
            </a:r>
            <a:r>
              <a:rPr lang="en-US" b="1" dirty="0">
                <a:latin typeface="Cambria" panose="02040503050406030204" pitchFamily="18" charset="0"/>
              </a:rPr>
              <a:t>OK</a:t>
            </a:r>
            <a:r>
              <a:rPr lang="en-US" dirty="0"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2263" y="2126624"/>
            <a:ext cx="2184535" cy="1947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61884" y="5091477"/>
            <a:ext cx="5967459" cy="369332"/>
          </a:xfrm>
          <a:prstGeom prst="rect">
            <a:avLst/>
          </a:prstGeom>
          <a:solidFill>
            <a:srgbClr val="F3E0A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</a:rPr>
              <a:t>9. Click on </a:t>
            </a:r>
            <a:r>
              <a:rPr lang="en-US" b="1" dirty="0">
                <a:latin typeface="Cambria" panose="02040503050406030204" pitchFamily="18" charset="0"/>
              </a:rPr>
              <a:t>OK</a:t>
            </a:r>
            <a:r>
              <a:rPr lang="en-US" dirty="0">
                <a:latin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946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animBg="1"/>
      <p:bldP spid="17" grpId="0" animBg="1"/>
      <p:bldP spid="18" grpId="0" animBg="1"/>
      <p:bldP spid="19" grpId="0" animBg="1"/>
      <p:bldP spid="4" grpId="0" animBg="1"/>
      <p:bldP spid="20" grpId="0" animBg="1"/>
      <p:bldP spid="22" grpId="0" animBg="1"/>
      <p:bldP spid="24" grpId="0" animBg="1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Environment Setup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5" y="2374884"/>
            <a:ext cx="7754112" cy="369332"/>
          </a:xfrm>
          <a:prstGeom prst="rect">
            <a:avLst/>
          </a:prstGeom>
          <a:solidFill>
            <a:srgbClr val="F3E0A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</a:rPr>
              <a:t>10. Open </a:t>
            </a:r>
            <a:r>
              <a:rPr lang="en-US" b="1" i="1" dirty="0">
                <a:latin typeface="Cambria" panose="02040503050406030204" pitchFamily="18" charset="0"/>
              </a:rPr>
              <a:t>Command Prompt </a:t>
            </a:r>
            <a:r>
              <a:rPr lang="en-US" dirty="0">
                <a:latin typeface="Cambria" panose="02040503050406030204" pitchFamily="18" charset="0"/>
              </a:rPr>
              <a:t>again and give the </a:t>
            </a:r>
            <a:r>
              <a:rPr lang="en-US" b="1" i="1" dirty="0">
                <a:latin typeface="Cambria" panose="02040503050406030204" pitchFamily="18" charset="0"/>
              </a:rPr>
              <a:t>java </a:t>
            </a:r>
            <a:r>
              <a:rPr lang="en-US" dirty="0">
                <a:latin typeface="Cambria" panose="02040503050406030204" pitchFamily="18" charset="0"/>
              </a:rPr>
              <a:t>command again.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91791" y="5786522"/>
            <a:ext cx="3309938" cy="369332"/>
          </a:xfrm>
          <a:prstGeom prst="rect">
            <a:avLst/>
          </a:prstGeom>
          <a:solidFill>
            <a:srgbClr val="42CD2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</a:rPr>
              <a:t>Path Configured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792" y="3945587"/>
            <a:ext cx="3309937" cy="17707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905591" y="5786522"/>
            <a:ext cx="3309938" cy="369332"/>
          </a:xfrm>
          <a:prstGeom prst="rect">
            <a:avLst/>
          </a:prstGeom>
          <a:solidFill>
            <a:srgbClr val="42CD2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mbria" panose="02040503050406030204" pitchFamily="18" charset="0"/>
              </a:rPr>
              <a:t>Installed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68" y="3945587"/>
            <a:ext cx="3312861" cy="17707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5" y="2746056"/>
            <a:ext cx="7754112" cy="369332"/>
          </a:xfrm>
          <a:prstGeom prst="rect">
            <a:avLst/>
          </a:prstGeom>
          <a:solidFill>
            <a:srgbClr val="F3E0A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</a:rPr>
              <a:t>11. Give the </a:t>
            </a:r>
            <a:r>
              <a:rPr lang="en-US" b="1" i="1" dirty="0" err="1">
                <a:latin typeface="Cambria" panose="02040503050406030204" pitchFamily="18" charset="0"/>
              </a:rPr>
              <a:t>javac</a:t>
            </a:r>
            <a:r>
              <a:rPr lang="en-US" b="1" i="1" dirty="0">
                <a:latin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</a:rPr>
              <a:t>command again. </a:t>
            </a:r>
          </a:p>
        </p:txBody>
      </p:sp>
    </p:spTree>
    <p:extLst>
      <p:ext uri="{BB962C8B-B14F-4D97-AF65-F5344CB8AC3E}">
        <p14:creationId xmlns:p14="http://schemas.microsoft.com/office/powerpoint/2010/main" val="59692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9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Environment Setup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074397" y="2638815"/>
            <a:ext cx="5426539" cy="1275959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US" sz="60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Congratulations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1180" y="3100481"/>
            <a:ext cx="711297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You Have Successfully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86761" y="4116144"/>
            <a:ext cx="5414175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Configured JAVA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495" y="4776375"/>
            <a:ext cx="877599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Programming Environment</a:t>
            </a:r>
          </a:p>
        </p:txBody>
      </p:sp>
    </p:spTree>
    <p:extLst>
      <p:ext uri="{BB962C8B-B14F-4D97-AF65-F5344CB8AC3E}">
        <p14:creationId xmlns:p14="http://schemas.microsoft.com/office/powerpoint/2010/main" val="3800024022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219</TotalTime>
  <Words>354</Words>
  <Application>Microsoft Office PowerPoint</Application>
  <PresentationFormat>On-screen Show (4:3)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</vt:lpstr>
      <vt:lpstr>Corbel</vt:lpstr>
      <vt:lpstr>Wingdings</vt:lpstr>
      <vt:lpstr>Spectrum</vt:lpstr>
      <vt:lpstr>Java Environment Setup</vt:lpstr>
      <vt:lpstr>Java Environment Setup</vt:lpstr>
      <vt:lpstr>Java Environment Setup</vt:lpstr>
      <vt:lpstr>Java Environment Setup</vt:lpstr>
      <vt:lpstr>Java Environment Setup</vt:lpstr>
      <vt:lpstr>Java Environment Setup</vt:lpstr>
      <vt:lpstr>Java Environment Setup</vt:lpstr>
      <vt:lpstr>Java Environment Setup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Learning Materials - OOP1</dc:title>
  <dc:creator>Mohaimen-Bin-Noor</dc:creator>
  <cp:lastModifiedBy>Nyme Ahmed</cp:lastModifiedBy>
  <cp:revision>33</cp:revision>
  <dcterms:created xsi:type="dcterms:W3CDTF">2018-12-10T17:20:29Z</dcterms:created>
  <dcterms:modified xsi:type="dcterms:W3CDTF">2025-07-13T19:46:46Z</dcterms:modified>
</cp:coreProperties>
</file>
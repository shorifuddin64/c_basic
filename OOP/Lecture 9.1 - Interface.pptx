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58" r:id="rId6"/>
    <p:sldId id="268" r:id="rId7"/>
    <p:sldId id="269" r:id="rId8"/>
    <p:sldId id="270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48639"/>
            <a:ext cx="7808976" cy="1266093"/>
          </a:xfrm>
        </p:spPr>
        <p:txBody>
          <a:bodyPr>
            <a:normAutofit/>
          </a:bodyPr>
          <a:lstStyle/>
          <a:p>
            <a:r>
              <a:rPr lang="en-US" dirty="0"/>
              <a:t>Interface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0622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Sifat Rahman Ahona, ahona@aiub.edu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-1(JAVA)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Interface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Attributes of interface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Method of interface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933176" y="1774743"/>
            <a:ext cx="77346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Interface is just like an Abstract Class but it does not have any regular methods/non-Abstract methods in 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We can not create any objects of an interface, but we can take object reference.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Interfaces are by default public.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FI" sz="28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005178"/>
            <a:ext cx="825071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An interface may have attributes. But these attributes are by default public, static and final all at the same time.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An interface does not have any constructors.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All the methods of an interface are by default public and abstract.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FI" sz="2800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Interface</a:t>
            </a:r>
            <a:endParaRPr lang="en-FI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821881" y="1078365"/>
            <a:ext cx="750023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As all the methods are by default abstract, they do not have any body/implementations.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However, if we want to give body to any method of an interface, we have to declare the method as static.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keyword </a:t>
            </a:r>
            <a:r>
              <a:rPr lang="en-US" sz="2800" dirty="0">
                <a:solidFill>
                  <a:srgbClr val="00B050"/>
                </a:solidFill>
              </a:rPr>
              <a:t>interface</a:t>
            </a:r>
            <a:r>
              <a:rPr lang="en-US" sz="2800" dirty="0"/>
              <a:t> is used to denote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public </a:t>
            </a:r>
            <a:r>
              <a:rPr lang="en-US" sz="2800" dirty="0">
                <a:solidFill>
                  <a:srgbClr val="00B050"/>
                </a:solidFill>
              </a:rPr>
              <a:t>interface</a:t>
            </a:r>
            <a:r>
              <a:rPr lang="en-US" sz="2800" dirty="0"/>
              <a:t> </a:t>
            </a:r>
            <a:r>
              <a:rPr lang="en-US" sz="2800" dirty="0" err="1"/>
              <a:t>IMyInterface</a:t>
            </a:r>
            <a:r>
              <a:rPr lang="en-US" sz="2800" dirty="0"/>
              <a:t> {. . . .}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2800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Interface</a:t>
            </a:r>
            <a:endParaRPr lang="en-FI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6EE548-DCD9-41CC-A3E1-BD3CB0272AA9}"/>
              </a:ext>
            </a:extLst>
          </p:cNvPr>
          <p:cNvSpPr/>
          <p:nvPr/>
        </p:nvSpPr>
        <p:spPr>
          <a:xfrm>
            <a:off x="335494" y="731162"/>
            <a:ext cx="71323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Regular/Non-Abstract class can inherit more than one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 abstract class can inherit more than one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 interface can inherit more than one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So, in terms of Interface, Multiple Inheritance is possible.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0309F6-0102-44D5-B1FA-FE8F3668C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786544"/>
              </p:ext>
            </p:extLst>
          </p:nvPr>
        </p:nvGraphicFramePr>
        <p:xfrm>
          <a:off x="2456424" y="4750549"/>
          <a:ext cx="576729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2432">
                  <a:extLst>
                    <a:ext uri="{9D8B030D-6E8A-4147-A177-3AD203B41FA5}">
                      <a16:colId xmlns:a16="http://schemas.microsoft.com/office/drawing/2014/main" val="1302876773"/>
                    </a:ext>
                  </a:extLst>
                </a:gridCol>
                <a:gridCol w="1922432">
                  <a:extLst>
                    <a:ext uri="{9D8B030D-6E8A-4147-A177-3AD203B41FA5}">
                      <a16:colId xmlns:a16="http://schemas.microsoft.com/office/drawing/2014/main" val="2740626348"/>
                    </a:ext>
                  </a:extLst>
                </a:gridCol>
                <a:gridCol w="1922432">
                  <a:extLst>
                    <a:ext uri="{9D8B030D-6E8A-4147-A177-3AD203B41FA5}">
                      <a16:colId xmlns:a16="http://schemas.microsoft.com/office/drawing/2014/main" val="4140900328"/>
                    </a:ext>
                  </a:extLst>
                </a:gridCol>
              </a:tblGrid>
              <a:tr h="383158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78266"/>
                  </a:ext>
                </a:extLst>
              </a:tr>
              <a:tr h="3831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extends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846347"/>
                  </a:ext>
                </a:extLst>
              </a:tr>
              <a:tr h="3831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interface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F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extends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79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1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1"/>
            <a:ext cx="6543608" cy="1055435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Interface </a:t>
            </a:r>
            <a:endParaRPr lang="en-FI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22D0B4-8DBC-455A-BB46-1FAD892DCD57}"/>
              </a:ext>
            </a:extLst>
          </p:cNvPr>
          <p:cNvSpPr txBox="1">
            <a:spLocks/>
          </p:cNvSpPr>
          <p:nvPr/>
        </p:nvSpPr>
        <p:spPr>
          <a:xfrm>
            <a:off x="493126" y="1258878"/>
            <a:ext cx="8074099" cy="515599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Copperplate Gothic Light" panose="020E0507020206020404" pitchFamily="34" charset="0"/>
            </a:endParaRP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All of the followings are possible:</a:t>
            </a:r>
          </a:p>
          <a:p>
            <a:pPr lvl="1" algn="just">
              <a:buClr>
                <a:srgbClr val="00CC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IAlpha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extends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IBravo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Clr>
                <a:srgbClr val="00CC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IAlpha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extends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IBravo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ICharlie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Clr>
                <a:srgbClr val="00CC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Bravo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IBravo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Clr>
                <a:srgbClr val="00CC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Bravo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IBravo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ICharlie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Clr>
                <a:srgbClr val="00CC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Alpha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IAlpha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Clr>
                <a:srgbClr val="00CC00"/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Delta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extends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Alpha </a:t>
            </a:r>
            <a:r>
              <a:rPr lang="en-US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ICharlie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IDelta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Clr>
                <a:srgbClr val="00CC00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So, “class - abstract class - interface” any combination is possible here.</a:t>
            </a:r>
          </a:p>
        </p:txBody>
      </p:sp>
    </p:spTree>
    <p:extLst>
      <p:ext uri="{BB962C8B-B14F-4D97-AF65-F5344CB8AC3E}">
        <p14:creationId xmlns:p14="http://schemas.microsoft.com/office/powerpoint/2010/main" val="215574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Interface </a:t>
            </a:r>
            <a:endParaRPr lang="en-FI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F253F-8239-4E0F-ACE8-24F17B4F3D27}"/>
              </a:ext>
            </a:extLst>
          </p:cNvPr>
          <p:cNvSpPr/>
          <p:nvPr/>
        </p:nvSpPr>
        <p:spPr>
          <a:xfrm>
            <a:off x="436098" y="1674056"/>
            <a:ext cx="780757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What is the benefit of using an Interface instead of an Abstract Class?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We can inherit only one abstract class, but we can inherit multiple interfaces.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Interface enables us to achieve another degree of abstraction by guiding a programmer about the methods that must be implemented in a program.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31716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242351" y="1582340"/>
            <a:ext cx="84324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3. Java How to Program Java, 9th Edition, By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The Java Language Specification, By J. Gosling, B. Joy, G. Steele, </a:t>
            </a:r>
            <a:r>
              <a:rPr lang="en-US" dirty="0" err="1"/>
              <a:t>G.Bracha</a:t>
            </a:r>
            <a:r>
              <a:rPr lang="en-US" dirty="0"/>
              <a:t> and A. Buckley</a:t>
            </a:r>
          </a:p>
          <a:p>
            <a:endParaRPr lang="en-US" dirty="0"/>
          </a:p>
          <a:p>
            <a:r>
              <a:rPr lang="en-US" dirty="0"/>
              <a:t>5. Introduction to Programming Using Java, 6th Edition, By David j. Eck</a:t>
            </a:r>
          </a:p>
          <a:p>
            <a:endParaRPr lang="en-US" dirty="0"/>
          </a:p>
          <a:p>
            <a:r>
              <a:rPr lang="en-US" dirty="0"/>
              <a:t>6. Head First Java, By Kathy Sierra and Bert Bates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8011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1. 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2. The Java Tutorials. http://docs.oracle.com/javase/tutorial/</a:t>
            </a:r>
            <a:endParaRPr lang="en-FI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0AFD82-6C98-453E-A905-349F2A89F7A3}"/>
</file>

<file path=customXml/itemProps2.xml><?xml version="1.0" encoding="utf-8"?>
<ds:datastoreItem xmlns:ds="http://schemas.openxmlformats.org/officeDocument/2006/customXml" ds:itemID="{039831C4-A650-4A60-9270-064AED200815}"/>
</file>

<file path=customXml/itemProps3.xml><?xml version="1.0" encoding="utf-8"?>
<ds:datastoreItem xmlns:ds="http://schemas.openxmlformats.org/officeDocument/2006/customXml" ds:itemID="{D1B9C45C-2BE8-4464-91EE-6215423106B7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193</TotalTime>
  <Words>533</Words>
  <Application>Microsoft Office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Copperplate Gothic Light</vt:lpstr>
      <vt:lpstr>Corbel</vt:lpstr>
      <vt:lpstr>Wingdings</vt:lpstr>
      <vt:lpstr>Spectrum</vt:lpstr>
      <vt:lpstr>Interface </vt:lpstr>
      <vt:lpstr>Lecture Outline</vt:lpstr>
      <vt:lpstr>Interface</vt:lpstr>
      <vt:lpstr>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Sifat Rahman Ahona</cp:lastModifiedBy>
  <cp:revision>38</cp:revision>
  <dcterms:created xsi:type="dcterms:W3CDTF">2018-12-10T17:20:29Z</dcterms:created>
  <dcterms:modified xsi:type="dcterms:W3CDTF">2020-04-25T06:41:41Z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
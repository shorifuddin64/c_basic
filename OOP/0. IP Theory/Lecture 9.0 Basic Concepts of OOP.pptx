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8" r:id="rId6"/>
    <p:sldId id="294" r:id="rId7"/>
    <p:sldId id="283" r:id="rId8"/>
    <p:sldId id="296" r:id="rId9"/>
    <p:sldId id="284" r:id="rId10"/>
    <p:sldId id="286" r:id="rId11"/>
    <p:sldId id="290" r:id="rId12"/>
    <p:sldId id="297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44B20"/>
    <a:srgbClr val="F0A010"/>
    <a:srgbClr val="FFFFFF"/>
    <a:srgbClr val="404040"/>
    <a:srgbClr val="7030A0"/>
    <a:srgbClr val="00B0F0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1FCB2-86EB-F39D-3D9E-790EB4250B4C}" v="11" dt="2024-10-19T03:50:58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6" autoAdjust="0"/>
    <p:restoredTop sz="91529" autoAdjust="0"/>
  </p:normalViewPr>
  <p:slideViewPr>
    <p:cSldViewPr snapToGrid="0" showGuides="1">
      <p:cViewPr varScale="1">
        <p:scale>
          <a:sx n="79" d="100"/>
          <a:sy n="79" d="100"/>
        </p:scale>
        <p:origin x="52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4" d="100"/>
        <a:sy n="114" d="100"/>
      </p:scale>
      <p:origin x="0" y="-1476"/>
    </p:cViewPr>
  </p:sorterViewPr>
  <p:notesViewPr>
    <p:cSldViewPr snapToGrid="0" showGuides="1">
      <p:cViewPr varScale="1">
        <p:scale>
          <a:sx n="53" d="100"/>
          <a:sy n="53" d="100"/>
        </p:scale>
        <p:origin x="2844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FA8042-29A1-4486-A765-7552698406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8449A-A734-4B2E-9806-61303F24B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49263-8DF9-4907-970E-1CFD040DC73A}" type="datetimeFigureOut">
              <a:rPr lang="en-IN" smtClean="0"/>
              <a:t>18-10-2024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05C2A-990C-4531-8CBF-BC3BEC0AF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358FE-F7D5-4C85-B0FD-2394F7F877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AE485-B3C6-4830-BBC8-C6E008BDD6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6289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70B412-7BFF-46C7-AB5E-DE35F66C9933}" type="datetimeFigureOut">
              <a:rPr lang="en-IN" smtClean="0"/>
              <a:t>18-10-2024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ACE04-E13C-4837-B6DD-B388E7CAA05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044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ACE04-E13C-4837-B6DD-B388E7CAA05E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23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ACE04-E13C-4837-B6DD-B388E7CAA05E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916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ct val="0"/>
              </a:spcBef>
            </a:pPr>
            <a:r>
              <a:rPr lang="en-US" dirty="0"/>
              <a:t>Why do we need oop While we have procedural programming ?</a:t>
            </a:r>
          </a:p>
          <a:p>
            <a:pPr algn="l">
              <a:spcBef>
                <a:spcPct val="0"/>
              </a:spcBef>
            </a:pPr>
            <a:r>
              <a:rPr lang="en-US" dirty="0"/>
              <a:t>Three reasons from three point of view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ACE04-E13C-4837-B6DD-B388E7CAA05E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7453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 basic unit of Object Oriented Programming and represents the real life 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ACE04-E13C-4837-B6DD-B388E7CAA05E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100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cs typeface="+mn-cs"/>
              </a:rPr>
              <a:t>A class is a set of instruction that describes </a:t>
            </a:r>
            <a:r>
              <a:rPr lang="en-US" sz="1200" dirty="0">
                <a:ea typeface="Cambria Math" panose="02040503050406030204" pitchFamily="18" charset="0"/>
              </a:rPr>
              <a:t>what an object will contain (members variables)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Cambria Math" panose="02040503050406030204" pitchFamily="18" charset="0"/>
                <a:cs typeface="+mn-cs"/>
              </a:rPr>
              <a:t>determines how the object will behave (Methods).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ACE04-E13C-4837-B6DD-B388E7CAA05E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642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ACE04-E13C-4837-B6DD-B388E7CAA05E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290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Encapsulation is the act of wrapping up of attributes(represented by data members) and operations (represented by functions) under one single unit (represented by class).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5ACE04-E13C-4837-B6DD-B388E7CAA05E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942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IN" smtClean="0"/>
              <a:t>18-10-2024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45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430" y="1046163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9302-80D9-4A88-8591-DE2D4BA1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0" y="2506662"/>
            <a:ext cx="5445370" cy="3454523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800"/>
            </a:lvl1pPr>
            <a:lvl2pPr>
              <a:lnSpc>
                <a:spcPct val="100000"/>
              </a:lnSpc>
              <a:buClr>
                <a:schemeClr val="accent1"/>
              </a:buClr>
              <a:defRPr sz="1600"/>
            </a:lvl2pPr>
            <a:lvl3pPr>
              <a:lnSpc>
                <a:spcPct val="100000"/>
              </a:lnSpc>
              <a:buClr>
                <a:schemeClr val="accent1"/>
              </a:buClr>
              <a:defRPr sz="1400"/>
            </a:lvl3pPr>
            <a:lvl4pPr>
              <a:lnSpc>
                <a:spcPct val="100000"/>
              </a:lnSpc>
              <a:buClr>
                <a:schemeClr val="accent1"/>
              </a:buClr>
              <a:defRPr sz="1200"/>
            </a:lvl4pPr>
            <a:lvl5pPr>
              <a:lnSpc>
                <a:spcPct val="100000"/>
              </a:lnSpc>
              <a:buClr>
                <a:schemeClr val="accent1"/>
              </a:buCl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Your company name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045" y="0"/>
            <a:ext cx="5210175" cy="5961063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50802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84765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6441-0F1F-453B-BACF-543CEDE2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1046163"/>
            <a:ext cx="5445369" cy="1114784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C9302-80D9-4A88-8591-DE2D4BA1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6" y="2506662"/>
            <a:ext cx="5445370" cy="3454523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6AEAE6ED-58FA-4039-939A-E4032520CB3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Your company name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02AABE-45EB-48A5-AD25-47BD8B79DF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9755" y="1"/>
            <a:ext cx="3430408" cy="4091942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-24055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725921A-0ED5-431E-899C-28A6920B5029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8B169A-8A2F-4425-A9A1-1B828428B43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1804745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63A2A33D-4D91-454D-A35B-6DA97069EC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2186" y="555157"/>
            <a:ext cx="2649814" cy="429819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7EC67FB7-777C-473E-95B8-585AA8E6640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19754" y="4289110"/>
            <a:ext cx="3430407" cy="1672075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0589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/>
            <a:r>
              <a:rPr lang="en-US" dirty="0"/>
              <a:t>TITLE HERE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FC94-FFEC-4290-AC27-760323F21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39691"/>
            <a:ext cx="10515600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lang="en-US" sz="1800" b="0" cap="none" baseline="0" dirty="0" smtClean="0"/>
            </a:lvl1pPr>
          </a:lstStyle>
          <a:p>
            <a:pPr marL="228600" lvl="0" indent="-22860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13018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Your company name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27806385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dirty="0"/>
              <a:t>Title here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D9B6D-CE43-4FB1-87C0-D3565E730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0986" y="2426274"/>
            <a:ext cx="3008434" cy="60108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D73CD-EB11-4ED6-80CF-B68320D57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0986" y="3097702"/>
            <a:ext cx="3008434" cy="3091961"/>
          </a:xfrm>
        </p:spPr>
        <p:txBody>
          <a:bodyPr lIns="0" tIns="0" rIns="0" bIns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7889B18-CC7E-47A7-B83B-45D7871D298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Your company name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3639489" y="421045"/>
            <a:ext cx="0" cy="5768619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09F60F9-61AE-4464-B369-1CF86DB708D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870582" y="2426274"/>
            <a:ext cx="3008434" cy="601087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124CEF01-2C7C-4568-8A45-5F5A058ECFC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7870582" y="3097702"/>
            <a:ext cx="3008434" cy="3091961"/>
          </a:xfrm>
        </p:spPr>
        <p:txBody>
          <a:bodyPr lIns="0" tIns="0" rIns="0" bIns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AF86618-E012-4E70-91E3-A72E71C63E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080986" y="1676296"/>
            <a:ext cx="587932" cy="58793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 Here</a:t>
            </a:r>
            <a:endParaRPr lang="en-IN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4FF378B9-734E-4C43-836C-CB80566DDB1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68008" y="1676296"/>
            <a:ext cx="587932" cy="58793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 Here</a:t>
            </a:r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6F2CCF2-293A-49CA-B2A9-134BB5DEF98E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080985" y="480157"/>
            <a:ext cx="6944563" cy="823912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21905163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Vertical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389277-B3D3-4AEE-8BE0-0559A739698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16488" y="0"/>
            <a:ext cx="6875511" cy="6858000"/>
          </a:xfrm>
          <a:solidFill>
            <a:schemeClr val="bg1">
              <a:lumMod val="8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36DA47-61AF-4CF1-8DF3-3721934D13E3}"/>
              </a:ext>
            </a:extLst>
          </p:cNvPr>
          <p:cNvSpPr/>
          <p:nvPr userDrawn="1"/>
        </p:nvSpPr>
        <p:spPr>
          <a:xfrm>
            <a:off x="0" y="0"/>
            <a:ext cx="5316488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6FD760-FBDC-4410-A039-469F7931D3A3}"/>
              </a:ext>
            </a:extLst>
          </p:cNvPr>
          <p:cNvSpPr/>
          <p:nvPr userDrawn="1"/>
        </p:nvSpPr>
        <p:spPr>
          <a:xfrm>
            <a:off x="831850" y="1723292"/>
            <a:ext cx="5307246" cy="3745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651" y="1087907"/>
            <a:ext cx="4468698" cy="1444275"/>
          </a:xfrm>
        </p:spPr>
        <p:txBody>
          <a:bodyPr vert="horz" lIns="91440" tIns="792000" rIns="91440" bIns="45720" rtlCol="0" anchor="t">
            <a:noAutofit/>
          </a:bodyPr>
          <a:lstStyle>
            <a:lvl1pPr algn="l">
              <a:defRPr lang="en-IN" sz="3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HERE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BFC94-FFEC-4290-AC27-760323F21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711" y="2552611"/>
            <a:ext cx="4097778" cy="1992819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sz="1800" b="0" cap="none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454991" y="1620451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34A1799-63F2-4B23-A188-7BAB23FB82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3416" y="6462713"/>
            <a:ext cx="2262187" cy="249237"/>
          </a:xfrm>
        </p:spPr>
        <p:txBody>
          <a:bodyPr>
            <a:noAutofit/>
          </a:bodyPr>
          <a:lstStyle>
            <a:lvl1pPr marL="0" indent="0">
              <a:buNone/>
              <a:defRPr sz="14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Your company name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F2EA84-5150-479B-86D5-F4BAE1263488}"/>
              </a:ext>
            </a:extLst>
          </p:cNvPr>
          <p:cNvGrpSpPr/>
          <p:nvPr userDrawn="1"/>
        </p:nvGrpSpPr>
        <p:grpSpPr>
          <a:xfrm flipH="1">
            <a:off x="1130928" y="4803540"/>
            <a:ext cx="3616779" cy="3522776"/>
            <a:chOff x="2555621" y="3917613"/>
            <a:chExt cx="3616779" cy="352277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0699C4B-8D8E-47E2-A0C5-D71C25ABAC72}"/>
                </a:ext>
              </a:extLst>
            </p:cNvPr>
            <p:cNvSpPr/>
            <p:nvPr userDrawn="1"/>
          </p:nvSpPr>
          <p:spPr>
            <a:xfrm>
              <a:off x="2874028" y="4142017"/>
              <a:ext cx="3298372" cy="3298372"/>
            </a:xfrm>
            <a:prstGeom prst="ellips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F607AB9-31A7-4B79-9AFE-0DFDB792E20C}"/>
                </a:ext>
              </a:extLst>
            </p:cNvPr>
            <p:cNvSpPr/>
            <p:nvPr userDrawn="1"/>
          </p:nvSpPr>
          <p:spPr>
            <a:xfrm>
              <a:off x="2555621" y="3917613"/>
              <a:ext cx="1268186" cy="126818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94174930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ABAC-B403-4354-A27F-4C38B08C1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2885" y="2704121"/>
            <a:ext cx="6556248" cy="750278"/>
          </a:xfrm>
        </p:spPr>
        <p:txBody>
          <a:bodyPr/>
          <a:lstStyle>
            <a:lvl1pPr>
              <a:defRPr lang="en-US" sz="4800" b="1" kern="1200" cap="all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IN" smtClean="0"/>
              <a:t>18-10-2024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3760408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0C7F772-E2DA-4B13-AC2E-28A0EE6D8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24363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3" name="Graphic 22" descr="Envelope">
            <a:extLst>
              <a:ext uri="{FF2B5EF4-FFF2-40B4-BE49-F238E27FC236}">
                <a16:creationId xmlns:a16="http://schemas.microsoft.com/office/drawing/2014/main" id="{3C32C7E5-809C-4E12-8962-1B868951E6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4803" y="4029040"/>
            <a:ext cx="469232" cy="469232"/>
          </a:xfrm>
          <a:prstGeom prst="rect">
            <a:avLst/>
          </a:prstGeom>
        </p:spPr>
      </p:pic>
      <p:sp>
        <p:nvSpPr>
          <p:cNvPr id="34" name="Subtitle 2">
            <a:extLst>
              <a:ext uri="{FF2B5EF4-FFF2-40B4-BE49-F238E27FC236}">
                <a16:creationId xmlns:a16="http://schemas.microsoft.com/office/drawing/2014/main" id="{31AD270F-1692-4526-B979-6B5945A20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809" y="4126311"/>
            <a:ext cx="3640478" cy="433938"/>
          </a:xfrm>
        </p:spPr>
        <p:txBody>
          <a:bodyPr>
            <a:normAutofit/>
          </a:bodyPr>
          <a:lstStyle>
            <a:lvl1pPr marL="0" indent="0" algn="l">
              <a:buNone/>
              <a:defRPr sz="1800" b="0" cap="none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382940E6-7963-411F-B35A-57121171A98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8614" y="4836222"/>
            <a:ext cx="3638674" cy="4539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b="0" cap="none" baseline="0" dirty="0" smtClean="0"/>
            </a:lvl1pPr>
            <a:lvl2pPr>
              <a:defRPr lang="en-US" sz="2000" dirty="0" smtClean="0"/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en-IN" sz="1600" dirty="0"/>
            </a:lvl5pPr>
          </a:lstStyle>
          <a:p>
            <a:pPr marL="228600" lvl="0" indent="-228600"/>
            <a:r>
              <a:rPr lang="en-US"/>
              <a:t>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F8FC2D7-B114-3444-8684-995FC4D6D459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EE45073-ED8E-0544-85FA-9AF5A478417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8BAF06E-A8A8-484C-8F6C-E42EDC46BBCB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86EB62D-13C7-6E43-9D98-B706D2B9ADDF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5CF3453-ED5A-024D-8815-C08EFA13D1A6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pic>
        <p:nvPicPr>
          <p:cNvPr id="3" name="Graphic 2" descr="Link">
            <a:extLst>
              <a:ext uri="{FF2B5EF4-FFF2-40B4-BE49-F238E27FC236}">
                <a16:creationId xmlns:a16="http://schemas.microsoft.com/office/drawing/2014/main" id="{16E3F5A0-978F-8D46-BBFB-19A7F7883D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7152" y="4809677"/>
            <a:ext cx="542081" cy="5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82E5-8FA2-4056-805F-EF36F70668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6300" y="2726872"/>
            <a:ext cx="7233557" cy="832077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85D6F-874B-44F8-B241-51EF13CA9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6300" y="3569380"/>
            <a:ext cx="7233557" cy="365125"/>
          </a:xfrm>
        </p:spPr>
        <p:txBody>
          <a:bodyPr lIns="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E5D2F-535D-4D7C-9BE1-84BFEC7A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93407-1483-4B80-86DE-DAE1D4D89093}" type="datetimeFigureOut">
              <a:rPr lang="en-IN" smtClean="0"/>
              <a:t>18-10-2024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63625-95D4-4DF0-A1AA-D060728EC426}"/>
              </a:ext>
            </a:extLst>
          </p:cNvPr>
          <p:cNvCxnSpPr>
            <a:cxnSpLocks/>
          </p:cNvCxnSpPr>
          <p:nvPr userDrawn="1"/>
        </p:nvCxnSpPr>
        <p:spPr>
          <a:xfrm>
            <a:off x="4827813" y="4082142"/>
            <a:ext cx="148862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CBCF8A4-C2B4-4945-8D79-C9D46B7FBECB}"/>
              </a:ext>
            </a:extLst>
          </p:cNvPr>
          <p:cNvGrpSpPr/>
          <p:nvPr userDrawn="1"/>
        </p:nvGrpSpPr>
        <p:grpSpPr>
          <a:xfrm>
            <a:off x="4793474" y="2475187"/>
            <a:ext cx="748798" cy="134113"/>
            <a:chOff x="4827813" y="2534636"/>
            <a:chExt cx="996651" cy="17850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79C2256-8A0F-4625-86F0-FB439F3EAD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53CF488-6D31-4B63-A3C6-C4D838C23FCE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2985B6-7260-445A-A580-6993E0DEBFD9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BC682E1-4E5D-4006-81EA-550DD98166E4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47953C80-71A5-4AA2-AEAD-21948D1AA6DC}"/>
              </a:ext>
            </a:extLst>
          </p:cNvPr>
          <p:cNvSpPr/>
          <p:nvPr userDrawn="1"/>
        </p:nvSpPr>
        <p:spPr>
          <a:xfrm>
            <a:off x="8621485" y="4408714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4582D1-F710-4E2F-9868-CB89116D5932}"/>
              </a:ext>
            </a:extLst>
          </p:cNvPr>
          <p:cNvSpPr/>
          <p:nvPr userDrawn="1"/>
        </p:nvSpPr>
        <p:spPr>
          <a:xfrm>
            <a:off x="8303078" y="4184310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8A1A8-E078-4836-ABD1-CD4E75BBF58F}"/>
              </a:ext>
            </a:extLst>
          </p:cNvPr>
          <p:cNvSpPr/>
          <p:nvPr userDrawn="1"/>
        </p:nvSpPr>
        <p:spPr>
          <a:xfrm>
            <a:off x="0" y="0"/>
            <a:ext cx="4424363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177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C89B828-B338-413C-B008-0A8566F4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88A4FD-81F4-4588-9E6D-70E57577D8BF}"/>
              </a:ext>
            </a:extLst>
          </p:cNvPr>
          <p:cNvCxnSpPr>
            <a:cxnSpLocks/>
          </p:cNvCxnSpPr>
          <p:nvPr userDrawn="1"/>
        </p:nvCxnSpPr>
        <p:spPr>
          <a:xfrm>
            <a:off x="5679220" y="2286312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F1D2ED-7B25-4251-BF07-47FBAA534810}"/>
              </a:ext>
            </a:extLst>
          </p:cNvPr>
          <p:cNvGrpSpPr/>
          <p:nvPr userDrawn="1"/>
        </p:nvGrpSpPr>
        <p:grpSpPr>
          <a:xfrm>
            <a:off x="11079786" y="421045"/>
            <a:ext cx="748798" cy="134113"/>
            <a:chOff x="4827813" y="2534636"/>
            <a:chExt cx="996651" cy="17850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97537E-DF51-4990-9447-2DAE98ABC683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99CAB5-81F4-4EA8-8B36-4A70C59861FD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6AADF9A-A507-4453-8CE3-3F78BB303FA4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3AA69F-C4B8-479C-9F0F-69C184D0611F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725921A-0ED5-431E-899C-28A6920B5029}"/>
              </a:ext>
            </a:extLst>
          </p:cNvPr>
          <p:cNvSpPr/>
          <p:nvPr userDrawn="1"/>
        </p:nvSpPr>
        <p:spPr>
          <a:xfrm>
            <a:off x="10039330" y="896815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8B169A-8A2F-4425-A9A1-1B828428B434}"/>
              </a:ext>
            </a:extLst>
          </p:cNvPr>
          <p:cNvSpPr/>
          <p:nvPr userDrawn="1"/>
        </p:nvSpPr>
        <p:spPr>
          <a:xfrm>
            <a:off x="9720923" y="672411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B45974-F6C7-40D3-9399-E05FA19C565E}"/>
              </a:ext>
            </a:extLst>
          </p:cNvPr>
          <p:cNvCxnSpPr>
            <a:cxnSpLocks/>
          </p:cNvCxnSpPr>
          <p:nvPr userDrawn="1"/>
        </p:nvCxnSpPr>
        <p:spPr>
          <a:xfrm>
            <a:off x="7508020" y="2286312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A55704E-D515-4774-90C6-5F887DDAE55E}"/>
              </a:ext>
            </a:extLst>
          </p:cNvPr>
          <p:cNvSpPr/>
          <p:nvPr userDrawn="1"/>
        </p:nvSpPr>
        <p:spPr>
          <a:xfrm>
            <a:off x="469044" y="1"/>
            <a:ext cx="5210176" cy="59610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4878778-0299-471F-A4C9-D0C1E82ED8D2}"/>
              </a:ext>
            </a:extLst>
          </p:cNvPr>
          <p:cNvCxnSpPr>
            <a:cxnSpLocks/>
          </p:cNvCxnSpPr>
          <p:nvPr userDrawn="1"/>
        </p:nvCxnSpPr>
        <p:spPr>
          <a:xfrm>
            <a:off x="1001746" y="1290512"/>
            <a:ext cx="1488621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E39D1C78-6110-4052-8455-7E7893F7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466" y="1276857"/>
            <a:ext cx="4097778" cy="1255325"/>
          </a:xfrm>
        </p:spPr>
        <p:txBody>
          <a:bodyPr/>
          <a:lstStyle>
            <a:lvl1pPr>
              <a:defRPr lang="en-US" sz="3600" b="1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3405997-7AE2-4C6E-8A7D-735F58A49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5467" y="2620651"/>
            <a:ext cx="4097778" cy="1933681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b="0" cap="none" baseline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15337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E814D66-F00F-0D44-AD03-889FEE787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9B990C-5D9C-4A90-AC73-5889BC9F7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4C85E5F-5B5E-48CC-8469-0263621D91FF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E4E300-6C8E-4262-BE1D-587C7B70E7ED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89702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E22FA8C-3243-4716-A6BD-F37D6058F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7381" y="1825625"/>
            <a:ext cx="5481203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ABE3FD8-339C-4F75-876F-8347ADE67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416" y="1825625"/>
            <a:ext cx="5481203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72FB389-5EA4-4084-B7A2-A4D0A43561F6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7783FE1-0115-4345-89B2-C073569FB8EE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6614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F73353B-C50B-4A8A-87CF-657C1EB89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7380" y="1681163"/>
            <a:ext cx="54812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5EFF7F5E-3221-4390-9B17-D1944365B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7379" y="2586215"/>
            <a:ext cx="5481203" cy="36034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506B516-77C1-431B-A8A5-68FA5D4B6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681163"/>
            <a:ext cx="54812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860F1452-CAB9-4154-ADCC-9245E71D0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3416" y="2586215"/>
            <a:ext cx="5481202" cy="36034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2892DF4-5A8A-4E92-A425-210ABE570F58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9AE2680-A46C-4B06-9ED9-53E617C1F174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27855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4E22-137C-4913-A29E-04F82EA87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794663"/>
            <a:ext cx="10515600" cy="823232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IN" sz="3600" b="1" cap="all" baseline="0"/>
            </a:lvl1pPr>
          </a:lstStyle>
          <a:p>
            <a:pPr lvl="0"/>
            <a:r>
              <a:rPr lang="en-US" dirty="0"/>
              <a:t>TITLE HERE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139FA-A83B-432B-9C7C-26634F46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93E40EC-FFAE-4BC0-932E-60CC9A1785C0}"/>
              </a:ext>
            </a:extLst>
          </p:cNvPr>
          <p:cNvCxnSpPr>
            <a:cxnSpLocks/>
          </p:cNvCxnSpPr>
          <p:nvPr userDrawn="1"/>
        </p:nvCxnSpPr>
        <p:spPr>
          <a:xfrm>
            <a:off x="5351690" y="3748188"/>
            <a:ext cx="1488621" cy="0"/>
          </a:xfrm>
          <a:prstGeom prst="line">
            <a:avLst/>
          </a:prstGeom>
          <a:ln w="139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44635-8274-49B1-BBEC-354A0872E526}"/>
              </a:ext>
            </a:extLst>
          </p:cNvPr>
          <p:cNvGrpSpPr/>
          <p:nvPr userDrawn="1"/>
        </p:nvGrpSpPr>
        <p:grpSpPr>
          <a:xfrm>
            <a:off x="5721601" y="4594679"/>
            <a:ext cx="748798" cy="134113"/>
            <a:chOff x="4827813" y="2534636"/>
            <a:chExt cx="996651" cy="17850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754643C-5B30-4FC2-BFAC-4FD007AC9EC7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3FDDB55-6BA5-4489-9E37-4A76254A5CD7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023CF8-2471-40A5-B2EF-E9BF4DF2C0E1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9B0428F-5D1A-4CD3-BDA2-9CA7F5141455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6E0573A-023B-4D1C-8224-56A5D0DDF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4839679"/>
            <a:ext cx="10507662" cy="1305379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b="0" cap="none" baseline="0"/>
            </a:lvl1pPr>
          </a:lstStyle>
          <a:p>
            <a:pPr marL="228600" lvl="0" indent="-228600" algn="ctr">
              <a:lnSpc>
                <a:spcPct val="10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12087456-C0E8-4AA6-81E8-996CEC037E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3713017"/>
          </a:xfr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19214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416" y="246186"/>
            <a:ext cx="3206261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dirty="0"/>
              <a:t>Title here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A27954-3A0E-430B-AD48-05A3F3278D70}"/>
              </a:ext>
            </a:extLst>
          </p:cNvPr>
          <p:cNvGrpSpPr/>
          <p:nvPr userDrawn="1"/>
        </p:nvGrpSpPr>
        <p:grpSpPr>
          <a:xfrm>
            <a:off x="-24056" y="1452564"/>
            <a:ext cx="3385227" cy="134113"/>
            <a:chOff x="-24055" y="1452565"/>
            <a:chExt cx="2374534" cy="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C089FD-3BC7-434F-810A-04F78AFC84D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4055" y="1452565"/>
              <a:ext cx="1717831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F7AC837-D78F-424C-9FDC-C3A445A5E0B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04745" y="1452565"/>
              <a:ext cx="545734" cy="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3F366940-FB5E-4B76-8829-80C14F137B3A}"/>
              </a:ext>
            </a:extLst>
          </p:cNvPr>
          <p:cNvSpPr/>
          <p:nvPr userDrawn="1"/>
        </p:nvSpPr>
        <p:spPr>
          <a:xfrm>
            <a:off x="10251393" y="555158"/>
            <a:ext cx="3298372" cy="3298372"/>
          </a:xfrm>
          <a:prstGeom prst="ellipse">
            <a:avLst/>
          </a:prstGeom>
          <a:noFill/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5486FFB-46EF-4E74-BFFF-7ED054DB0D9C}"/>
              </a:ext>
            </a:extLst>
          </p:cNvPr>
          <p:cNvSpPr/>
          <p:nvPr userDrawn="1"/>
        </p:nvSpPr>
        <p:spPr>
          <a:xfrm>
            <a:off x="9932986" y="330754"/>
            <a:ext cx="1268186" cy="1268186"/>
          </a:xfrm>
          <a:prstGeom prst="ellipse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D35CCD2-B73F-944C-B572-7FBFC7DE22E4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D8F78D8-558F-3540-A5F4-B1AD8942B341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F8F621A-F298-2B48-B7E0-8D9BEE8AA763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17A3A3B-82AE-0A46-AE32-9B111F975BDB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F206CE3-6B94-C340-8BA3-A2A4E407E499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1B247C0B-04BA-4D5C-A41D-AEA602172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416" y="2057400"/>
            <a:ext cx="3206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94C619D-34F6-4A29-857A-D76007218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084" y="246187"/>
            <a:ext cx="7467304" cy="561486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517590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37E7-A574-47D2-9624-D12F4756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1037492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C089FD-3BC7-434F-810A-04F78AFC84D2}"/>
              </a:ext>
            </a:extLst>
          </p:cNvPr>
          <p:cNvCxnSpPr>
            <a:cxnSpLocks/>
          </p:cNvCxnSpPr>
          <p:nvPr userDrawn="1"/>
        </p:nvCxnSpPr>
        <p:spPr>
          <a:xfrm>
            <a:off x="-24055" y="1452565"/>
            <a:ext cx="1717831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7AC837-D78F-424C-9FDC-C3A445A5E0B6}"/>
              </a:ext>
            </a:extLst>
          </p:cNvPr>
          <p:cNvCxnSpPr>
            <a:cxnSpLocks/>
          </p:cNvCxnSpPr>
          <p:nvPr userDrawn="1"/>
        </p:nvCxnSpPr>
        <p:spPr>
          <a:xfrm>
            <a:off x="1804745" y="1452565"/>
            <a:ext cx="545734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31C4EF-58CF-4AEC-9F81-CB38D946A457}"/>
              </a:ext>
            </a:extLst>
          </p:cNvPr>
          <p:cNvCxnSpPr>
            <a:cxnSpLocks/>
          </p:cNvCxnSpPr>
          <p:nvPr userDrawn="1"/>
        </p:nvCxnSpPr>
        <p:spPr>
          <a:xfrm flipV="1">
            <a:off x="2454442" y="1429119"/>
            <a:ext cx="9737558" cy="15383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CE55-AF4E-4245-BFBC-DEC36E1D4A4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13A9D50-C6EA-F04C-BB84-891959D759F9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790B908-BCFE-FA4B-B5E3-36C62E088DE9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96D4A9D-D054-044B-8920-BE06A68ED267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43643B7-9DFD-8C46-881C-69B3D67CA91A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82D9D565-739D-4898-97BD-79EB8C7F91EC}"/>
              </a:ext>
            </a:extLst>
          </p:cNvPr>
          <p:cNvSpPr/>
          <p:nvPr userDrawn="1"/>
        </p:nvSpPr>
        <p:spPr>
          <a:xfrm>
            <a:off x="4608159" y="4718683"/>
            <a:ext cx="3298372" cy="329837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0FADA3-E777-489C-976D-0B0C4FD31310}"/>
              </a:ext>
            </a:extLst>
          </p:cNvPr>
          <p:cNvSpPr/>
          <p:nvPr userDrawn="1"/>
        </p:nvSpPr>
        <p:spPr>
          <a:xfrm>
            <a:off x="4289752" y="4494279"/>
            <a:ext cx="1268186" cy="1268186"/>
          </a:xfrm>
          <a:prstGeom prst="ellips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51473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564622-96D9-48C4-BB60-87F3F7C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CE8039-0D05-4A75-878A-907B8D44B9E7}"/>
              </a:ext>
            </a:extLst>
          </p:cNvPr>
          <p:cNvGrpSpPr/>
          <p:nvPr userDrawn="1"/>
        </p:nvGrpSpPr>
        <p:grpSpPr>
          <a:xfrm>
            <a:off x="363416" y="421045"/>
            <a:ext cx="748798" cy="134113"/>
            <a:chOff x="4827813" y="2534636"/>
            <a:chExt cx="996651" cy="17850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1402252-45E8-45B3-BA5E-DFA33A45474E}"/>
                </a:ext>
              </a:extLst>
            </p:cNvPr>
            <p:cNvSpPr/>
            <p:nvPr/>
          </p:nvSpPr>
          <p:spPr>
            <a:xfrm>
              <a:off x="4827813" y="2534636"/>
              <a:ext cx="178504" cy="1785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300C883-1ACE-4AF3-9875-792A769588D5}"/>
                </a:ext>
              </a:extLst>
            </p:cNvPr>
            <p:cNvSpPr/>
            <p:nvPr/>
          </p:nvSpPr>
          <p:spPr>
            <a:xfrm>
              <a:off x="5092508" y="2534636"/>
              <a:ext cx="178504" cy="178504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75483D7-E612-43D2-9B0E-C69356C160DA}"/>
                </a:ext>
              </a:extLst>
            </p:cNvPr>
            <p:cNvSpPr/>
            <p:nvPr/>
          </p:nvSpPr>
          <p:spPr>
            <a:xfrm>
              <a:off x="5369234" y="2534636"/>
              <a:ext cx="178504" cy="1785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279C5F2-4C7F-4470-A44F-E8AD69AC9FA0}"/>
                </a:ext>
              </a:extLst>
            </p:cNvPr>
            <p:cNvSpPr/>
            <p:nvPr/>
          </p:nvSpPr>
          <p:spPr>
            <a:xfrm>
              <a:off x="5645960" y="2534636"/>
              <a:ext cx="178504" cy="17850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87506116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0D79E1-5F46-41CA-85E7-44C2A6C6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365125"/>
            <a:ext cx="11465168" cy="918553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0B511-05FD-459E-AC79-A87540961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416" y="1825625"/>
            <a:ext cx="114651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2B635-1E22-483C-94B9-F587908DE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98321-594C-4030-A2B0-3492F77EE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5384" y="6463207"/>
            <a:ext cx="2743200" cy="2582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8BB047D-A6CD-43AB-96F0-683C726B586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65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62" r:id="rId5"/>
    <p:sldLayoutId id="2147483660" r:id="rId6"/>
    <p:sldLayoutId id="2147483663" r:id="rId7"/>
    <p:sldLayoutId id="2147483667" r:id="rId8"/>
    <p:sldLayoutId id="2147483668" r:id="rId9"/>
    <p:sldLayoutId id="2147483666" r:id="rId10"/>
    <p:sldLayoutId id="2147483669" r:id="rId11"/>
    <p:sldLayoutId id="2147483670" r:id="rId12"/>
    <p:sldLayoutId id="2147483671" r:id="rId13"/>
    <p:sldLayoutId id="2147483672" r:id="rId14"/>
    <p:sldLayoutId id="2147483664" r:id="rId15"/>
    <p:sldLayoutId id="214748366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microsoft.com/office/2007/relationships/hdphoto" Target="../media/hdphoto1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7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8A58F8-DA09-4B0D-B6A7-3370D7DF85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221"/>
          <a:stretch/>
        </p:blipFill>
        <p:spPr>
          <a:xfrm>
            <a:off x="1276025" y="0"/>
            <a:ext cx="9419808" cy="30716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0359CD-8DFF-4AF2-B957-630ED2A60E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419" y="3873853"/>
            <a:ext cx="8515159" cy="1250042"/>
          </a:xfrm>
        </p:spPr>
        <p:txBody>
          <a:bodyPr>
            <a:normAutofit/>
          </a:bodyPr>
          <a:lstStyle/>
          <a:p>
            <a:pPr algn="ctr"/>
            <a:r>
              <a:rPr lang="en-CA" sz="4400" cap="small" dirty="0"/>
              <a:t>Object-Oriented Programming (OOP) Basic Concepts in </a:t>
            </a:r>
            <a:r>
              <a:rPr lang="en-CA" sz="4400" cap="small" dirty="0" err="1"/>
              <a:t>c++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7D53-1D50-48D8-B3B4-B9632324B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8356" y="5427640"/>
            <a:ext cx="3536765" cy="391196"/>
          </a:xfr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sz="2000" b="1" dirty="0"/>
              <a:t>COURTESY: RIFATH MAHMUD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D25F8D-2F6E-45B4-BC2C-B375598B1FF5}"/>
              </a:ext>
            </a:extLst>
          </p:cNvPr>
          <p:cNvCxnSpPr>
            <a:cxnSpLocks/>
          </p:cNvCxnSpPr>
          <p:nvPr/>
        </p:nvCxnSpPr>
        <p:spPr>
          <a:xfrm>
            <a:off x="2960914" y="5225143"/>
            <a:ext cx="6226629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4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2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48150" y="4505097"/>
            <a:ext cx="108956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just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</a:pPr>
            <a:r>
              <a:rPr lang="en-US" sz="3200" dirty="0">
                <a:latin typeface="+mj-lt"/>
                <a:ea typeface="Cambria Math" panose="02040503050406030204" pitchFamily="18" charset="0"/>
              </a:rPr>
              <a:t>Object-oriented programming (OOP) is a programming paradigm based upon objects that aims to incorporate the advantages of modularity, reusability, and maintainability.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B0A6C9-3EBD-40BD-945B-C3ED709A0E48}"/>
              </a:ext>
            </a:extLst>
          </p:cNvPr>
          <p:cNvGrpSpPr/>
          <p:nvPr/>
        </p:nvGrpSpPr>
        <p:grpSpPr>
          <a:xfrm>
            <a:off x="838200" y="145408"/>
            <a:ext cx="10515600" cy="4165464"/>
            <a:chOff x="838200" y="145408"/>
            <a:chExt cx="10515600" cy="4165464"/>
          </a:xfrm>
        </p:grpSpPr>
        <p:sp>
          <p:nvSpPr>
            <p:cNvPr id="5" name="Title 8">
              <a:extLst>
                <a:ext uri="{FF2B5EF4-FFF2-40B4-BE49-F238E27FC236}">
                  <a16:creationId xmlns:a16="http://schemas.microsoft.com/office/drawing/2014/main" id="{E68E31FD-BE74-4CB3-A5A5-652148351F11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3487640"/>
              <a:ext cx="10515600" cy="823232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>
                <a:lnSpc>
                  <a:spcPct val="90000"/>
                </a:lnSpc>
                <a:spcBef>
                  <a:spcPct val="0"/>
                </a:spcBef>
                <a:buNone/>
                <a:defRPr lang="en-IN" sz="3600" b="1" cap="all" baseline="0"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/>
                <a:t>What is oop ?</a:t>
              </a:r>
              <a:r>
                <a:rPr lang="en-US" dirty="0">
                  <a:solidFill>
                    <a:schemeClr val="accent1"/>
                  </a:solidFill>
                </a:rPr>
                <a:t> </a:t>
              </a:r>
              <a:endParaRPr lang="en-IN" dirty="0">
                <a:solidFill>
                  <a:schemeClr val="accent1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E910D0A-0F50-4D3D-A366-1607BD111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697" y="145408"/>
              <a:ext cx="10134600" cy="344805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226220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C9BE45-12A5-4756-829B-3ACDB516B8E5}"/>
              </a:ext>
            </a:extLst>
          </p:cNvPr>
          <p:cNvCxnSpPr>
            <a:cxnSpLocks/>
          </p:cNvCxnSpPr>
          <p:nvPr/>
        </p:nvCxnSpPr>
        <p:spPr>
          <a:xfrm>
            <a:off x="5890078" y="1094138"/>
            <a:ext cx="0" cy="483888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31CBC42-B229-4B21-81C6-39D07B3F1471}"/>
              </a:ext>
            </a:extLst>
          </p:cNvPr>
          <p:cNvSpPr/>
          <p:nvPr/>
        </p:nvSpPr>
        <p:spPr>
          <a:xfrm>
            <a:off x="1074060" y="2185365"/>
            <a:ext cx="47289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Focus is on the sequence of operations rather than the Data.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37A07D-FF43-4AC4-B9AB-2BD7F0B8245D}"/>
              </a:ext>
            </a:extLst>
          </p:cNvPr>
          <p:cNvSpPr/>
          <p:nvPr/>
        </p:nvSpPr>
        <p:spPr>
          <a:xfrm>
            <a:off x="1074060" y="1094138"/>
            <a:ext cx="3773712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cap="all" dirty="0"/>
              <a:t>Procedural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A0E57-81C0-47D6-9F77-347E12777B51}"/>
              </a:ext>
            </a:extLst>
          </p:cNvPr>
          <p:cNvSpPr/>
          <p:nvPr/>
        </p:nvSpPr>
        <p:spPr>
          <a:xfrm>
            <a:off x="6843488" y="1094138"/>
            <a:ext cx="3773712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cap="all" dirty="0"/>
              <a:t>OOP </a:t>
            </a:r>
          </a:p>
        </p:txBody>
      </p:sp>
      <p:pic>
        <p:nvPicPr>
          <p:cNvPr id="11" name="Graphic 10" descr="List">
            <a:extLst>
              <a:ext uri="{FF2B5EF4-FFF2-40B4-BE49-F238E27FC236}">
                <a16:creationId xmlns:a16="http://schemas.microsoft.com/office/drawing/2014/main" id="{1C190A9A-BACB-4E94-94C5-D9A9653E4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630" y="2150951"/>
            <a:ext cx="818128" cy="818128"/>
          </a:xfrm>
          <a:prstGeom prst="rect">
            <a:avLst/>
          </a:prstGeom>
        </p:spPr>
      </p:pic>
      <p:pic>
        <p:nvPicPr>
          <p:cNvPr id="16" name="Graphic 15" descr="Maze">
            <a:extLst>
              <a:ext uri="{FF2B5EF4-FFF2-40B4-BE49-F238E27FC236}">
                <a16:creationId xmlns:a16="http://schemas.microsoft.com/office/drawing/2014/main" id="{A22CD3AB-466C-459F-AAC2-DF451ADA49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630" y="3222171"/>
            <a:ext cx="818128" cy="93239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9F98589-16D9-4314-ACEC-C356982FDD7E}"/>
              </a:ext>
            </a:extLst>
          </p:cNvPr>
          <p:cNvGrpSpPr/>
          <p:nvPr/>
        </p:nvGrpSpPr>
        <p:grpSpPr>
          <a:xfrm>
            <a:off x="288082" y="4297985"/>
            <a:ext cx="818128" cy="818128"/>
            <a:chOff x="278553" y="4165485"/>
            <a:chExt cx="818128" cy="818128"/>
          </a:xfrm>
        </p:grpSpPr>
        <p:pic>
          <p:nvPicPr>
            <p:cNvPr id="20" name="Graphic 19" descr="Recycle sign">
              <a:extLst>
                <a:ext uri="{FF2B5EF4-FFF2-40B4-BE49-F238E27FC236}">
                  <a16:creationId xmlns:a16="http://schemas.microsoft.com/office/drawing/2014/main" id="{C88FB13A-08E7-4BE1-8AAF-8D91F82F7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78553" y="4165485"/>
              <a:ext cx="818128" cy="818128"/>
            </a:xfrm>
            <a:prstGeom prst="rect">
              <a:avLst/>
            </a:prstGeom>
          </p:spPr>
        </p:pic>
        <p:pic>
          <p:nvPicPr>
            <p:cNvPr id="23" name="Graphic 22" descr="Close">
              <a:extLst>
                <a:ext uri="{FF2B5EF4-FFF2-40B4-BE49-F238E27FC236}">
                  <a16:creationId xmlns:a16="http://schemas.microsoft.com/office/drawing/2014/main" id="{C26AD000-7710-4D40-A1D7-F669E3A84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00446" y="4286076"/>
              <a:ext cx="576945" cy="57694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4DA350C-C69C-4CFA-9112-7691FED4641A}"/>
              </a:ext>
            </a:extLst>
          </p:cNvPr>
          <p:cNvSpPr/>
          <p:nvPr/>
        </p:nvSpPr>
        <p:spPr>
          <a:xfrm>
            <a:off x="7023778" y="2185365"/>
            <a:ext cx="49254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Focus is on the Data rather than sequence of operations.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452305E-ACC9-440A-8459-FF22C2C8DC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aintBrush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41359" y="2150951"/>
            <a:ext cx="843869" cy="816429"/>
          </a:xfrm>
          <a:prstGeom prst="rect">
            <a:avLst/>
          </a:prstGeom>
        </p:spPr>
      </p:pic>
      <p:pic>
        <p:nvPicPr>
          <p:cNvPr id="3080" name="Picture 8" descr="Image result for model icon">
            <a:extLst>
              <a:ext uri="{FF2B5EF4-FFF2-40B4-BE49-F238E27FC236}">
                <a16:creationId xmlns:a16="http://schemas.microsoft.com/office/drawing/2014/main" id="{D42BC972-6116-4575-8898-DE22587F7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biLevel thresh="7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66434"/>
            <a:ext cx="843865" cy="843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06ACCCC-6BC2-48F5-A34A-85D6475BA08E}"/>
              </a:ext>
            </a:extLst>
          </p:cNvPr>
          <p:cNvSpPr/>
          <p:nvPr/>
        </p:nvSpPr>
        <p:spPr>
          <a:xfrm>
            <a:off x="7004501" y="4302433"/>
            <a:ext cx="49640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OOP approach offers great reusability and maintainability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356CEF-E345-4F44-A5C4-EE744A292601}"/>
              </a:ext>
            </a:extLst>
          </p:cNvPr>
          <p:cNvSpPr/>
          <p:nvPr/>
        </p:nvSpPr>
        <p:spPr>
          <a:xfrm>
            <a:off x="7023778" y="3280948"/>
            <a:ext cx="4925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We can easily model large real-world concepts using OOP.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1AE5A7E-FF06-403C-82C0-DBED76B4532C}"/>
              </a:ext>
            </a:extLst>
          </p:cNvPr>
          <p:cNvSpPr/>
          <p:nvPr/>
        </p:nvSpPr>
        <p:spPr>
          <a:xfrm>
            <a:off x="1120725" y="4418576"/>
            <a:ext cx="47517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400" b="1" dirty="0"/>
              <a:t>Poor maintainability and reusability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087020-6E77-43DB-85F5-DF6E6A26088C}"/>
              </a:ext>
            </a:extLst>
          </p:cNvPr>
          <p:cNvSpPr/>
          <p:nvPr/>
        </p:nvSpPr>
        <p:spPr>
          <a:xfrm>
            <a:off x="1120725" y="3280947"/>
            <a:ext cx="44695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Writing a series of steps become complex for large programs.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0790AA7-DFCB-486D-9888-C90542CC8533}"/>
              </a:ext>
            </a:extLst>
          </p:cNvPr>
          <p:cNvGrpSpPr/>
          <p:nvPr/>
        </p:nvGrpSpPr>
        <p:grpSpPr>
          <a:xfrm>
            <a:off x="6141359" y="4285115"/>
            <a:ext cx="843865" cy="843865"/>
            <a:chOff x="6141359" y="4285115"/>
            <a:chExt cx="843865" cy="843865"/>
          </a:xfrm>
        </p:grpSpPr>
        <p:pic>
          <p:nvPicPr>
            <p:cNvPr id="31" name="Graphic 30" descr="Recycle sign">
              <a:extLst>
                <a:ext uri="{FF2B5EF4-FFF2-40B4-BE49-F238E27FC236}">
                  <a16:creationId xmlns:a16="http://schemas.microsoft.com/office/drawing/2014/main" id="{9185D419-A447-49B4-BB38-DBBFD53CA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41359" y="4285115"/>
              <a:ext cx="843865" cy="843865"/>
            </a:xfrm>
            <a:prstGeom prst="rect">
              <a:avLst/>
            </a:prstGeom>
          </p:spPr>
        </p:pic>
        <p:pic>
          <p:nvPicPr>
            <p:cNvPr id="43" name="Graphic 42" descr="Checkmark">
              <a:extLst>
                <a:ext uri="{FF2B5EF4-FFF2-40B4-BE49-F238E27FC236}">
                  <a16:creationId xmlns:a16="http://schemas.microsoft.com/office/drawing/2014/main" id="{AF9CAFE3-579C-45A2-9CEF-73E1B993C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386733" y="4608268"/>
              <a:ext cx="351692" cy="351692"/>
            </a:xfrm>
            <a:prstGeom prst="rect">
              <a:avLst/>
            </a:prstGeom>
          </p:spPr>
        </p:pic>
      </p:grp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42170CF5-425B-4741-B74F-2C3EBB95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/>
          <a:p>
            <a:fld id="{48BB047D-A6CD-43AB-96F0-683C726B586B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55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3" grpId="0"/>
      <p:bldP spid="33" grpId="0"/>
      <p:bldP spid="34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261BA0D-93EA-4C46-8D6F-B3174589978E}"/>
              </a:ext>
            </a:extLst>
          </p:cNvPr>
          <p:cNvSpPr/>
          <p:nvPr/>
        </p:nvSpPr>
        <p:spPr>
          <a:xfrm>
            <a:off x="4792107" y="2905372"/>
            <a:ext cx="2565956" cy="1400386"/>
          </a:xfrm>
          <a:custGeom>
            <a:avLst/>
            <a:gdLst>
              <a:gd name="connsiteX0" fmla="*/ 0 w 2565956"/>
              <a:gd name="connsiteY0" fmla="*/ 233402 h 1400386"/>
              <a:gd name="connsiteX1" fmla="*/ 233402 w 2565956"/>
              <a:gd name="connsiteY1" fmla="*/ 0 h 1400386"/>
              <a:gd name="connsiteX2" fmla="*/ 2332554 w 2565956"/>
              <a:gd name="connsiteY2" fmla="*/ 0 h 1400386"/>
              <a:gd name="connsiteX3" fmla="*/ 2565956 w 2565956"/>
              <a:gd name="connsiteY3" fmla="*/ 233402 h 1400386"/>
              <a:gd name="connsiteX4" fmla="*/ 2565956 w 2565956"/>
              <a:gd name="connsiteY4" fmla="*/ 1166984 h 1400386"/>
              <a:gd name="connsiteX5" fmla="*/ 2332554 w 2565956"/>
              <a:gd name="connsiteY5" fmla="*/ 1400386 h 1400386"/>
              <a:gd name="connsiteX6" fmla="*/ 233402 w 2565956"/>
              <a:gd name="connsiteY6" fmla="*/ 1400386 h 1400386"/>
              <a:gd name="connsiteX7" fmla="*/ 0 w 2565956"/>
              <a:gd name="connsiteY7" fmla="*/ 1166984 h 1400386"/>
              <a:gd name="connsiteX8" fmla="*/ 0 w 2565956"/>
              <a:gd name="connsiteY8" fmla="*/ 233402 h 1400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65956" h="1400386">
                <a:moveTo>
                  <a:pt x="0" y="233402"/>
                </a:moveTo>
                <a:cubicBezTo>
                  <a:pt x="0" y="104498"/>
                  <a:pt x="104498" y="0"/>
                  <a:pt x="233402" y="0"/>
                </a:cubicBezTo>
                <a:lnTo>
                  <a:pt x="2332554" y="0"/>
                </a:lnTo>
                <a:cubicBezTo>
                  <a:pt x="2461458" y="0"/>
                  <a:pt x="2565956" y="104498"/>
                  <a:pt x="2565956" y="233402"/>
                </a:cubicBezTo>
                <a:lnTo>
                  <a:pt x="2565956" y="1166984"/>
                </a:lnTo>
                <a:cubicBezTo>
                  <a:pt x="2565956" y="1295888"/>
                  <a:pt x="2461458" y="1400386"/>
                  <a:pt x="2332554" y="1400386"/>
                </a:cubicBezTo>
                <a:lnTo>
                  <a:pt x="233402" y="1400386"/>
                </a:lnTo>
                <a:cubicBezTo>
                  <a:pt x="104498" y="1400386"/>
                  <a:pt x="0" y="1295888"/>
                  <a:pt x="0" y="1166984"/>
                </a:cubicBezTo>
                <a:lnTo>
                  <a:pt x="0" y="233402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scene3d>
            <a:camera prst="orthographicFront"/>
            <a:lightRig rig="threePt" dir="t"/>
          </a:scene3d>
          <a:sp3d>
            <a:bevelT w="2159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9481" tIns="139481" rIns="139481" bIns="139481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OOP Concepts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3BF0F47-6A4B-439D-B12F-7DE7A2AA6DF5}"/>
              </a:ext>
            </a:extLst>
          </p:cNvPr>
          <p:cNvGrpSpPr/>
          <p:nvPr/>
        </p:nvGrpSpPr>
        <p:grpSpPr>
          <a:xfrm>
            <a:off x="5252496" y="1645243"/>
            <a:ext cx="1634090" cy="1260130"/>
            <a:chOff x="5252496" y="1645243"/>
            <a:chExt cx="1634090" cy="126013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5688620-5626-4D93-837C-B18263C44CB6}"/>
                </a:ext>
              </a:extLst>
            </p:cNvPr>
            <p:cNvSpPr/>
            <p:nvPr/>
          </p:nvSpPr>
          <p:spPr>
            <a:xfrm rot="16187220">
              <a:off x="5910948" y="2744437"/>
              <a:ext cx="321872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321872" y="0"/>
                  </a:lnTo>
                </a:path>
              </a:pathLst>
            </a:custGeom>
            <a:noFill/>
            <a:ln w="76200"/>
            <a:scene3d>
              <a:camera prst="orthographicFront"/>
              <a:lightRig rig="threePt" dir="t"/>
            </a:scene3d>
            <a:sp3d>
              <a:bevelT w="215900" prst="coolSlant"/>
            </a:sp3d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30EB947-1F2D-4B1E-A6D4-B35A5BE89575}"/>
                </a:ext>
              </a:extLst>
            </p:cNvPr>
            <p:cNvSpPr/>
            <p:nvPr/>
          </p:nvSpPr>
          <p:spPr>
            <a:xfrm>
              <a:off x="5252496" y="1645243"/>
              <a:ext cx="1634090" cy="938259"/>
            </a:xfrm>
            <a:custGeom>
              <a:avLst/>
              <a:gdLst>
                <a:gd name="connsiteX0" fmla="*/ 0 w 1634090"/>
                <a:gd name="connsiteY0" fmla="*/ 156380 h 938259"/>
                <a:gd name="connsiteX1" fmla="*/ 156380 w 1634090"/>
                <a:gd name="connsiteY1" fmla="*/ 0 h 938259"/>
                <a:gd name="connsiteX2" fmla="*/ 1477710 w 1634090"/>
                <a:gd name="connsiteY2" fmla="*/ 0 h 938259"/>
                <a:gd name="connsiteX3" fmla="*/ 1634090 w 1634090"/>
                <a:gd name="connsiteY3" fmla="*/ 156380 h 938259"/>
                <a:gd name="connsiteX4" fmla="*/ 1634090 w 1634090"/>
                <a:gd name="connsiteY4" fmla="*/ 781879 h 938259"/>
                <a:gd name="connsiteX5" fmla="*/ 1477710 w 1634090"/>
                <a:gd name="connsiteY5" fmla="*/ 938259 h 938259"/>
                <a:gd name="connsiteX6" fmla="*/ 156380 w 1634090"/>
                <a:gd name="connsiteY6" fmla="*/ 938259 h 938259"/>
                <a:gd name="connsiteX7" fmla="*/ 0 w 1634090"/>
                <a:gd name="connsiteY7" fmla="*/ 781879 h 938259"/>
                <a:gd name="connsiteX8" fmla="*/ 0 w 1634090"/>
                <a:gd name="connsiteY8" fmla="*/ 156380 h 93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090" h="938259">
                  <a:moveTo>
                    <a:pt x="0" y="156380"/>
                  </a:moveTo>
                  <a:cubicBezTo>
                    <a:pt x="0" y="70014"/>
                    <a:pt x="70014" y="0"/>
                    <a:pt x="156380" y="0"/>
                  </a:cubicBezTo>
                  <a:lnTo>
                    <a:pt x="1477710" y="0"/>
                  </a:lnTo>
                  <a:cubicBezTo>
                    <a:pt x="1564076" y="0"/>
                    <a:pt x="1634090" y="70014"/>
                    <a:pt x="1634090" y="156380"/>
                  </a:cubicBezTo>
                  <a:lnTo>
                    <a:pt x="1634090" y="781879"/>
                  </a:lnTo>
                  <a:cubicBezTo>
                    <a:pt x="1634090" y="868245"/>
                    <a:pt x="1564076" y="938259"/>
                    <a:pt x="1477710" y="938259"/>
                  </a:cubicBezTo>
                  <a:lnTo>
                    <a:pt x="156380" y="938259"/>
                  </a:lnTo>
                  <a:cubicBezTo>
                    <a:pt x="70014" y="938259"/>
                    <a:pt x="0" y="868245"/>
                    <a:pt x="0" y="781879"/>
                  </a:cubicBezTo>
                  <a:lnTo>
                    <a:pt x="0" y="156380"/>
                  </a:lnTo>
                  <a:close/>
                </a:path>
              </a:pathLst>
            </a:custGeom>
            <a:scene3d>
              <a:camera prst="orthographicFront"/>
              <a:lightRig rig="threePt" dir="t"/>
            </a:scene3d>
            <a:sp3d>
              <a:bevelT w="2159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641533"/>
                <a:satOff val="6827"/>
                <a:lumOff val="-2190"/>
                <a:alphaOff val="0"/>
              </a:schemeClr>
            </a:fillRef>
            <a:effectRef idx="3">
              <a:schemeClr val="accent4">
                <a:hueOff val="-641533"/>
                <a:satOff val="6827"/>
                <a:lumOff val="-219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922" tIns="116922" rIns="116922" bIns="116922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Class</a:t>
              </a:r>
              <a:endParaRPr lang="en-US" sz="1000" kern="12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D7A9279-8C7A-47E0-A41B-33E8E8A149EE}"/>
              </a:ext>
            </a:extLst>
          </p:cNvPr>
          <p:cNvGrpSpPr/>
          <p:nvPr/>
        </p:nvGrpSpPr>
        <p:grpSpPr>
          <a:xfrm>
            <a:off x="7309567" y="1902147"/>
            <a:ext cx="2748019" cy="958680"/>
            <a:chOff x="7322267" y="1902147"/>
            <a:chExt cx="2454280" cy="95868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BB6483A-99C2-41F6-AA76-D9541E42DB63}"/>
                </a:ext>
              </a:extLst>
            </p:cNvPr>
            <p:cNvSpPr/>
            <p:nvPr/>
          </p:nvSpPr>
          <p:spPr>
            <a:xfrm rot="20144466">
              <a:off x="7322267" y="2860827"/>
              <a:ext cx="810779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810779" y="0"/>
                  </a:lnTo>
                </a:path>
              </a:pathLst>
            </a:custGeom>
            <a:noFill/>
            <a:ln w="76200"/>
            <a:scene3d>
              <a:camera prst="orthographicFront"/>
              <a:lightRig rig="threePt" dir="t"/>
            </a:scene3d>
            <a:sp3d>
              <a:bevelT w="215900" prst="coolSlant"/>
            </a:sp3d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81D31C2-9148-4F6A-92AA-4D579DD79E39}"/>
                </a:ext>
              </a:extLst>
            </p:cNvPr>
            <p:cNvSpPr/>
            <p:nvPr/>
          </p:nvSpPr>
          <p:spPr>
            <a:xfrm>
              <a:off x="8023389" y="1902147"/>
              <a:ext cx="1753158" cy="938259"/>
            </a:xfrm>
            <a:custGeom>
              <a:avLst/>
              <a:gdLst>
                <a:gd name="connsiteX0" fmla="*/ 0 w 1618665"/>
                <a:gd name="connsiteY0" fmla="*/ 156380 h 938259"/>
                <a:gd name="connsiteX1" fmla="*/ 156380 w 1618665"/>
                <a:gd name="connsiteY1" fmla="*/ 0 h 938259"/>
                <a:gd name="connsiteX2" fmla="*/ 1462285 w 1618665"/>
                <a:gd name="connsiteY2" fmla="*/ 0 h 938259"/>
                <a:gd name="connsiteX3" fmla="*/ 1618665 w 1618665"/>
                <a:gd name="connsiteY3" fmla="*/ 156380 h 938259"/>
                <a:gd name="connsiteX4" fmla="*/ 1618665 w 1618665"/>
                <a:gd name="connsiteY4" fmla="*/ 781879 h 938259"/>
                <a:gd name="connsiteX5" fmla="*/ 1462285 w 1618665"/>
                <a:gd name="connsiteY5" fmla="*/ 938259 h 938259"/>
                <a:gd name="connsiteX6" fmla="*/ 156380 w 1618665"/>
                <a:gd name="connsiteY6" fmla="*/ 938259 h 938259"/>
                <a:gd name="connsiteX7" fmla="*/ 0 w 1618665"/>
                <a:gd name="connsiteY7" fmla="*/ 781879 h 938259"/>
                <a:gd name="connsiteX8" fmla="*/ 0 w 1618665"/>
                <a:gd name="connsiteY8" fmla="*/ 156380 h 93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8665" h="938259">
                  <a:moveTo>
                    <a:pt x="0" y="156380"/>
                  </a:moveTo>
                  <a:cubicBezTo>
                    <a:pt x="0" y="70014"/>
                    <a:pt x="70014" y="0"/>
                    <a:pt x="156380" y="0"/>
                  </a:cubicBezTo>
                  <a:lnTo>
                    <a:pt x="1462285" y="0"/>
                  </a:lnTo>
                  <a:cubicBezTo>
                    <a:pt x="1548651" y="0"/>
                    <a:pt x="1618665" y="70014"/>
                    <a:pt x="1618665" y="156380"/>
                  </a:cubicBezTo>
                  <a:lnTo>
                    <a:pt x="1618665" y="781879"/>
                  </a:lnTo>
                  <a:cubicBezTo>
                    <a:pt x="1618665" y="868245"/>
                    <a:pt x="1548651" y="938259"/>
                    <a:pt x="1462285" y="938259"/>
                  </a:cubicBezTo>
                  <a:lnTo>
                    <a:pt x="156380" y="938259"/>
                  </a:lnTo>
                  <a:cubicBezTo>
                    <a:pt x="70014" y="938259"/>
                    <a:pt x="0" y="868245"/>
                    <a:pt x="0" y="781879"/>
                  </a:cubicBezTo>
                  <a:lnTo>
                    <a:pt x="0" y="156380"/>
                  </a:lnTo>
                  <a:close/>
                </a:path>
              </a:pathLst>
            </a:custGeom>
            <a:scene3d>
              <a:camera prst="orthographicFront"/>
              <a:lightRig rig="threePt" dir="t"/>
            </a:scene3d>
            <a:sp3d>
              <a:bevelT w="2159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1283067"/>
                <a:satOff val="13654"/>
                <a:lumOff val="-4379"/>
                <a:alphaOff val="0"/>
              </a:schemeClr>
            </a:fillRef>
            <a:effectRef idx="3">
              <a:schemeClr val="accent4">
                <a:hueOff val="-1283067"/>
                <a:satOff val="13654"/>
                <a:lumOff val="-437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762" tIns="106762" rIns="106762" bIns="10676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Encapsulation</a:t>
              </a:r>
              <a:endParaRPr lang="en-US" sz="1000" kern="12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E28D189-FD8F-4C45-AB1F-8FA0925537E8}"/>
              </a:ext>
            </a:extLst>
          </p:cNvPr>
          <p:cNvGrpSpPr/>
          <p:nvPr/>
        </p:nvGrpSpPr>
        <p:grpSpPr>
          <a:xfrm>
            <a:off x="7345556" y="3964500"/>
            <a:ext cx="2679444" cy="938259"/>
            <a:chOff x="7345556" y="3964500"/>
            <a:chExt cx="2679444" cy="938259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655DE4-89D7-4963-9873-6A6E1278FB0F}"/>
                </a:ext>
              </a:extLst>
            </p:cNvPr>
            <p:cNvSpPr/>
            <p:nvPr/>
          </p:nvSpPr>
          <p:spPr>
            <a:xfrm rot="944622">
              <a:off x="7345556" y="4057711"/>
              <a:ext cx="666784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666784" y="0"/>
                  </a:lnTo>
                </a:path>
              </a:pathLst>
            </a:custGeom>
            <a:noFill/>
            <a:ln w="76200"/>
            <a:scene3d>
              <a:camera prst="orthographicFront"/>
              <a:lightRig rig="threePt" dir="t"/>
            </a:scene3d>
            <a:sp3d>
              <a:bevelT w="215900" prst="coolSlant"/>
            </a:sp3d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0F81E59-AB68-4A93-9F0E-95355178B950}"/>
                </a:ext>
              </a:extLst>
            </p:cNvPr>
            <p:cNvSpPr/>
            <p:nvPr/>
          </p:nvSpPr>
          <p:spPr>
            <a:xfrm>
              <a:off x="7999834" y="3964500"/>
              <a:ext cx="2025166" cy="938259"/>
            </a:xfrm>
            <a:custGeom>
              <a:avLst/>
              <a:gdLst>
                <a:gd name="connsiteX0" fmla="*/ 0 w 2025166"/>
                <a:gd name="connsiteY0" fmla="*/ 156380 h 938259"/>
                <a:gd name="connsiteX1" fmla="*/ 156380 w 2025166"/>
                <a:gd name="connsiteY1" fmla="*/ 0 h 938259"/>
                <a:gd name="connsiteX2" fmla="*/ 1868786 w 2025166"/>
                <a:gd name="connsiteY2" fmla="*/ 0 h 938259"/>
                <a:gd name="connsiteX3" fmla="*/ 2025166 w 2025166"/>
                <a:gd name="connsiteY3" fmla="*/ 156380 h 938259"/>
                <a:gd name="connsiteX4" fmla="*/ 2025166 w 2025166"/>
                <a:gd name="connsiteY4" fmla="*/ 781879 h 938259"/>
                <a:gd name="connsiteX5" fmla="*/ 1868786 w 2025166"/>
                <a:gd name="connsiteY5" fmla="*/ 938259 h 938259"/>
                <a:gd name="connsiteX6" fmla="*/ 156380 w 2025166"/>
                <a:gd name="connsiteY6" fmla="*/ 938259 h 938259"/>
                <a:gd name="connsiteX7" fmla="*/ 0 w 2025166"/>
                <a:gd name="connsiteY7" fmla="*/ 781879 h 938259"/>
                <a:gd name="connsiteX8" fmla="*/ 0 w 2025166"/>
                <a:gd name="connsiteY8" fmla="*/ 156380 h 93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25166" h="938259">
                  <a:moveTo>
                    <a:pt x="0" y="156380"/>
                  </a:moveTo>
                  <a:cubicBezTo>
                    <a:pt x="0" y="70014"/>
                    <a:pt x="70014" y="0"/>
                    <a:pt x="156380" y="0"/>
                  </a:cubicBezTo>
                  <a:lnTo>
                    <a:pt x="1868786" y="0"/>
                  </a:lnTo>
                  <a:cubicBezTo>
                    <a:pt x="1955152" y="0"/>
                    <a:pt x="2025166" y="70014"/>
                    <a:pt x="2025166" y="156380"/>
                  </a:cubicBezTo>
                  <a:lnTo>
                    <a:pt x="2025166" y="781879"/>
                  </a:lnTo>
                  <a:cubicBezTo>
                    <a:pt x="2025166" y="868245"/>
                    <a:pt x="1955152" y="938259"/>
                    <a:pt x="1868786" y="938259"/>
                  </a:cubicBezTo>
                  <a:lnTo>
                    <a:pt x="156380" y="938259"/>
                  </a:lnTo>
                  <a:cubicBezTo>
                    <a:pt x="70014" y="938259"/>
                    <a:pt x="0" y="868245"/>
                    <a:pt x="0" y="781879"/>
                  </a:cubicBezTo>
                  <a:lnTo>
                    <a:pt x="0" y="156380"/>
                  </a:lnTo>
                  <a:close/>
                </a:path>
              </a:pathLst>
            </a:custGeom>
            <a:scene3d>
              <a:camera prst="orthographicFront"/>
              <a:lightRig rig="threePt" dir="t"/>
            </a:scene3d>
            <a:sp3d>
              <a:bevelT w="2159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1924600"/>
                <a:satOff val="20480"/>
                <a:lumOff val="-6569"/>
                <a:alphaOff val="0"/>
              </a:schemeClr>
            </a:fillRef>
            <a:effectRef idx="3">
              <a:schemeClr val="accent4">
                <a:hueOff val="-1924600"/>
                <a:satOff val="20480"/>
                <a:lumOff val="-656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762" tIns="106762" rIns="106762" bIns="106762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Abstraction</a:t>
              </a:r>
              <a:endParaRPr lang="en-US" sz="2400" kern="1200" dirty="0"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90D46F2-3B1C-43AE-995C-B7E2BFF57326}"/>
              </a:ext>
            </a:extLst>
          </p:cNvPr>
          <p:cNvGrpSpPr/>
          <p:nvPr/>
        </p:nvGrpSpPr>
        <p:grpSpPr>
          <a:xfrm>
            <a:off x="5179171" y="4305756"/>
            <a:ext cx="1975104" cy="1461840"/>
            <a:chOff x="5179171" y="4305756"/>
            <a:chExt cx="1975104" cy="1461840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A2F1757-3832-4BEB-9DF1-DADC164EB072}"/>
                </a:ext>
              </a:extLst>
            </p:cNvPr>
            <p:cNvSpPr/>
            <p:nvPr/>
          </p:nvSpPr>
          <p:spPr>
            <a:xfrm rot="5384394">
              <a:off x="5817661" y="4567548"/>
              <a:ext cx="523583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523583" y="0"/>
                  </a:lnTo>
                </a:path>
              </a:pathLst>
            </a:custGeom>
            <a:noFill/>
            <a:ln w="76200"/>
            <a:scene3d>
              <a:camera prst="orthographicFront"/>
              <a:lightRig rig="threePt" dir="t"/>
            </a:scene3d>
            <a:sp3d>
              <a:bevelT w="215900" prst="coolSlant"/>
            </a:sp3d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0EC8B25-C704-4E32-AC9A-51D7B1176686}"/>
                </a:ext>
              </a:extLst>
            </p:cNvPr>
            <p:cNvSpPr/>
            <p:nvPr/>
          </p:nvSpPr>
          <p:spPr>
            <a:xfrm>
              <a:off x="5179171" y="4829337"/>
              <a:ext cx="1975104" cy="938259"/>
            </a:xfrm>
            <a:custGeom>
              <a:avLst/>
              <a:gdLst>
                <a:gd name="connsiteX0" fmla="*/ 0 w 1807199"/>
                <a:gd name="connsiteY0" fmla="*/ 156380 h 938259"/>
                <a:gd name="connsiteX1" fmla="*/ 156380 w 1807199"/>
                <a:gd name="connsiteY1" fmla="*/ 0 h 938259"/>
                <a:gd name="connsiteX2" fmla="*/ 1650819 w 1807199"/>
                <a:gd name="connsiteY2" fmla="*/ 0 h 938259"/>
                <a:gd name="connsiteX3" fmla="*/ 1807199 w 1807199"/>
                <a:gd name="connsiteY3" fmla="*/ 156380 h 938259"/>
                <a:gd name="connsiteX4" fmla="*/ 1807199 w 1807199"/>
                <a:gd name="connsiteY4" fmla="*/ 781879 h 938259"/>
                <a:gd name="connsiteX5" fmla="*/ 1650819 w 1807199"/>
                <a:gd name="connsiteY5" fmla="*/ 938259 h 938259"/>
                <a:gd name="connsiteX6" fmla="*/ 156380 w 1807199"/>
                <a:gd name="connsiteY6" fmla="*/ 938259 h 938259"/>
                <a:gd name="connsiteX7" fmla="*/ 0 w 1807199"/>
                <a:gd name="connsiteY7" fmla="*/ 781879 h 938259"/>
                <a:gd name="connsiteX8" fmla="*/ 0 w 1807199"/>
                <a:gd name="connsiteY8" fmla="*/ 156380 h 93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7199" h="938259">
                  <a:moveTo>
                    <a:pt x="0" y="156380"/>
                  </a:moveTo>
                  <a:cubicBezTo>
                    <a:pt x="0" y="70014"/>
                    <a:pt x="70014" y="0"/>
                    <a:pt x="156380" y="0"/>
                  </a:cubicBezTo>
                  <a:lnTo>
                    <a:pt x="1650819" y="0"/>
                  </a:lnTo>
                  <a:cubicBezTo>
                    <a:pt x="1737185" y="0"/>
                    <a:pt x="1807199" y="70014"/>
                    <a:pt x="1807199" y="156380"/>
                  </a:cubicBezTo>
                  <a:lnTo>
                    <a:pt x="1807199" y="781879"/>
                  </a:lnTo>
                  <a:cubicBezTo>
                    <a:pt x="1807199" y="868245"/>
                    <a:pt x="1737185" y="938259"/>
                    <a:pt x="1650819" y="938259"/>
                  </a:cubicBezTo>
                  <a:lnTo>
                    <a:pt x="156380" y="938259"/>
                  </a:lnTo>
                  <a:cubicBezTo>
                    <a:pt x="70014" y="938259"/>
                    <a:pt x="0" y="868245"/>
                    <a:pt x="0" y="781879"/>
                  </a:cubicBezTo>
                  <a:lnTo>
                    <a:pt x="0" y="156380"/>
                  </a:lnTo>
                  <a:close/>
                </a:path>
              </a:pathLst>
            </a:custGeom>
            <a:scene3d>
              <a:camera prst="orthographicFront"/>
              <a:lightRig rig="threePt" dir="t"/>
            </a:scene3d>
            <a:sp3d>
              <a:bevelT w="2159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2566133"/>
                <a:satOff val="27307"/>
                <a:lumOff val="-8759"/>
                <a:alphaOff val="0"/>
              </a:schemeClr>
            </a:fillRef>
            <a:effectRef idx="3">
              <a:schemeClr val="accent4">
                <a:hueOff val="-2566133"/>
                <a:satOff val="27307"/>
                <a:lumOff val="-875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922" tIns="116922" rIns="116922" bIns="116922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latin typeface="Calibri"/>
                  <a:ea typeface="+mn-ea"/>
                  <a:cs typeface="+mn-cs"/>
                </a:rPr>
                <a:t>Inheritance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BFE206D-E8AD-43FE-833F-823E7E74134A}"/>
              </a:ext>
            </a:extLst>
          </p:cNvPr>
          <p:cNvGrpSpPr/>
          <p:nvPr/>
        </p:nvGrpSpPr>
        <p:grpSpPr>
          <a:xfrm>
            <a:off x="2226152" y="4149679"/>
            <a:ext cx="2583126" cy="938259"/>
            <a:chOff x="2226152" y="4149679"/>
            <a:chExt cx="2583126" cy="93825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9E17958-7FFE-499B-A71A-44A4511F4F96}"/>
                </a:ext>
              </a:extLst>
            </p:cNvPr>
            <p:cNvSpPr/>
            <p:nvPr/>
          </p:nvSpPr>
          <p:spPr>
            <a:xfrm rot="9603144">
              <a:off x="4236865" y="4168846"/>
              <a:ext cx="572413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572413" y="0"/>
                  </a:lnTo>
                </a:path>
              </a:pathLst>
            </a:custGeom>
            <a:noFill/>
            <a:ln w="76200"/>
            <a:scene3d>
              <a:camera prst="orthographicFront"/>
              <a:lightRig rig="threePt" dir="t"/>
            </a:scene3d>
            <a:sp3d>
              <a:bevelT w="215900" prst="coolSlant"/>
            </a:sp3d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E0269E1-30F6-4C0B-BE65-30E0729D53A3}"/>
                </a:ext>
              </a:extLst>
            </p:cNvPr>
            <p:cNvSpPr/>
            <p:nvPr/>
          </p:nvSpPr>
          <p:spPr>
            <a:xfrm>
              <a:off x="2226152" y="4149679"/>
              <a:ext cx="2027883" cy="938259"/>
            </a:xfrm>
            <a:custGeom>
              <a:avLst/>
              <a:gdLst>
                <a:gd name="connsiteX0" fmla="*/ 0 w 1941511"/>
                <a:gd name="connsiteY0" fmla="*/ 156380 h 938259"/>
                <a:gd name="connsiteX1" fmla="*/ 156380 w 1941511"/>
                <a:gd name="connsiteY1" fmla="*/ 0 h 938259"/>
                <a:gd name="connsiteX2" fmla="*/ 1785131 w 1941511"/>
                <a:gd name="connsiteY2" fmla="*/ 0 h 938259"/>
                <a:gd name="connsiteX3" fmla="*/ 1941511 w 1941511"/>
                <a:gd name="connsiteY3" fmla="*/ 156380 h 938259"/>
                <a:gd name="connsiteX4" fmla="*/ 1941511 w 1941511"/>
                <a:gd name="connsiteY4" fmla="*/ 781879 h 938259"/>
                <a:gd name="connsiteX5" fmla="*/ 1785131 w 1941511"/>
                <a:gd name="connsiteY5" fmla="*/ 938259 h 938259"/>
                <a:gd name="connsiteX6" fmla="*/ 156380 w 1941511"/>
                <a:gd name="connsiteY6" fmla="*/ 938259 h 938259"/>
                <a:gd name="connsiteX7" fmla="*/ 0 w 1941511"/>
                <a:gd name="connsiteY7" fmla="*/ 781879 h 938259"/>
                <a:gd name="connsiteX8" fmla="*/ 0 w 1941511"/>
                <a:gd name="connsiteY8" fmla="*/ 156380 h 93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1511" h="938259">
                  <a:moveTo>
                    <a:pt x="0" y="156380"/>
                  </a:moveTo>
                  <a:cubicBezTo>
                    <a:pt x="0" y="70014"/>
                    <a:pt x="70014" y="0"/>
                    <a:pt x="156380" y="0"/>
                  </a:cubicBezTo>
                  <a:lnTo>
                    <a:pt x="1785131" y="0"/>
                  </a:lnTo>
                  <a:cubicBezTo>
                    <a:pt x="1871497" y="0"/>
                    <a:pt x="1941511" y="70014"/>
                    <a:pt x="1941511" y="156380"/>
                  </a:cubicBezTo>
                  <a:lnTo>
                    <a:pt x="1941511" y="781879"/>
                  </a:lnTo>
                  <a:cubicBezTo>
                    <a:pt x="1941511" y="868245"/>
                    <a:pt x="1871497" y="938259"/>
                    <a:pt x="1785131" y="938259"/>
                  </a:cubicBezTo>
                  <a:lnTo>
                    <a:pt x="156380" y="938259"/>
                  </a:lnTo>
                  <a:cubicBezTo>
                    <a:pt x="70014" y="938259"/>
                    <a:pt x="0" y="868245"/>
                    <a:pt x="0" y="781879"/>
                  </a:cubicBezTo>
                  <a:lnTo>
                    <a:pt x="0" y="156380"/>
                  </a:lnTo>
                  <a:close/>
                </a:path>
              </a:pathLst>
            </a:custGeom>
            <a:scene3d>
              <a:camera prst="orthographicFront"/>
              <a:lightRig rig="threePt" dir="t"/>
            </a:scene3d>
            <a:sp3d>
              <a:bevelT w="2159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3207667"/>
                <a:satOff val="34134"/>
                <a:lumOff val="-10948"/>
                <a:alphaOff val="0"/>
              </a:schemeClr>
            </a:fillRef>
            <a:effectRef idx="3">
              <a:schemeClr val="accent4">
                <a:hueOff val="-3207667"/>
                <a:satOff val="34134"/>
                <a:lumOff val="-1094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762" tIns="106762" rIns="106762" bIns="10676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latin typeface="Calibri"/>
                  <a:ea typeface="+mn-ea"/>
                  <a:cs typeface="+mn-cs"/>
                </a:rPr>
                <a:t>Polymorphism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3DF07FF-3B61-4D0F-8FD2-9AEDADCA83E0}"/>
              </a:ext>
            </a:extLst>
          </p:cNvPr>
          <p:cNvGrpSpPr/>
          <p:nvPr/>
        </p:nvGrpSpPr>
        <p:grpSpPr>
          <a:xfrm>
            <a:off x="2442176" y="2000643"/>
            <a:ext cx="2380363" cy="938259"/>
            <a:chOff x="2442176" y="2000643"/>
            <a:chExt cx="2380363" cy="938259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98C1878-4B68-45FF-ADA3-0E39EBB57B34}"/>
                </a:ext>
              </a:extLst>
            </p:cNvPr>
            <p:cNvSpPr/>
            <p:nvPr/>
          </p:nvSpPr>
          <p:spPr>
            <a:xfrm rot="12100410">
              <a:off x="3961627" y="2936719"/>
              <a:ext cx="860912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860912" y="0"/>
                  </a:lnTo>
                </a:path>
              </a:pathLst>
            </a:custGeom>
            <a:noFill/>
            <a:ln w="76200"/>
            <a:scene3d>
              <a:camera prst="orthographicFront"/>
              <a:lightRig rig="threePt" dir="t"/>
            </a:scene3d>
            <a:sp3d>
              <a:bevelT w="215900" prst="coolSlant"/>
            </a:sp3d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88E6FC4-61F4-4D44-BAB8-B9705C31EE76}"/>
                </a:ext>
              </a:extLst>
            </p:cNvPr>
            <p:cNvSpPr/>
            <p:nvPr/>
          </p:nvSpPr>
          <p:spPr>
            <a:xfrm>
              <a:off x="2442176" y="2000643"/>
              <a:ext cx="1549882" cy="938259"/>
            </a:xfrm>
            <a:custGeom>
              <a:avLst/>
              <a:gdLst>
                <a:gd name="connsiteX0" fmla="*/ 0 w 1549882"/>
                <a:gd name="connsiteY0" fmla="*/ 156380 h 938259"/>
                <a:gd name="connsiteX1" fmla="*/ 156380 w 1549882"/>
                <a:gd name="connsiteY1" fmla="*/ 0 h 938259"/>
                <a:gd name="connsiteX2" fmla="*/ 1393502 w 1549882"/>
                <a:gd name="connsiteY2" fmla="*/ 0 h 938259"/>
                <a:gd name="connsiteX3" fmla="*/ 1549882 w 1549882"/>
                <a:gd name="connsiteY3" fmla="*/ 156380 h 938259"/>
                <a:gd name="connsiteX4" fmla="*/ 1549882 w 1549882"/>
                <a:gd name="connsiteY4" fmla="*/ 781879 h 938259"/>
                <a:gd name="connsiteX5" fmla="*/ 1393502 w 1549882"/>
                <a:gd name="connsiteY5" fmla="*/ 938259 h 938259"/>
                <a:gd name="connsiteX6" fmla="*/ 156380 w 1549882"/>
                <a:gd name="connsiteY6" fmla="*/ 938259 h 938259"/>
                <a:gd name="connsiteX7" fmla="*/ 0 w 1549882"/>
                <a:gd name="connsiteY7" fmla="*/ 781879 h 938259"/>
                <a:gd name="connsiteX8" fmla="*/ 0 w 1549882"/>
                <a:gd name="connsiteY8" fmla="*/ 156380 h 93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9882" h="938259">
                  <a:moveTo>
                    <a:pt x="0" y="156380"/>
                  </a:moveTo>
                  <a:cubicBezTo>
                    <a:pt x="0" y="70014"/>
                    <a:pt x="70014" y="0"/>
                    <a:pt x="156380" y="0"/>
                  </a:cubicBezTo>
                  <a:lnTo>
                    <a:pt x="1393502" y="0"/>
                  </a:lnTo>
                  <a:cubicBezTo>
                    <a:pt x="1479868" y="0"/>
                    <a:pt x="1549882" y="70014"/>
                    <a:pt x="1549882" y="156380"/>
                  </a:cubicBezTo>
                  <a:lnTo>
                    <a:pt x="1549882" y="781879"/>
                  </a:lnTo>
                  <a:cubicBezTo>
                    <a:pt x="1549882" y="868245"/>
                    <a:pt x="1479868" y="938259"/>
                    <a:pt x="1393502" y="938259"/>
                  </a:cubicBezTo>
                  <a:lnTo>
                    <a:pt x="156380" y="938259"/>
                  </a:lnTo>
                  <a:cubicBezTo>
                    <a:pt x="70014" y="938259"/>
                    <a:pt x="0" y="868245"/>
                    <a:pt x="0" y="781879"/>
                  </a:cubicBezTo>
                  <a:lnTo>
                    <a:pt x="0" y="156380"/>
                  </a:lnTo>
                  <a:close/>
                </a:path>
              </a:pathLst>
            </a:custGeom>
            <a:scene3d>
              <a:camera prst="orthographicFront"/>
              <a:lightRig rig="threePt" dir="t"/>
            </a:scene3d>
            <a:sp3d>
              <a:bevelT w="2159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3849200"/>
                <a:satOff val="40961"/>
                <a:lumOff val="-13138"/>
                <a:alphaOff val="0"/>
              </a:schemeClr>
            </a:fillRef>
            <a:effectRef idx="3">
              <a:schemeClr val="accent4">
                <a:hueOff val="-3849200"/>
                <a:satOff val="40961"/>
                <a:lumOff val="-1313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922" tIns="116922" rIns="116922" bIns="116922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>
                  <a:latin typeface="Calibri"/>
                  <a:ea typeface="+mn-ea"/>
                  <a:cs typeface="+mn-cs"/>
                </a:rPr>
                <a:t>Object</a:t>
              </a:r>
            </a:p>
          </p:txBody>
        </p:sp>
      </p:grp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689BF5F8-C447-4794-BFC9-302D9842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/>
          <a:p>
            <a:fld id="{48BB047D-A6CD-43AB-96F0-683C726B586B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9313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/>
        </p:nvSpPr>
        <p:spPr>
          <a:xfrm>
            <a:off x="7872412" y="1645242"/>
            <a:ext cx="2371725" cy="1402079"/>
          </a:xfrm>
          <a:prstGeom prst="ellipse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946656" y="1744561"/>
            <a:ext cx="2531388" cy="2884589"/>
          </a:xfrm>
          <a:prstGeom prst="ellipse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114425" y="741386"/>
            <a:ext cx="10572750" cy="5730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30EB947-1F2D-4B1E-A6D4-B35A5BE89575}"/>
              </a:ext>
            </a:extLst>
          </p:cNvPr>
          <p:cNvSpPr/>
          <p:nvPr/>
        </p:nvSpPr>
        <p:spPr>
          <a:xfrm>
            <a:off x="5252496" y="1645243"/>
            <a:ext cx="1634090" cy="938259"/>
          </a:xfrm>
          <a:custGeom>
            <a:avLst/>
            <a:gdLst>
              <a:gd name="connsiteX0" fmla="*/ 0 w 1634090"/>
              <a:gd name="connsiteY0" fmla="*/ 156380 h 938259"/>
              <a:gd name="connsiteX1" fmla="*/ 156380 w 1634090"/>
              <a:gd name="connsiteY1" fmla="*/ 0 h 938259"/>
              <a:gd name="connsiteX2" fmla="*/ 1477710 w 1634090"/>
              <a:gd name="connsiteY2" fmla="*/ 0 h 938259"/>
              <a:gd name="connsiteX3" fmla="*/ 1634090 w 1634090"/>
              <a:gd name="connsiteY3" fmla="*/ 156380 h 938259"/>
              <a:gd name="connsiteX4" fmla="*/ 1634090 w 1634090"/>
              <a:gd name="connsiteY4" fmla="*/ 781879 h 938259"/>
              <a:gd name="connsiteX5" fmla="*/ 1477710 w 1634090"/>
              <a:gd name="connsiteY5" fmla="*/ 938259 h 938259"/>
              <a:gd name="connsiteX6" fmla="*/ 156380 w 1634090"/>
              <a:gd name="connsiteY6" fmla="*/ 938259 h 938259"/>
              <a:gd name="connsiteX7" fmla="*/ 0 w 1634090"/>
              <a:gd name="connsiteY7" fmla="*/ 781879 h 938259"/>
              <a:gd name="connsiteX8" fmla="*/ 0 w 1634090"/>
              <a:gd name="connsiteY8" fmla="*/ 156380 h 93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090" h="938259">
                <a:moveTo>
                  <a:pt x="0" y="156380"/>
                </a:moveTo>
                <a:cubicBezTo>
                  <a:pt x="0" y="70014"/>
                  <a:pt x="70014" y="0"/>
                  <a:pt x="156380" y="0"/>
                </a:cubicBezTo>
                <a:lnTo>
                  <a:pt x="1477710" y="0"/>
                </a:lnTo>
                <a:cubicBezTo>
                  <a:pt x="1564076" y="0"/>
                  <a:pt x="1634090" y="70014"/>
                  <a:pt x="1634090" y="156380"/>
                </a:cubicBezTo>
                <a:lnTo>
                  <a:pt x="1634090" y="781879"/>
                </a:lnTo>
                <a:cubicBezTo>
                  <a:pt x="1634090" y="868245"/>
                  <a:pt x="1564076" y="938259"/>
                  <a:pt x="1477710" y="938259"/>
                </a:cubicBezTo>
                <a:lnTo>
                  <a:pt x="156380" y="938259"/>
                </a:lnTo>
                <a:cubicBezTo>
                  <a:pt x="70014" y="938259"/>
                  <a:pt x="0" y="868245"/>
                  <a:pt x="0" y="781879"/>
                </a:cubicBezTo>
                <a:lnTo>
                  <a:pt x="0" y="156380"/>
                </a:lnTo>
                <a:close/>
              </a:path>
            </a:pathLst>
          </a:custGeom>
          <a:scene3d>
            <a:camera prst="orthographicFront"/>
            <a:lightRig rig="threePt" dir="t"/>
          </a:scene3d>
          <a:sp3d>
            <a:bevelT w="2159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641533"/>
              <a:satOff val="6827"/>
              <a:lumOff val="-2190"/>
              <a:alphaOff val="0"/>
            </a:schemeClr>
          </a:fillRef>
          <a:effectRef idx="3">
            <a:schemeClr val="accent4">
              <a:hueOff val="-641533"/>
              <a:satOff val="6827"/>
              <a:lumOff val="-219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922" tIns="116922" rIns="116922" bIns="116922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Class</a:t>
            </a:r>
            <a:endParaRPr lang="en-US" sz="1000" kern="1200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81D31C2-9148-4F6A-92AA-4D579DD79E39}"/>
              </a:ext>
            </a:extLst>
          </p:cNvPr>
          <p:cNvSpPr/>
          <p:nvPr/>
        </p:nvSpPr>
        <p:spPr>
          <a:xfrm>
            <a:off x="8094602" y="1902147"/>
            <a:ext cx="1962984" cy="938259"/>
          </a:xfrm>
          <a:custGeom>
            <a:avLst/>
            <a:gdLst>
              <a:gd name="connsiteX0" fmla="*/ 0 w 1618665"/>
              <a:gd name="connsiteY0" fmla="*/ 156380 h 938259"/>
              <a:gd name="connsiteX1" fmla="*/ 156380 w 1618665"/>
              <a:gd name="connsiteY1" fmla="*/ 0 h 938259"/>
              <a:gd name="connsiteX2" fmla="*/ 1462285 w 1618665"/>
              <a:gd name="connsiteY2" fmla="*/ 0 h 938259"/>
              <a:gd name="connsiteX3" fmla="*/ 1618665 w 1618665"/>
              <a:gd name="connsiteY3" fmla="*/ 156380 h 938259"/>
              <a:gd name="connsiteX4" fmla="*/ 1618665 w 1618665"/>
              <a:gd name="connsiteY4" fmla="*/ 781879 h 938259"/>
              <a:gd name="connsiteX5" fmla="*/ 1462285 w 1618665"/>
              <a:gd name="connsiteY5" fmla="*/ 938259 h 938259"/>
              <a:gd name="connsiteX6" fmla="*/ 156380 w 1618665"/>
              <a:gd name="connsiteY6" fmla="*/ 938259 h 938259"/>
              <a:gd name="connsiteX7" fmla="*/ 0 w 1618665"/>
              <a:gd name="connsiteY7" fmla="*/ 781879 h 938259"/>
              <a:gd name="connsiteX8" fmla="*/ 0 w 1618665"/>
              <a:gd name="connsiteY8" fmla="*/ 156380 h 93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18665" h="938259">
                <a:moveTo>
                  <a:pt x="0" y="156380"/>
                </a:moveTo>
                <a:cubicBezTo>
                  <a:pt x="0" y="70014"/>
                  <a:pt x="70014" y="0"/>
                  <a:pt x="156380" y="0"/>
                </a:cubicBezTo>
                <a:lnTo>
                  <a:pt x="1462285" y="0"/>
                </a:lnTo>
                <a:cubicBezTo>
                  <a:pt x="1548651" y="0"/>
                  <a:pt x="1618665" y="70014"/>
                  <a:pt x="1618665" y="156380"/>
                </a:cubicBezTo>
                <a:lnTo>
                  <a:pt x="1618665" y="781879"/>
                </a:lnTo>
                <a:cubicBezTo>
                  <a:pt x="1618665" y="868245"/>
                  <a:pt x="1548651" y="938259"/>
                  <a:pt x="1462285" y="938259"/>
                </a:cubicBezTo>
                <a:lnTo>
                  <a:pt x="156380" y="938259"/>
                </a:lnTo>
                <a:cubicBezTo>
                  <a:pt x="70014" y="938259"/>
                  <a:pt x="0" y="868245"/>
                  <a:pt x="0" y="781879"/>
                </a:cubicBezTo>
                <a:lnTo>
                  <a:pt x="0" y="156380"/>
                </a:lnTo>
                <a:close/>
              </a:path>
            </a:pathLst>
          </a:custGeom>
          <a:scene3d>
            <a:camera prst="orthographicFront"/>
            <a:lightRig rig="threePt" dir="t"/>
          </a:scene3d>
          <a:sp3d>
            <a:bevelT w="2159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283067"/>
              <a:satOff val="13654"/>
              <a:lumOff val="-4379"/>
              <a:alphaOff val="0"/>
            </a:schemeClr>
          </a:fillRef>
          <a:effectRef idx="3">
            <a:schemeClr val="accent4">
              <a:hueOff val="-1283067"/>
              <a:satOff val="13654"/>
              <a:lumOff val="-437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762" tIns="106762" rIns="106762" bIns="106762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/>
              <a:t>Encapsulation</a:t>
            </a:r>
            <a:endParaRPr lang="en-US" sz="1000" kern="1200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0F81E59-AB68-4A93-9F0E-95355178B950}"/>
              </a:ext>
            </a:extLst>
          </p:cNvPr>
          <p:cNvSpPr/>
          <p:nvPr/>
        </p:nvSpPr>
        <p:spPr>
          <a:xfrm>
            <a:off x="7999834" y="3964500"/>
            <a:ext cx="2025166" cy="938259"/>
          </a:xfrm>
          <a:custGeom>
            <a:avLst/>
            <a:gdLst>
              <a:gd name="connsiteX0" fmla="*/ 0 w 2025166"/>
              <a:gd name="connsiteY0" fmla="*/ 156380 h 938259"/>
              <a:gd name="connsiteX1" fmla="*/ 156380 w 2025166"/>
              <a:gd name="connsiteY1" fmla="*/ 0 h 938259"/>
              <a:gd name="connsiteX2" fmla="*/ 1868786 w 2025166"/>
              <a:gd name="connsiteY2" fmla="*/ 0 h 938259"/>
              <a:gd name="connsiteX3" fmla="*/ 2025166 w 2025166"/>
              <a:gd name="connsiteY3" fmla="*/ 156380 h 938259"/>
              <a:gd name="connsiteX4" fmla="*/ 2025166 w 2025166"/>
              <a:gd name="connsiteY4" fmla="*/ 781879 h 938259"/>
              <a:gd name="connsiteX5" fmla="*/ 1868786 w 2025166"/>
              <a:gd name="connsiteY5" fmla="*/ 938259 h 938259"/>
              <a:gd name="connsiteX6" fmla="*/ 156380 w 2025166"/>
              <a:gd name="connsiteY6" fmla="*/ 938259 h 938259"/>
              <a:gd name="connsiteX7" fmla="*/ 0 w 2025166"/>
              <a:gd name="connsiteY7" fmla="*/ 781879 h 938259"/>
              <a:gd name="connsiteX8" fmla="*/ 0 w 2025166"/>
              <a:gd name="connsiteY8" fmla="*/ 156380 h 93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5166" h="938259">
                <a:moveTo>
                  <a:pt x="0" y="156380"/>
                </a:moveTo>
                <a:cubicBezTo>
                  <a:pt x="0" y="70014"/>
                  <a:pt x="70014" y="0"/>
                  <a:pt x="156380" y="0"/>
                </a:cubicBezTo>
                <a:lnTo>
                  <a:pt x="1868786" y="0"/>
                </a:lnTo>
                <a:cubicBezTo>
                  <a:pt x="1955152" y="0"/>
                  <a:pt x="2025166" y="70014"/>
                  <a:pt x="2025166" y="156380"/>
                </a:cubicBezTo>
                <a:lnTo>
                  <a:pt x="2025166" y="781879"/>
                </a:lnTo>
                <a:cubicBezTo>
                  <a:pt x="2025166" y="868245"/>
                  <a:pt x="1955152" y="938259"/>
                  <a:pt x="1868786" y="938259"/>
                </a:cubicBezTo>
                <a:lnTo>
                  <a:pt x="156380" y="938259"/>
                </a:lnTo>
                <a:cubicBezTo>
                  <a:pt x="70014" y="938259"/>
                  <a:pt x="0" y="868245"/>
                  <a:pt x="0" y="781879"/>
                </a:cubicBezTo>
                <a:lnTo>
                  <a:pt x="0" y="156380"/>
                </a:lnTo>
                <a:close/>
              </a:path>
            </a:pathLst>
          </a:custGeom>
          <a:scene3d>
            <a:camera prst="orthographicFront"/>
            <a:lightRig rig="threePt" dir="t"/>
          </a:scene3d>
          <a:sp3d>
            <a:bevelT w="2159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924600"/>
              <a:satOff val="20480"/>
              <a:lumOff val="-6569"/>
              <a:alphaOff val="0"/>
            </a:schemeClr>
          </a:fillRef>
          <a:effectRef idx="3">
            <a:schemeClr val="accent4">
              <a:hueOff val="-1924600"/>
              <a:satOff val="20480"/>
              <a:lumOff val="-656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762" tIns="106762" rIns="106762" bIns="106762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/>
              <a:t>Abstraction</a:t>
            </a:r>
            <a:endParaRPr lang="en-US" sz="2400" kern="1200" dirty="0">
              <a:latin typeface="Calibri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40EC8B25-C704-4E32-AC9A-51D7B1176686}"/>
              </a:ext>
            </a:extLst>
          </p:cNvPr>
          <p:cNvSpPr/>
          <p:nvPr/>
        </p:nvSpPr>
        <p:spPr>
          <a:xfrm>
            <a:off x="5179170" y="4829337"/>
            <a:ext cx="1972257" cy="938259"/>
          </a:xfrm>
          <a:custGeom>
            <a:avLst/>
            <a:gdLst>
              <a:gd name="connsiteX0" fmla="*/ 0 w 1807199"/>
              <a:gd name="connsiteY0" fmla="*/ 156380 h 938259"/>
              <a:gd name="connsiteX1" fmla="*/ 156380 w 1807199"/>
              <a:gd name="connsiteY1" fmla="*/ 0 h 938259"/>
              <a:gd name="connsiteX2" fmla="*/ 1650819 w 1807199"/>
              <a:gd name="connsiteY2" fmla="*/ 0 h 938259"/>
              <a:gd name="connsiteX3" fmla="*/ 1807199 w 1807199"/>
              <a:gd name="connsiteY3" fmla="*/ 156380 h 938259"/>
              <a:gd name="connsiteX4" fmla="*/ 1807199 w 1807199"/>
              <a:gd name="connsiteY4" fmla="*/ 781879 h 938259"/>
              <a:gd name="connsiteX5" fmla="*/ 1650819 w 1807199"/>
              <a:gd name="connsiteY5" fmla="*/ 938259 h 938259"/>
              <a:gd name="connsiteX6" fmla="*/ 156380 w 1807199"/>
              <a:gd name="connsiteY6" fmla="*/ 938259 h 938259"/>
              <a:gd name="connsiteX7" fmla="*/ 0 w 1807199"/>
              <a:gd name="connsiteY7" fmla="*/ 781879 h 938259"/>
              <a:gd name="connsiteX8" fmla="*/ 0 w 1807199"/>
              <a:gd name="connsiteY8" fmla="*/ 156380 h 93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7199" h="938259">
                <a:moveTo>
                  <a:pt x="0" y="156380"/>
                </a:moveTo>
                <a:cubicBezTo>
                  <a:pt x="0" y="70014"/>
                  <a:pt x="70014" y="0"/>
                  <a:pt x="156380" y="0"/>
                </a:cubicBezTo>
                <a:lnTo>
                  <a:pt x="1650819" y="0"/>
                </a:lnTo>
                <a:cubicBezTo>
                  <a:pt x="1737185" y="0"/>
                  <a:pt x="1807199" y="70014"/>
                  <a:pt x="1807199" y="156380"/>
                </a:cubicBezTo>
                <a:lnTo>
                  <a:pt x="1807199" y="781879"/>
                </a:lnTo>
                <a:cubicBezTo>
                  <a:pt x="1807199" y="868245"/>
                  <a:pt x="1737185" y="938259"/>
                  <a:pt x="1650819" y="938259"/>
                </a:cubicBezTo>
                <a:lnTo>
                  <a:pt x="156380" y="938259"/>
                </a:lnTo>
                <a:cubicBezTo>
                  <a:pt x="70014" y="938259"/>
                  <a:pt x="0" y="868245"/>
                  <a:pt x="0" y="781879"/>
                </a:cubicBezTo>
                <a:lnTo>
                  <a:pt x="0" y="156380"/>
                </a:lnTo>
                <a:close/>
              </a:path>
            </a:pathLst>
          </a:custGeom>
          <a:scene3d>
            <a:camera prst="orthographicFront"/>
            <a:lightRig rig="threePt" dir="t"/>
          </a:scene3d>
          <a:sp3d>
            <a:bevelT w="2159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2566133"/>
              <a:satOff val="27307"/>
              <a:lumOff val="-8759"/>
              <a:alphaOff val="0"/>
            </a:schemeClr>
          </a:fillRef>
          <a:effectRef idx="3">
            <a:schemeClr val="accent4">
              <a:hueOff val="-2566133"/>
              <a:satOff val="27307"/>
              <a:lumOff val="-875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922" tIns="116922" rIns="116922" bIns="116922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>
                <a:latin typeface="Calibri"/>
                <a:ea typeface="+mn-ea"/>
                <a:cs typeface="+mn-cs"/>
              </a:rPr>
              <a:t>Inheritance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E0269E1-30F6-4C0B-BE65-30E0729D53A3}"/>
              </a:ext>
            </a:extLst>
          </p:cNvPr>
          <p:cNvSpPr/>
          <p:nvPr/>
        </p:nvSpPr>
        <p:spPr>
          <a:xfrm>
            <a:off x="2226152" y="4149679"/>
            <a:ext cx="2027883" cy="938259"/>
          </a:xfrm>
          <a:custGeom>
            <a:avLst/>
            <a:gdLst>
              <a:gd name="connsiteX0" fmla="*/ 0 w 1941511"/>
              <a:gd name="connsiteY0" fmla="*/ 156380 h 938259"/>
              <a:gd name="connsiteX1" fmla="*/ 156380 w 1941511"/>
              <a:gd name="connsiteY1" fmla="*/ 0 h 938259"/>
              <a:gd name="connsiteX2" fmla="*/ 1785131 w 1941511"/>
              <a:gd name="connsiteY2" fmla="*/ 0 h 938259"/>
              <a:gd name="connsiteX3" fmla="*/ 1941511 w 1941511"/>
              <a:gd name="connsiteY3" fmla="*/ 156380 h 938259"/>
              <a:gd name="connsiteX4" fmla="*/ 1941511 w 1941511"/>
              <a:gd name="connsiteY4" fmla="*/ 781879 h 938259"/>
              <a:gd name="connsiteX5" fmla="*/ 1785131 w 1941511"/>
              <a:gd name="connsiteY5" fmla="*/ 938259 h 938259"/>
              <a:gd name="connsiteX6" fmla="*/ 156380 w 1941511"/>
              <a:gd name="connsiteY6" fmla="*/ 938259 h 938259"/>
              <a:gd name="connsiteX7" fmla="*/ 0 w 1941511"/>
              <a:gd name="connsiteY7" fmla="*/ 781879 h 938259"/>
              <a:gd name="connsiteX8" fmla="*/ 0 w 1941511"/>
              <a:gd name="connsiteY8" fmla="*/ 156380 h 93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1511" h="938259">
                <a:moveTo>
                  <a:pt x="0" y="156380"/>
                </a:moveTo>
                <a:cubicBezTo>
                  <a:pt x="0" y="70014"/>
                  <a:pt x="70014" y="0"/>
                  <a:pt x="156380" y="0"/>
                </a:cubicBezTo>
                <a:lnTo>
                  <a:pt x="1785131" y="0"/>
                </a:lnTo>
                <a:cubicBezTo>
                  <a:pt x="1871497" y="0"/>
                  <a:pt x="1941511" y="70014"/>
                  <a:pt x="1941511" y="156380"/>
                </a:cubicBezTo>
                <a:lnTo>
                  <a:pt x="1941511" y="781879"/>
                </a:lnTo>
                <a:cubicBezTo>
                  <a:pt x="1941511" y="868245"/>
                  <a:pt x="1871497" y="938259"/>
                  <a:pt x="1785131" y="938259"/>
                </a:cubicBezTo>
                <a:lnTo>
                  <a:pt x="156380" y="938259"/>
                </a:lnTo>
                <a:cubicBezTo>
                  <a:pt x="70014" y="938259"/>
                  <a:pt x="0" y="868245"/>
                  <a:pt x="0" y="781879"/>
                </a:cubicBezTo>
                <a:lnTo>
                  <a:pt x="0" y="156380"/>
                </a:lnTo>
                <a:close/>
              </a:path>
            </a:pathLst>
          </a:custGeom>
          <a:scene3d>
            <a:camera prst="orthographicFront"/>
            <a:lightRig rig="threePt" dir="t"/>
          </a:scene3d>
          <a:sp3d>
            <a:bevelT w="2159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3207667"/>
              <a:satOff val="34134"/>
              <a:lumOff val="-10948"/>
              <a:alphaOff val="0"/>
            </a:schemeClr>
          </a:fillRef>
          <a:effectRef idx="3">
            <a:schemeClr val="accent4">
              <a:hueOff val="-3207667"/>
              <a:satOff val="34134"/>
              <a:lumOff val="-1094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6762" tIns="106762" rIns="106762" bIns="106762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latin typeface="Calibri"/>
                <a:ea typeface="+mn-ea"/>
                <a:cs typeface="+mn-cs"/>
              </a:rPr>
              <a:t>Polymorphism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961627" y="2583501"/>
            <a:ext cx="4255757" cy="2245838"/>
            <a:chOff x="3961627" y="2583501"/>
            <a:chExt cx="4255757" cy="2245838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5688620-5626-4D93-837C-B18263C44CB6}"/>
                </a:ext>
              </a:extLst>
            </p:cNvPr>
            <p:cNvSpPr/>
            <p:nvPr/>
          </p:nvSpPr>
          <p:spPr>
            <a:xfrm rot="16187220">
              <a:off x="5910948" y="2744437"/>
              <a:ext cx="321872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321872" y="0"/>
                  </a:lnTo>
                </a:path>
              </a:pathLst>
            </a:custGeom>
            <a:noFill/>
            <a:ln w="76200"/>
            <a:scene3d>
              <a:camera prst="orthographicFront"/>
              <a:lightRig rig="threePt" dir="t"/>
            </a:scene3d>
            <a:sp3d>
              <a:bevelT w="215900" prst="coolSlant"/>
            </a:sp3d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2" name="Group 1"/>
            <p:cNvGrpSpPr/>
            <p:nvPr/>
          </p:nvGrpSpPr>
          <p:grpSpPr>
            <a:xfrm>
              <a:off x="3961627" y="2860827"/>
              <a:ext cx="4255757" cy="1968512"/>
              <a:chOff x="3961627" y="2860827"/>
              <a:chExt cx="4255757" cy="1968512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261BA0D-93EA-4C46-8D6F-B3174589978E}"/>
                  </a:ext>
                </a:extLst>
              </p:cNvPr>
              <p:cNvSpPr/>
              <p:nvPr/>
            </p:nvSpPr>
            <p:spPr>
              <a:xfrm>
                <a:off x="4792107" y="2905372"/>
                <a:ext cx="2565956" cy="1400386"/>
              </a:xfrm>
              <a:custGeom>
                <a:avLst/>
                <a:gdLst>
                  <a:gd name="connsiteX0" fmla="*/ 0 w 2565956"/>
                  <a:gd name="connsiteY0" fmla="*/ 233402 h 1400386"/>
                  <a:gd name="connsiteX1" fmla="*/ 233402 w 2565956"/>
                  <a:gd name="connsiteY1" fmla="*/ 0 h 1400386"/>
                  <a:gd name="connsiteX2" fmla="*/ 2332554 w 2565956"/>
                  <a:gd name="connsiteY2" fmla="*/ 0 h 1400386"/>
                  <a:gd name="connsiteX3" fmla="*/ 2565956 w 2565956"/>
                  <a:gd name="connsiteY3" fmla="*/ 233402 h 1400386"/>
                  <a:gd name="connsiteX4" fmla="*/ 2565956 w 2565956"/>
                  <a:gd name="connsiteY4" fmla="*/ 1166984 h 1400386"/>
                  <a:gd name="connsiteX5" fmla="*/ 2332554 w 2565956"/>
                  <a:gd name="connsiteY5" fmla="*/ 1400386 h 1400386"/>
                  <a:gd name="connsiteX6" fmla="*/ 233402 w 2565956"/>
                  <a:gd name="connsiteY6" fmla="*/ 1400386 h 1400386"/>
                  <a:gd name="connsiteX7" fmla="*/ 0 w 2565956"/>
                  <a:gd name="connsiteY7" fmla="*/ 1166984 h 1400386"/>
                  <a:gd name="connsiteX8" fmla="*/ 0 w 2565956"/>
                  <a:gd name="connsiteY8" fmla="*/ 233402 h 1400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65956" h="1400386">
                    <a:moveTo>
                      <a:pt x="0" y="233402"/>
                    </a:moveTo>
                    <a:cubicBezTo>
                      <a:pt x="0" y="104498"/>
                      <a:pt x="104498" y="0"/>
                      <a:pt x="233402" y="0"/>
                    </a:cubicBezTo>
                    <a:lnTo>
                      <a:pt x="2332554" y="0"/>
                    </a:lnTo>
                    <a:cubicBezTo>
                      <a:pt x="2461458" y="0"/>
                      <a:pt x="2565956" y="104498"/>
                      <a:pt x="2565956" y="233402"/>
                    </a:cubicBezTo>
                    <a:lnTo>
                      <a:pt x="2565956" y="1166984"/>
                    </a:lnTo>
                    <a:cubicBezTo>
                      <a:pt x="2565956" y="1295888"/>
                      <a:pt x="2461458" y="1400386"/>
                      <a:pt x="2332554" y="1400386"/>
                    </a:cubicBezTo>
                    <a:lnTo>
                      <a:pt x="233402" y="1400386"/>
                    </a:lnTo>
                    <a:cubicBezTo>
                      <a:pt x="104498" y="1400386"/>
                      <a:pt x="0" y="1295888"/>
                      <a:pt x="0" y="1166984"/>
                    </a:cubicBezTo>
                    <a:lnTo>
                      <a:pt x="0" y="233402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scene3d>
                <a:camera prst="orthographicFront"/>
                <a:lightRig rig="threePt" dir="t"/>
              </a:scene3d>
              <a:sp3d>
                <a:bevelT w="215900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rgbClr r="0" g="0" b="0"/>
              </a:fillRef>
              <a:effectRef idx="3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39481" tIns="139481" rIns="139481" bIns="139481" numCol="1" spcCol="1270" anchor="ctr" anchorCtr="0">
                <a:noAutofit/>
              </a:bodyPr>
              <a:lstStyle/>
              <a:p>
                <a:pPr marL="0" lvl="0" indent="0" algn="ctr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2800" kern="1200" dirty="0"/>
                  <a:t>OOP Concepts</a:t>
                </a: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EBB6483A-99C2-41F6-AA76-D9541E42DB63}"/>
                  </a:ext>
                </a:extLst>
              </p:cNvPr>
              <p:cNvSpPr/>
              <p:nvPr/>
            </p:nvSpPr>
            <p:spPr>
              <a:xfrm rot="20144466">
                <a:off x="7309567" y="2860827"/>
                <a:ext cx="907817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810779" y="0"/>
                    </a:lnTo>
                  </a:path>
                </a:pathLst>
              </a:custGeom>
              <a:noFill/>
              <a:ln w="76200"/>
              <a:scene3d>
                <a:camera prst="orthographicFront"/>
                <a:lightRig rig="threePt" dir="t"/>
              </a:scene3d>
              <a:sp3d>
                <a:bevelT w="215900" prst="coolSlant"/>
              </a:sp3d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4">
                  <a:tint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B655DE4-89D7-4963-9873-6A6E1278FB0F}"/>
                  </a:ext>
                </a:extLst>
              </p:cNvPr>
              <p:cNvSpPr/>
              <p:nvPr/>
            </p:nvSpPr>
            <p:spPr>
              <a:xfrm rot="944622">
                <a:off x="7345556" y="4057711"/>
                <a:ext cx="666784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666784" y="0"/>
                    </a:lnTo>
                  </a:path>
                </a:pathLst>
              </a:custGeom>
              <a:noFill/>
              <a:ln w="76200"/>
              <a:scene3d>
                <a:camera prst="orthographicFront"/>
                <a:lightRig rig="threePt" dir="t"/>
              </a:scene3d>
              <a:sp3d>
                <a:bevelT w="215900" prst="coolSlant"/>
              </a:sp3d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4">
                  <a:tint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A2F1757-3832-4BEB-9DF1-DADC164EB072}"/>
                  </a:ext>
                </a:extLst>
              </p:cNvPr>
              <p:cNvSpPr/>
              <p:nvPr/>
            </p:nvSpPr>
            <p:spPr>
              <a:xfrm rot="5384394">
                <a:off x="5817661" y="4567548"/>
                <a:ext cx="523583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523583" y="0"/>
                    </a:lnTo>
                  </a:path>
                </a:pathLst>
              </a:custGeom>
              <a:noFill/>
              <a:ln w="76200"/>
              <a:scene3d>
                <a:camera prst="orthographicFront"/>
                <a:lightRig rig="threePt" dir="t"/>
              </a:scene3d>
              <a:sp3d>
                <a:bevelT w="215900" prst="coolSlant"/>
              </a:sp3d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4">
                  <a:tint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9E17958-7FFE-499B-A71A-44A4511F4F96}"/>
                  </a:ext>
                </a:extLst>
              </p:cNvPr>
              <p:cNvSpPr/>
              <p:nvPr/>
            </p:nvSpPr>
            <p:spPr>
              <a:xfrm rot="9603144">
                <a:off x="4236865" y="4168846"/>
                <a:ext cx="572413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572413" y="0"/>
                    </a:lnTo>
                  </a:path>
                </a:pathLst>
              </a:custGeom>
              <a:noFill/>
              <a:ln w="76200"/>
              <a:scene3d>
                <a:camera prst="orthographicFront"/>
                <a:lightRig rig="threePt" dir="t"/>
              </a:scene3d>
              <a:sp3d>
                <a:bevelT w="215900" prst="coolSlant"/>
              </a:sp3d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4">
                  <a:tint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98C1878-4B68-45FF-ADA3-0E39EBB57B34}"/>
                  </a:ext>
                </a:extLst>
              </p:cNvPr>
              <p:cNvSpPr/>
              <p:nvPr/>
            </p:nvSpPr>
            <p:spPr>
              <a:xfrm rot="12100410">
                <a:off x="3961627" y="2936719"/>
                <a:ext cx="860912" cy="0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860912" y="0"/>
                    </a:lnTo>
                  </a:path>
                </a:pathLst>
              </a:custGeom>
              <a:noFill/>
              <a:ln w="76200"/>
              <a:scene3d>
                <a:camera prst="orthographicFront"/>
                <a:lightRig rig="threePt" dir="t"/>
              </a:scene3d>
              <a:sp3d>
                <a:bevelT w="215900" prst="coolSlant"/>
              </a:sp3d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4">
                  <a:tint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88E6FC4-61F4-4D44-BAB8-B9705C31EE76}"/>
              </a:ext>
            </a:extLst>
          </p:cNvPr>
          <p:cNvSpPr/>
          <p:nvPr/>
        </p:nvSpPr>
        <p:spPr>
          <a:xfrm>
            <a:off x="2442176" y="2000643"/>
            <a:ext cx="1549882" cy="938259"/>
          </a:xfrm>
          <a:custGeom>
            <a:avLst/>
            <a:gdLst>
              <a:gd name="connsiteX0" fmla="*/ 0 w 1549882"/>
              <a:gd name="connsiteY0" fmla="*/ 156380 h 938259"/>
              <a:gd name="connsiteX1" fmla="*/ 156380 w 1549882"/>
              <a:gd name="connsiteY1" fmla="*/ 0 h 938259"/>
              <a:gd name="connsiteX2" fmla="*/ 1393502 w 1549882"/>
              <a:gd name="connsiteY2" fmla="*/ 0 h 938259"/>
              <a:gd name="connsiteX3" fmla="*/ 1549882 w 1549882"/>
              <a:gd name="connsiteY3" fmla="*/ 156380 h 938259"/>
              <a:gd name="connsiteX4" fmla="*/ 1549882 w 1549882"/>
              <a:gd name="connsiteY4" fmla="*/ 781879 h 938259"/>
              <a:gd name="connsiteX5" fmla="*/ 1393502 w 1549882"/>
              <a:gd name="connsiteY5" fmla="*/ 938259 h 938259"/>
              <a:gd name="connsiteX6" fmla="*/ 156380 w 1549882"/>
              <a:gd name="connsiteY6" fmla="*/ 938259 h 938259"/>
              <a:gd name="connsiteX7" fmla="*/ 0 w 1549882"/>
              <a:gd name="connsiteY7" fmla="*/ 781879 h 938259"/>
              <a:gd name="connsiteX8" fmla="*/ 0 w 1549882"/>
              <a:gd name="connsiteY8" fmla="*/ 156380 h 93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49882" h="938259">
                <a:moveTo>
                  <a:pt x="0" y="156380"/>
                </a:moveTo>
                <a:cubicBezTo>
                  <a:pt x="0" y="70014"/>
                  <a:pt x="70014" y="0"/>
                  <a:pt x="156380" y="0"/>
                </a:cubicBezTo>
                <a:lnTo>
                  <a:pt x="1393502" y="0"/>
                </a:lnTo>
                <a:cubicBezTo>
                  <a:pt x="1479868" y="0"/>
                  <a:pt x="1549882" y="70014"/>
                  <a:pt x="1549882" y="156380"/>
                </a:cubicBezTo>
                <a:lnTo>
                  <a:pt x="1549882" y="781879"/>
                </a:lnTo>
                <a:cubicBezTo>
                  <a:pt x="1549882" y="868245"/>
                  <a:pt x="1479868" y="938259"/>
                  <a:pt x="1393502" y="938259"/>
                </a:cubicBezTo>
                <a:lnTo>
                  <a:pt x="156380" y="938259"/>
                </a:lnTo>
                <a:cubicBezTo>
                  <a:pt x="70014" y="938259"/>
                  <a:pt x="0" y="868245"/>
                  <a:pt x="0" y="781879"/>
                </a:cubicBezTo>
                <a:lnTo>
                  <a:pt x="0" y="156380"/>
                </a:lnTo>
                <a:close/>
              </a:path>
            </a:pathLst>
          </a:custGeom>
          <a:scene3d>
            <a:camera prst="orthographicFront"/>
            <a:lightRig rig="threePt" dir="t"/>
          </a:scene3d>
          <a:sp3d>
            <a:bevelT w="2159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3849200"/>
              <a:satOff val="40961"/>
              <a:lumOff val="-13138"/>
              <a:alphaOff val="0"/>
            </a:schemeClr>
          </a:fillRef>
          <a:effectRef idx="3">
            <a:schemeClr val="accent4">
              <a:hueOff val="-3849200"/>
              <a:satOff val="40961"/>
              <a:lumOff val="-1313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922" tIns="116922" rIns="116922" bIns="116922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>
                <a:latin typeface="Calibri"/>
                <a:ea typeface="+mn-ea"/>
                <a:cs typeface="+mn-cs"/>
              </a:rPr>
              <a:t>Object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CA4C27-4B82-4833-BA94-5B1AD6D1FF8B}"/>
              </a:ext>
            </a:extLst>
          </p:cNvPr>
          <p:cNvSpPr/>
          <p:nvPr/>
        </p:nvSpPr>
        <p:spPr>
          <a:xfrm>
            <a:off x="930676" y="741386"/>
            <a:ext cx="5138865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cap="all" dirty="0">
                <a:latin typeface="+mj-lt"/>
                <a:ea typeface="+mj-ea"/>
                <a:cs typeface="+mj-cs"/>
              </a:rPr>
              <a:t>fundamental components of OOP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CA4C27-4B82-4833-BA94-5B1AD6D1FF8B}"/>
              </a:ext>
            </a:extLst>
          </p:cNvPr>
          <p:cNvSpPr/>
          <p:nvPr/>
        </p:nvSpPr>
        <p:spPr>
          <a:xfrm>
            <a:off x="6679978" y="854816"/>
            <a:ext cx="5138865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cap="all" dirty="0">
                <a:latin typeface="+mj-lt"/>
                <a:ea typeface="+mj-ea"/>
                <a:cs typeface="+mj-cs"/>
              </a:rPr>
              <a:t>Principles of OOP</a:t>
            </a:r>
          </a:p>
        </p:txBody>
      </p: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1B64121E-ED33-4D5C-BD28-05F8D978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/>
          <a:p>
            <a:fld id="{48BB047D-A6CD-43AB-96F0-683C726B586B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59202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6 L 0.00521 -0.1349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-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6 L 0.23737 -0.09282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23" y="-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3.7037E-7 L 0.48307 0.1838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54" y="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85185E-6 L -0.23529 0.24514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71" y="1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"/>
                            </p:stCondLst>
                            <p:childTnLst>
                              <p:par>
                                <p:cTn id="3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10"/>
                            </p:stCondLst>
                            <p:childTnLst>
                              <p:par>
                                <p:cTn id="3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0" grpId="0" animBg="1"/>
      <p:bldP spid="11" grpId="0" animBg="1"/>
      <p:bldP spid="38" grpId="0" animBg="1"/>
      <p:bldP spid="42" grpId="0" animBg="1"/>
      <p:bldP spid="44" grpId="0" animBg="1"/>
      <p:bldP spid="46" grpId="0" animBg="1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832" y="159100"/>
            <a:ext cx="7100293" cy="1037492"/>
          </a:xfrm>
        </p:spPr>
        <p:txBody>
          <a:bodyPr/>
          <a:lstStyle/>
          <a:p>
            <a:r>
              <a:rPr lang="en-US" dirty="0"/>
              <a:t>What is an Object 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CA47EF3-65D2-4D15-A3AE-EBED87D41638}"/>
              </a:ext>
            </a:extLst>
          </p:cNvPr>
          <p:cNvGrpSpPr/>
          <p:nvPr/>
        </p:nvGrpSpPr>
        <p:grpSpPr>
          <a:xfrm>
            <a:off x="880950" y="1859831"/>
            <a:ext cx="7376319" cy="743480"/>
            <a:chOff x="866532" y="3429000"/>
            <a:chExt cx="7144368" cy="74348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969C9D2-F1CE-467F-B6BB-A1033CBC1EC5}"/>
                </a:ext>
              </a:extLst>
            </p:cNvPr>
            <p:cNvSpPr/>
            <p:nvPr/>
          </p:nvSpPr>
          <p:spPr>
            <a:xfrm>
              <a:off x="3118435" y="3429000"/>
              <a:ext cx="4892465" cy="743480"/>
            </a:xfrm>
            <a:custGeom>
              <a:avLst/>
              <a:gdLst>
                <a:gd name="connsiteX0" fmla="*/ 0 w 4892465"/>
                <a:gd name="connsiteY0" fmla="*/ 92935 h 743480"/>
                <a:gd name="connsiteX1" fmla="*/ 4520725 w 4892465"/>
                <a:gd name="connsiteY1" fmla="*/ 92935 h 743480"/>
                <a:gd name="connsiteX2" fmla="*/ 4520725 w 4892465"/>
                <a:gd name="connsiteY2" fmla="*/ 0 h 743480"/>
                <a:gd name="connsiteX3" fmla="*/ 4892465 w 4892465"/>
                <a:gd name="connsiteY3" fmla="*/ 371740 h 743480"/>
                <a:gd name="connsiteX4" fmla="*/ 4520725 w 4892465"/>
                <a:gd name="connsiteY4" fmla="*/ 743480 h 743480"/>
                <a:gd name="connsiteX5" fmla="*/ 4520725 w 4892465"/>
                <a:gd name="connsiteY5" fmla="*/ 650545 h 743480"/>
                <a:gd name="connsiteX6" fmla="*/ 0 w 4892465"/>
                <a:gd name="connsiteY6" fmla="*/ 650545 h 743480"/>
                <a:gd name="connsiteX7" fmla="*/ 0 w 4892465"/>
                <a:gd name="connsiteY7" fmla="*/ 92935 h 74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92465" h="743480">
                  <a:moveTo>
                    <a:pt x="0" y="92935"/>
                  </a:moveTo>
                  <a:lnTo>
                    <a:pt x="4520725" y="92935"/>
                  </a:lnTo>
                  <a:lnTo>
                    <a:pt x="4520725" y="0"/>
                  </a:lnTo>
                  <a:lnTo>
                    <a:pt x="4892465" y="371740"/>
                  </a:lnTo>
                  <a:lnTo>
                    <a:pt x="4520725" y="743480"/>
                  </a:lnTo>
                  <a:lnTo>
                    <a:pt x="4520725" y="650545"/>
                  </a:lnTo>
                  <a:lnTo>
                    <a:pt x="0" y="650545"/>
                  </a:lnTo>
                  <a:lnTo>
                    <a:pt x="0" y="92935"/>
                  </a:ln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05635" rIns="291505" bIns="105635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000" kern="12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Roboto"/>
                  <a:ea typeface="+mn-ea"/>
                  <a:cs typeface="+mn-cs"/>
                </a:rPr>
                <a:t> It gives a unique name to an object.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9F0F4F-9EF6-4F09-A419-54EEC0C32E65}"/>
                </a:ext>
              </a:extLst>
            </p:cNvPr>
            <p:cNvSpPr/>
            <p:nvPr/>
          </p:nvSpPr>
          <p:spPr>
            <a:xfrm>
              <a:off x="866532" y="3429000"/>
              <a:ext cx="2233377" cy="743480"/>
            </a:xfrm>
            <a:custGeom>
              <a:avLst/>
              <a:gdLst>
                <a:gd name="connsiteX0" fmla="*/ 0 w 2233377"/>
                <a:gd name="connsiteY0" fmla="*/ 123916 h 743480"/>
                <a:gd name="connsiteX1" fmla="*/ 123916 w 2233377"/>
                <a:gd name="connsiteY1" fmla="*/ 0 h 743480"/>
                <a:gd name="connsiteX2" fmla="*/ 2109461 w 2233377"/>
                <a:gd name="connsiteY2" fmla="*/ 0 h 743480"/>
                <a:gd name="connsiteX3" fmla="*/ 2233377 w 2233377"/>
                <a:gd name="connsiteY3" fmla="*/ 123916 h 743480"/>
                <a:gd name="connsiteX4" fmla="*/ 2233377 w 2233377"/>
                <a:gd name="connsiteY4" fmla="*/ 619564 h 743480"/>
                <a:gd name="connsiteX5" fmla="*/ 2109461 w 2233377"/>
                <a:gd name="connsiteY5" fmla="*/ 743480 h 743480"/>
                <a:gd name="connsiteX6" fmla="*/ 123916 w 2233377"/>
                <a:gd name="connsiteY6" fmla="*/ 743480 h 743480"/>
                <a:gd name="connsiteX7" fmla="*/ 0 w 2233377"/>
                <a:gd name="connsiteY7" fmla="*/ 619564 h 743480"/>
                <a:gd name="connsiteX8" fmla="*/ 0 w 2233377"/>
                <a:gd name="connsiteY8" fmla="*/ 123916 h 74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3377" h="743480">
                  <a:moveTo>
                    <a:pt x="0" y="123916"/>
                  </a:moveTo>
                  <a:cubicBezTo>
                    <a:pt x="0" y="55479"/>
                    <a:pt x="55479" y="0"/>
                    <a:pt x="123916" y="0"/>
                  </a:cubicBezTo>
                  <a:lnTo>
                    <a:pt x="2109461" y="0"/>
                  </a:lnTo>
                  <a:cubicBezTo>
                    <a:pt x="2177898" y="0"/>
                    <a:pt x="2233377" y="55479"/>
                    <a:pt x="2233377" y="123916"/>
                  </a:cubicBezTo>
                  <a:lnTo>
                    <a:pt x="2233377" y="619564"/>
                  </a:lnTo>
                  <a:cubicBezTo>
                    <a:pt x="2233377" y="688001"/>
                    <a:pt x="2177898" y="743480"/>
                    <a:pt x="2109461" y="743480"/>
                  </a:cubicBezTo>
                  <a:lnTo>
                    <a:pt x="123916" y="743480"/>
                  </a:lnTo>
                  <a:cubicBezTo>
                    <a:pt x="55479" y="743480"/>
                    <a:pt x="0" y="688001"/>
                    <a:pt x="0" y="619564"/>
                  </a:cubicBezTo>
                  <a:lnTo>
                    <a:pt x="0" y="12391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974" tIns="89634" rIns="142974" bIns="8963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Identity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0154EA-8962-4018-9A6D-1DEAE5C2A52F}"/>
              </a:ext>
            </a:extLst>
          </p:cNvPr>
          <p:cNvGrpSpPr/>
          <p:nvPr/>
        </p:nvGrpSpPr>
        <p:grpSpPr>
          <a:xfrm>
            <a:off x="880950" y="2677659"/>
            <a:ext cx="7559043" cy="774661"/>
            <a:chOff x="866532" y="4246828"/>
            <a:chExt cx="7486964" cy="774661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3543F21-00AA-4B28-A3F5-DB934D8F0D45}"/>
                </a:ext>
              </a:extLst>
            </p:cNvPr>
            <p:cNvSpPr/>
            <p:nvPr/>
          </p:nvSpPr>
          <p:spPr>
            <a:xfrm>
              <a:off x="3129664" y="4278009"/>
              <a:ext cx="5223832" cy="743480"/>
            </a:xfrm>
            <a:custGeom>
              <a:avLst/>
              <a:gdLst>
                <a:gd name="connsiteX0" fmla="*/ 0 w 5223832"/>
                <a:gd name="connsiteY0" fmla="*/ 92935 h 743480"/>
                <a:gd name="connsiteX1" fmla="*/ 4852092 w 5223832"/>
                <a:gd name="connsiteY1" fmla="*/ 92935 h 743480"/>
                <a:gd name="connsiteX2" fmla="*/ 4852092 w 5223832"/>
                <a:gd name="connsiteY2" fmla="*/ 0 h 743480"/>
                <a:gd name="connsiteX3" fmla="*/ 5223832 w 5223832"/>
                <a:gd name="connsiteY3" fmla="*/ 371740 h 743480"/>
                <a:gd name="connsiteX4" fmla="*/ 4852092 w 5223832"/>
                <a:gd name="connsiteY4" fmla="*/ 743480 h 743480"/>
                <a:gd name="connsiteX5" fmla="*/ 4852092 w 5223832"/>
                <a:gd name="connsiteY5" fmla="*/ 650545 h 743480"/>
                <a:gd name="connsiteX6" fmla="*/ 0 w 5223832"/>
                <a:gd name="connsiteY6" fmla="*/ 650545 h 743480"/>
                <a:gd name="connsiteX7" fmla="*/ 0 w 5223832"/>
                <a:gd name="connsiteY7" fmla="*/ 92935 h 74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23832" h="743480">
                  <a:moveTo>
                    <a:pt x="0" y="92935"/>
                  </a:moveTo>
                  <a:lnTo>
                    <a:pt x="4852092" y="92935"/>
                  </a:lnTo>
                  <a:lnTo>
                    <a:pt x="4852092" y="0"/>
                  </a:lnTo>
                  <a:lnTo>
                    <a:pt x="5223832" y="371740"/>
                  </a:lnTo>
                  <a:lnTo>
                    <a:pt x="4852092" y="743480"/>
                  </a:lnTo>
                  <a:lnTo>
                    <a:pt x="4852092" y="650545"/>
                  </a:lnTo>
                  <a:lnTo>
                    <a:pt x="0" y="650545"/>
                  </a:lnTo>
                  <a:lnTo>
                    <a:pt x="0" y="92935"/>
                  </a:ln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-1597061"/>
                <a:satOff val="21579"/>
                <a:lumOff val="-773"/>
                <a:alphaOff val="0"/>
              </a:schemeClr>
            </a:lnRef>
            <a:fillRef idx="1">
              <a:schemeClr val="accent4">
                <a:tint val="40000"/>
                <a:alpha val="90000"/>
                <a:hueOff val="-1597061"/>
                <a:satOff val="21579"/>
                <a:lumOff val="-773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-1597061"/>
                <a:satOff val="21579"/>
                <a:lumOff val="-773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05635" rIns="291505" bIns="105635" numCol="1" spcCol="1270" anchor="t" anchorCtr="0">
              <a:noAutofit/>
            </a:bodyPr>
            <a:lstStyle/>
            <a:p>
              <a:pPr marL="228600" lvl="1" indent="-228600" algn="l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None/>
              </a:pPr>
              <a:r>
                <a:rPr lang="en-US" sz="2000" dirty="0">
                  <a:latin typeface="Roboto"/>
                </a:rPr>
                <a:t> It </a:t>
              </a:r>
              <a:r>
                <a:rPr lang="en-US" sz="2000" kern="1200" dirty="0">
                  <a:latin typeface="Roboto"/>
                </a:rPr>
                <a:t>is represented by attributes of an object.</a:t>
              </a:r>
              <a:endParaRPr lang="en-US" sz="2000" kern="120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1D20473-EE89-447F-9B52-DCEAB1282741}"/>
                </a:ext>
              </a:extLst>
            </p:cNvPr>
            <p:cNvSpPr/>
            <p:nvPr/>
          </p:nvSpPr>
          <p:spPr>
            <a:xfrm>
              <a:off x="866532" y="4246828"/>
              <a:ext cx="2233377" cy="743480"/>
            </a:xfrm>
            <a:custGeom>
              <a:avLst/>
              <a:gdLst>
                <a:gd name="connsiteX0" fmla="*/ 0 w 2233377"/>
                <a:gd name="connsiteY0" fmla="*/ 123916 h 743480"/>
                <a:gd name="connsiteX1" fmla="*/ 123916 w 2233377"/>
                <a:gd name="connsiteY1" fmla="*/ 0 h 743480"/>
                <a:gd name="connsiteX2" fmla="*/ 2109461 w 2233377"/>
                <a:gd name="connsiteY2" fmla="*/ 0 h 743480"/>
                <a:gd name="connsiteX3" fmla="*/ 2233377 w 2233377"/>
                <a:gd name="connsiteY3" fmla="*/ 123916 h 743480"/>
                <a:gd name="connsiteX4" fmla="*/ 2233377 w 2233377"/>
                <a:gd name="connsiteY4" fmla="*/ 619564 h 743480"/>
                <a:gd name="connsiteX5" fmla="*/ 2109461 w 2233377"/>
                <a:gd name="connsiteY5" fmla="*/ 743480 h 743480"/>
                <a:gd name="connsiteX6" fmla="*/ 123916 w 2233377"/>
                <a:gd name="connsiteY6" fmla="*/ 743480 h 743480"/>
                <a:gd name="connsiteX7" fmla="*/ 0 w 2233377"/>
                <a:gd name="connsiteY7" fmla="*/ 619564 h 743480"/>
                <a:gd name="connsiteX8" fmla="*/ 0 w 2233377"/>
                <a:gd name="connsiteY8" fmla="*/ 123916 h 74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3377" h="743480">
                  <a:moveTo>
                    <a:pt x="0" y="123916"/>
                  </a:moveTo>
                  <a:cubicBezTo>
                    <a:pt x="0" y="55479"/>
                    <a:pt x="55479" y="0"/>
                    <a:pt x="123916" y="0"/>
                  </a:cubicBezTo>
                  <a:lnTo>
                    <a:pt x="2109461" y="0"/>
                  </a:lnTo>
                  <a:cubicBezTo>
                    <a:pt x="2177898" y="0"/>
                    <a:pt x="2233377" y="55479"/>
                    <a:pt x="2233377" y="123916"/>
                  </a:cubicBezTo>
                  <a:lnTo>
                    <a:pt x="2233377" y="619564"/>
                  </a:lnTo>
                  <a:cubicBezTo>
                    <a:pt x="2233377" y="688001"/>
                    <a:pt x="2177898" y="743480"/>
                    <a:pt x="2109461" y="743480"/>
                  </a:cubicBezTo>
                  <a:lnTo>
                    <a:pt x="123916" y="743480"/>
                  </a:lnTo>
                  <a:cubicBezTo>
                    <a:pt x="55479" y="743480"/>
                    <a:pt x="0" y="688001"/>
                    <a:pt x="0" y="619564"/>
                  </a:cubicBezTo>
                  <a:lnTo>
                    <a:pt x="0" y="12391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-1924600"/>
                <a:satOff val="20480"/>
                <a:lumOff val="-6569"/>
                <a:alphaOff val="0"/>
              </a:schemeClr>
            </a:fillRef>
            <a:effectRef idx="0">
              <a:schemeClr val="accent4">
                <a:hueOff val="-1924600"/>
                <a:satOff val="20480"/>
                <a:lumOff val="-656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974" tIns="89634" rIns="142974" bIns="8963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State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A86A01-D443-4F06-B927-94A2E9A7C224}"/>
              </a:ext>
            </a:extLst>
          </p:cNvPr>
          <p:cNvGrpSpPr/>
          <p:nvPr/>
        </p:nvGrpSpPr>
        <p:grpSpPr>
          <a:xfrm>
            <a:off x="880951" y="3495487"/>
            <a:ext cx="7376320" cy="743480"/>
            <a:chOff x="866532" y="5064656"/>
            <a:chExt cx="6738194" cy="74348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A5BAE8-1A55-4E5C-B8C1-83A430C4EB26}"/>
                </a:ext>
              </a:extLst>
            </p:cNvPr>
            <p:cNvSpPr/>
            <p:nvPr/>
          </p:nvSpPr>
          <p:spPr>
            <a:xfrm>
              <a:off x="2923623" y="5064656"/>
              <a:ext cx="4681103" cy="743480"/>
            </a:xfrm>
            <a:custGeom>
              <a:avLst/>
              <a:gdLst>
                <a:gd name="connsiteX0" fmla="*/ 0 w 4892465"/>
                <a:gd name="connsiteY0" fmla="*/ 92935 h 743480"/>
                <a:gd name="connsiteX1" fmla="*/ 4520725 w 4892465"/>
                <a:gd name="connsiteY1" fmla="*/ 92935 h 743480"/>
                <a:gd name="connsiteX2" fmla="*/ 4520725 w 4892465"/>
                <a:gd name="connsiteY2" fmla="*/ 0 h 743480"/>
                <a:gd name="connsiteX3" fmla="*/ 4892465 w 4892465"/>
                <a:gd name="connsiteY3" fmla="*/ 371740 h 743480"/>
                <a:gd name="connsiteX4" fmla="*/ 4520725 w 4892465"/>
                <a:gd name="connsiteY4" fmla="*/ 743480 h 743480"/>
                <a:gd name="connsiteX5" fmla="*/ 4520725 w 4892465"/>
                <a:gd name="connsiteY5" fmla="*/ 650545 h 743480"/>
                <a:gd name="connsiteX6" fmla="*/ 0 w 4892465"/>
                <a:gd name="connsiteY6" fmla="*/ 650545 h 743480"/>
                <a:gd name="connsiteX7" fmla="*/ 0 w 4892465"/>
                <a:gd name="connsiteY7" fmla="*/ 92935 h 74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92465" h="743480">
                  <a:moveTo>
                    <a:pt x="0" y="92935"/>
                  </a:moveTo>
                  <a:lnTo>
                    <a:pt x="4520725" y="92935"/>
                  </a:lnTo>
                  <a:lnTo>
                    <a:pt x="4520725" y="0"/>
                  </a:lnTo>
                  <a:lnTo>
                    <a:pt x="4892465" y="371740"/>
                  </a:lnTo>
                  <a:lnTo>
                    <a:pt x="4520725" y="743480"/>
                  </a:lnTo>
                  <a:lnTo>
                    <a:pt x="4520725" y="650545"/>
                  </a:lnTo>
                  <a:lnTo>
                    <a:pt x="0" y="650545"/>
                  </a:lnTo>
                  <a:lnTo>
                    <a:pt x="0" y="92935"/>
                  </a:ln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-3194121"/>
                <a:satOff val="43158"/>
                <a:lumOff val="-1546"/>
                <a:alphaOff val="0"/>
              </a:schemeClr>
            </a:lnRef>
            <a:fillRef idx="1">
              <a:schemeClr val="accent4">
                <a:tint val="40000"/>
                <a:alpha val="90000"/>
                <a:hueOff val="-3194121"/>
                <a:satOff val="43158"/>
                <a:lumOff val="-1546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-3194121"/>
                <a:satOff val="43158"/>
                <a:lumOff val="-1546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700" tIns="105635" rIns="291505" bIns="105635" numCol="1" spcCol="1270" anchor="t" anchorCtr="0">
              <a:noAutofit/>
            </a:bodyPr>
            <a:lstStyle/>
            <a:p>
              <a:pPr marL="228600" lvl="1" indent="-228600" defTabSz="88900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2000" dirty="0">
                  <a:latin typeface="Roboto"/>
                </a:rPr>
                <a:t> It</a:t>
              </a:r>
              <a:r>
                <a:rPr lang="en-US" sz="2000" kern="1200" dirty="0">
                  <a:latin typeface="Roboto"/>
                </a:rPr>
                <a:t> is represented by methods of an object.</a:t>
              </a:r>
              <a:endParaRPr lang="en-US" sz="2000" kern="120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CA1931-51CA-46E7-8E82-8C2794CEE754}"/>
                </a:ext>
              </a:extLst>
            </p:cNvPr>
            <p:cNvSpPr/>
            <p:nvPr/>
          </p:nvSpPr>
          <p:spPr>
            <a:xfrm>
              <a:off x="866532" y="5064656"/>
              <a:ext cx="2067348" cy="743480"/>
            </a:xfrm>
            <a:custGeom>
              <a:avLst/>
              <a:gdLst>
                <a:gd name="connsiteX0" fmla="*/ 0 w 2233377"/>
                <a:gd name="connsiteY0" fmla="*/ 123916 h 743480"/>
                <a:gd name="connsiteX1" fmla="*/ 123916 w 2233377"/>
                <a:gd name="connsiteY1" fmla="*/ 0 h 743480"/>
                <a:gd name="connsiteX2" fmla="*/ 2109461 w 2233377"/>
                <a:gd name="connsiteY2" fmla="*/ 0 h 743480"/>
                <a:gd name="connsiteX3" fmla="*/ 2233377 w 2233377"/>
                <a:gd name="connsiteY3" fmla="*/ 123916 h 743480"/>
                <a:gd name="connsiteX4" fmla="*/ 2233377 w 2233377"/>
                <a:gd name="connsiteY4" fmla="*/ 619564 h 743480"/>
                <a:gd name="connsiteX5" fmla="*/ 2109461 w 2233377"/>
                <a:gd name="connsiteY5" fmla="*/ 743480 h 743480"/>
                <a:gd name="connsiteX6" fmla="*/ 123916 w 2233377"/>
                <a:gd name="connsiteY6" fmla="*/ 743480 h 743480"/>
                <a:gd name="connsiteX7" fmla="*/ 0 w 2233377"/>
                <a:gd name="connsiteY7" fmla="*/ 619564 h 743480"/>
                <a:gd name="connsiteX8" fmla="*/ 0 w 2233377"/>
                <a:gd name="connsiteY8" fmla="*/ 123916 h 74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33377" h="743480">
                  <a:moveTo>
                    <a:pt x="0" y="123916"/>
                  </a:moveTo>
                  <a:cubicBezTo>
                    <a:pt x="0" y="55479"/>
                    <a:pt x="55479" y="0"/>
                    <a:pt x="123916" y="0"/>
                  </a:cubicBezTo>
                  <a:lnTo>
                    <a:pt x="2109461" y="0"/>
                  </a:lnTo>
                  <a:cubicBezTo>
                    <a:pt x="2177898" y="0"/>
                    <a:pt x="2233377" y="55479"/>
                    <a:pt x="2233377" y="123916"/>
                  </a:cubicBezTo>
                  <a:lnTo>
                    <a:pt x="2233377" y="619564"/>
                  </a:lnTo>
                  <a:cubicBezTo>
                    <a:pt x="2233377" y="688001"/>
                    <a:pt x="2177898" y="743480"/>
                    <a:pt x="2109461" y="743480"/>
                  </a:cubicBezTo>
                  <a:lnTo>
                    <a:pt x="123916" y="743480"/>
                  </a:lnTo>
                  <a:cubicBezTo>
                    <a:pt x="55479" y="743480"/>
                    <a:pt x="0" y="688001"/>
                    <a:pt x="0" y="619564"/>
                  </a:cubicBezTo>
                  <a:lnTo>
                    <a:pt x="0" y="123916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-3849200"/>
                <a:satOff val="40961"/>
                <a:lumOff val="-13138"/>
                <a:alphaOff val="0"/>
              </a:schemeClr>
            </a:fillRef>
            <a:effectRef idx="0">
              <a:schemeClr val="accent4">
                <a:hueOff val="-3849200"/>
                <a:satOff val="40961"/>
                <a:lumOff val="-1313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974" tIns="89634" rIns="142974" bIns="8963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Behavior</a:t>
              </a:r>
            </a:p>
          </p:txBody>
        </p: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60955BD-3507-47A7-9177-3DD6D63DF825}"/>
              </a:ext>
            </a:extLst>
          </p:cNvPr>
          <p:cNvSpPr/>
          <p:nvPr/>
        </p:nvSpPr>
        <p:spPr>
          <a:xfrm>
            <a:off x="8886554" y="4272313"/>
            <a:ext cx="2388735" cy="597183"/>
          </a:xfrm>
          <a:custGeom>
            <a:avLst/>
            <a:gdLst>
              <a:gd name="connsiteX0" fmla="*/ 0 w 2388735"/>
              <a:gd name="connsiteY0" fmla="*/ 0 h 597183"/>
              <a:gd name="connsiteX1" fmla="*/ 2388735 w 2388735"/>
              <a:gd name="connsiteY1" fmla="*/ 0 h 597183"/>
              <a:gd name="connsiteX2" fmla="*/ 2388735 w 2388735"/>
              <a:gd name="connsiteY2" fmla="*/ 597183 h 597183"/>
              <a:gd name="connsiteX3" fmla="*/ 0 w 2388735"/>
              <a:gd name="connsiteY3" fmla="*/ 597183 h 597183"/>
              <a:gd name="connsiteX4" fmla="*/ 0 w 2388735"/>
              <a:gd name="connsiteY4" fmla="*/ 0 h 597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8735" h="597183">
                <a:moveTo>
                  <a:pt x="0" y="0"/>
                </a:moveTo>
                <a:lnTo>
                  <a:pt x="2388735" y="0"/>
                </a:lnTo>
                <a:lnTo>
                  <a:pt x="2388735" y="597183"/>
                </a:lnTo>
                <a:lnTo>
                  <a:pt x="0" y="59718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7584" tIns="227584" rIns="227584" bIns="227584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b="1" kern="1200">
                <a:solidFill>
                  <a:schemeClr val="tx1"/>
                </a:solidFill>
              </a:rPr>
              <a:t> </a:t>
            </a:r>
            <a:endParaRPr lang="en-US" sz="3200" b="1" kern="1200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B11AD89-D032-4EEE-A795-42E43FE29161}"/>
              </a:ext>
            </a:extLst>
          </p:cNvPr>
          <p:cNvSpPr/>
          <p:nvPr/>
        </p:nvSpPr>
        <p:spPr>
          <a:xfrm>
            <a:off x="9726592" y="2794482"/>
            <a:ext cx="895775" cy="895775"/>
          </a:xfrm>
          <a:custGeom>
            <a:avLst/>
            <a:gdLst>
              <a:gd name="connsiteX0" fmla="*/ 0 w 895775"/>
              <a:gd name="connsiteY0" fmla="*/ 447888 h 895775"/>
              <a:gd name="connsiteX1" fmla="*/ 447888 w 895775"/>
              <a:gd name="connsiteY1" fmla="*/ 0 h 895775"/>
              <a:gd name="connsiteX2" fmla="*/ 895776 w 895775"/>
              <a:gd name="connsiteY2" fmla="*/ 447888 h 895775"/>
              <a:gd name="connsiteX3" fmla="*/ 447888 w 895775"/>
              <a:gd name="connsiteY3" fmla="*/ 895776 h 895775"/>
              <a:gd name="connsiteX4" fmla="*/ 0 w 895775"/>
              <a:gd name="connsiteY4" fmla="*/ 447888 h 89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5775" h="895775">
                <a:moveTo>
                  <a:pt x="0" y="447888"/>
                </a:moveTo>
                <a:cubicBezTo>
                  <a:pt x="0" y="200526"/>
                  <a:pt x="200526" y="0"/>
                  <a:pt x="447888" y="0"/>
                </a:cubicBezTo>
                <a:cubicBezTo>
                  <a:pt x="695250" y="0"/>
                  <a:pt x="895776" y="200526"/>
                  <a:pt x="895776" y="447888"/>
                </a:cubicBezTo>
                <a:cubicBezTo>
                  <a:pt x="895776" y="695250"/>
                  <a:pt x="695250" y="895776"/>
                  <a:pt x="447888" y="895776"/>
                </a:cubicBezTo>
                <a:cubicBezTo>
                  <a:pt x="200526" y="895776"/>
                  <a:pt x="0" y="695250"/>
                  <a:pt x="0" y="447888"/>
                </a:cubicBez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3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6583" tIns="156583" rIns="156583" bIns="156583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>
                <a:solidFill>
                  <a:schemeClr val="tx1"/>
                </a:solidFill>
              </a:rPr>
              <a:t>Bark Sleep</a:t>
            </a:r>
            <a:endParaRPr lang="en-US" sz="2000" b="1" kern="1200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63F8BF-203C-48D9-A4C1-C3DD3731398D}"/>
              </a:ext>
            </a:extLst>
          </p:cNvPr>
          <p:cNvSpPr/>
          <p:nvPr/>
        </p:nvSpPr>
        <p:spPr>
          <a:xfrm>
            <a:off x="9085615" y="2122451"/>
            <a:ext cx="895775" cy="895775"/>
          </a:xfrm>
          <a:custGeom>
            <a:avLst/>
            <a:gdLst>
              <a:gd name="connsiteX0" fmla="*/ 0 w 895775"/>
              <a:gd name="connsiteY0" fmla="*/ 447888 h 895775"/>
              <a:gd name="connsiteX1" fmla="*/ 447888 w 895775"/>
              <a:gd name="connsiteY1" fmla="*/ 0 h 895775"/>
              <a:gd name="connsiteX2" fmla="*/ 895776 w 895775"/>
              <a:gd name="connsiteY2" fmla="*/ 447888 h 895775"/>
              <a:gd name="connsiteX3" fmla="*/ 447888 w 895775"/>
              <a:gd name="connsiteY3" fmla="*/ 895776 h 895775"/>
              <a:gd name="connsiteX4" fmla="*/ 0 w 895775"/>
              <a:gd name="connsiteY4" fmla="*/ 447888 h 89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5775" h="895775">
                <a:moveTo>
                  <a:pt x="0" y="447888"/>
                </a:moveTo>
                <a:cubicBezTo>
                  <a:pt x="0" y="200526"/>
                  <a:pt x="200526" y="0"/>
                  <a:pt x="447888" y="0"/>
                </a:cubicBezTo>
                <a:cubicBezTo>
                  <a:pt x="695250" y="0"/>
                  <a:pt x="895776" y="200526"/>
                  <a:pt x="895776" y="447888"/>
                </a:cubicBezTo>
                <a:cubicBezTo>
                  <a:pt x="895776" y="695250"/>
                  <a:pt x="695250" y="895776"/>
                  <a:pt x="447888" y="895776"/>
                </a:cubicBezTo>
                <a:cubicBezTo>
                  <a:pt x="200526" y="895776"/>
                  <a:pt x="0" y="695250"/>
                  <a:pt x="0" y="447888"/>
                </a:cubicBez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1924600"/>
              <a:satOff val="20480"/>
              <a:lumOff val="-6569"/>
              <a:alphaOff val="0"/>
            </a:schemeClr>
          </a:fillRef>
          <a:effectRef idx="3">
            <a:schemeClr val="accent4">
              <a:hueOff val="-1924600"/>
              <a:satOff val="20480"/>
              <a:lumOff val="-656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6583" tIns="156583" rIns="156583" bIns="156583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 b="1" kern="1200">
                <a:solidFill>
                  <a:schemeClr val="tx1"/>
                </a:solidFill>
              </a:rPr>
              <a:t>Age Color</a:t>
            </a:r>
            <a:endParaRPr lang="en-US" sz="2000" b="1" kern="1200" dirty="0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7F2E247-CFB9-456F-80EE-6E790E9FEF1E}"/>
              </a:ext>
            </a:extLst>
          </p:cNvPr>
          <p:cNvSpPr/>
          <p:nvPr/>
        </p:nvSpPr>
        <p:spPr>
          <a:xfrm>
            <a:off x="9974343" y="1890398"/>
            <a:ext cx="949683" cy="926724"/>
          </a:xfrm>
          <a:custGeom>
            <a:avLst/>
            <a:gdLst>
              <a:gd name="connsiteX0" fmla="*/ 0 w 949683"/>
              <a:gd name="connsiteY0" fmla="*/ 463362 h 926724"/>
              <a:gd name="connsiteX1" fmla="*/ 474842 w 949683"/>
              <a:gd name="connsiteY1" fmla="*/ 0 h 926724"/>
              <a:gd name="connsiteX2" fmla="*/ 949684 w 949683"/>
              <a:gd name="connsiteY2" fmla="*/ 463362 h 926724"/>
              <a:gd name="connsiteX3" fmla="*/ 474842 w 949683"/>
              <a:gd name="connsiteY3" fmla="*/ 926724 h 926724"/>
              <a:gd name="connsiteX4" fmla="*/ 0 w 949683"/>
              <a:gd name="connsiteY4" fmla="*/ 463362 h 926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9683" h="926724">
                <a:moveTo>
                  <a:pt x="0" y="463362"/>
                </a:moveTo>
                <a:cubicBezTo>
                  <a:pt x="0" y="207454"/>
                  <a:pt x="212594" y="0"/>
                  <a:pt x="474842" y="0"/>
                </a:cubicBezTo>
                <a:cubicBezTo>
                  <a:pt x="737090" y="0"/>
                  <a:pt x="949684" y="207454"/>
                  <a:pt x="949684" y="463362"/>
                </a:cubicBezTo>
                <a:cubicBezTo>
                  <a:pt x="949684" y="719270"/>
                  <a:pt x="737090" y="926724"/>
                  <a:pt x="474842" y="926724"/>
                </a:cubicBezTo>
                <a:cubicBezTo>
                  <a:pt x="212594" y="926724"/>
                  <a:pt x="0" y="719270"/>
                  <a:pt x="0" y="463362"/>
                </a:cubicBezTo>
                <a:close/>
              </a:path>
            </a:pathLst>
          </a:custGeom>
          <a:solidFill>
            <a:schemeClr val="accent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3849200"/>
              <a:satOff val="40961"/>
              <a:lumOff val="-13138"/>
              <a:alphaOff val="0"/>
            </a:schemeClr>
          </a:fillRef>
          <a:effectRef idx="3">
            <a:schemeClr val="accent4">
              <a:hueOff val="-3849200"/>
              <a:satOff val="40961"/>
              <a:lumOff val="-1313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1938" tIns="158576" rIns="161938" bIns="158576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>
                <a:solidFill>
                  <a:schemeClr val="tx1"/>
                </a:solidFill>
              </a:rPr>
              <a:t>Name of</a:t>
            </a:r>
            <a:r>
              <a:rPr lang="en-US" sz="2000" b="1" kern="1200" dirty="0">
                <a:solidFill>
                  <a:schemeClr val="tx1"/>
                </a:solidFill>
              </a:rPr>
              <a:t> Dog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8AAEA1A-909A-427A-8025-6F6FF3852933}"/>
              </a:ext>
            </a:extLst>
          </p:cNvPr>
          <p:cNvGrpSpPr/>
          <p:nvPr/>
        </p:nvGrpSpPr>
        <p:grpSpPr>
          <a:xfrm>
            <a:off x="9196857" y="4399711"/>
            <a:ext cx="1628207" cy="2118992"/>
            <a:chOff x="8913852" y="4250116"/>
            <a:chExt cx="1892020" cy="2268587"/>
          </a:xfrm>
        </p:grpSpPr>
        <mc:AlternateContent xmlns:mc="http://schemas.openxmlformats.org/markup-compatibility/2006">
          <mc:Choice xmlns:am3d="http://schemas.microsoft.com/office/drawing/2017/model3d" Requires="am3d">
            <p:graphicFrame>
              <p:nvGraphicFramePr>
                <p:cNvPr id="9" name="3D Model 8" descr="Beagle">
                  <a:extLst>
                    <a:ext uri="{FF2B5EF4-FFF2-40B4-BE49-F238E27FC236}">
                      <a16:creationId xmlns:a16="http://schemas.microsoft.com/office/drawing/2014/main" id="{E45C0660-7C7E-4F53-B625-DFD2E42BAD1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40385813"/>
                    </p:ext>
                  </p:extLst>
                </p:nvPr>
              </p:nvGraphicFramePr>
              <p:xfrm>
                <a:off x="8913852" y="4250116"/>
                <a:ext cx="1806922" cy="1806922"/>
              </p:xfrm>
              <a:graphic>
                <a:graphicData uri="http://schemas.microsoft.com/office/drawing/2017/model3d">
                  <am3d:model3d r:embed="rId3">
                    <am3d:spPr>
                      <a:xfrm>
                        <a:off x="0" y="0"/>
                        <a:ext cx="1554975" cy="1687770"/>
                      </a:xfrm>
                      <a:prstGeom prst="rect">
                        <a:avLst/>
                      </a:prstGeom>
                    </am3d:spPr>
                    <am3d:camera>
                      <am3d:pos x="0" y="0" z="63192346"/>
                      <am3d:up dx="0" dy="36000000" dz="0"/>
                      <am3d:lookAt x="0" y="0" z="0"/>
                      <am3d:perspective fov="2700000"/>
                    </am3d:camera>
                    <am3d:trans>
                      <am3d:meterPerModelUnit n="9144601" d="1000000"/>
                      <am3d:preTrans dx="2910307" dy="-13852496" dz="-1456342"/>
                      <am3d:scale>
                        <am3d:sx n="1000000" d="1000000"/>
                        <am3d:sy n="1000000" d="1000000"/>
                        <am3d:sz n="1000000" d="1000000"/>
                      </am3d:scale>
                      <am3d:rot ax="660796" ay="2277295" az="409547"/>
                      <am3d:postTrans dx="0" dy="0" dz="0"/>
                    </am3d:trans>
                    <am3d:raster rName="Office3DRenderer" rVer="16.0.8326">
                      <am3d:blip r:embed="rId4"/>
                    </am3d:raster>
                    <am3d:objViewport viewportSz="2309595"/>
                    <am3d:ambientLight>
                      <am3d:clr>
                        <a:scrgbClr r="50000" g="50000" b="50000"/>
                      </am3d:clr>
                      <am3d:illuminance n="500000" d="1000000"/>
                    </am3d:ambientLight>
                    <am3d:ptLight rad="0">
                      <am3d:clr>
                        <a:scrgbClr r="100000" g="75000" b="50000"/>
                      </am3d:clr>
                      <am3d:intensity n="9765625" d="1000000"/>
                      <am3d:pos x="21959998" y="70920001" z="16344003"/>
                    </am3d:ptLight>
                    <am3d:ptLight rad="0">
                      <am3d:clr>
                        <a:scrgbClr r="40000" g="60000" b="95000"/>
                      </am3d:clr>
                      <am3d:intensity n="12250000" d="1000000"/>
                      <am3d:pos x="-37964106" y="51130435" z="57631972"/>
                    </am3d:ptLight>
                    <am3d:ptLight rad="0">
                      <am3d:clr>
                        <a:scrgbClr r="86837" g="72700" b="100000"/>
                      </am3d:clr>
                      <am3d:intensity n="3125000" d="1000000"/>
                      <am3d:pos x="-37739122" y="58056624" z="-34769649"/>
                    </am3d:ptLight>
                  </am3d:model3d>
                </a:graphicData>
              </a:graphic>
            </p:graphicFrame>
          </mc:Choice>
          <mc:Fallback>
            <p:pic>
              <p:nvPicPr>
                <p:cNvPr id="9" name="3D Model 8" descr="Beagle">
                  <a:extLst>
                    <a:ext uri="{FF2B5EF4-FFF2-40B4-BE49-F238E27FC236}">
                      <a16:creationId xmlns:a16="http://schemas.microsoft.com/office/drawing/2014/main" id="{E45C0660-7C7E-4F53-B625-DFD2E42BAD1A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96857" y="4399711"/>
                  <a:ext cx="1554975" cy="168777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B4824D-F44D-4FD4-A30E-0BC6DC8154D2}"/>
                </a:ext>
              </a:extLst>
            </p:cNvPr>
            <p:cNvSpPr/>
            <p:nvPr/>
          </p:nvSpPr>
          <p:spPr>
            <a:xfrm>
              <a:off x="9080720" y="6057038"/>
              <a:ext cx="172515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Roboto"/>
                </a:rPr>
                <a:t>Dog Object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8BCDC62-140E-498A-88AA-48428EED7711}"/>
              </a:ext>
            </a:extLst>
          </p:cNvPr>
          <p:cNvGrpSpPr/>
          <p:nvPr/>
        </p:nvGrpSpPr>
        <p:grpSpPr>
          <a:xfrm>
            <a:off x="8687492" y="1724329"/>
            <a:ext cx="2786857" cy="2611683"/>
            <a:chOff x="8687492" y="1724329"/>
            <a:chExt cx="2786857" cy="2611683"/>
          </a:xfrm>
        </p:grpSpPr>
        <p:sp>
          <p:nvSpPr>
            <p:cNvPr id="27" name="Arrow: Down 26">
              <a:extLst>
                <a:ext uri="{FF2B5EF4-FFF2-40B4-BE49-F238E27FC236}">
                  <a16:creationId xmlns:a16="http://schemas.microsoft.com/office/drawing/2014/main" id="{0746A6BF-9264-4E11-AF7A-64AFFC41B133}"/>
                </a:ext>
              </a:extLst>
            </p:cNvPr>
            <p:cNvSpPr/>
            <p:nvPr/>
          </p:nvSpPr>
          <p:spPr>
            <a:xfrm>
              <a:off x="9832094" y="4017514"/>
              <a:ext cx="497653" cy="318498"/>
            </a:xfrm>
            <a:prstGeom prst="downArrow">
              <a:avLst/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tint val="40000"/>
                <a:hueOff val="0"/>
                <a:satOff val="0"/>
                <a:lumOff val="0"/>
                <a:alphaOff val="0"/>
              </a:schemeClr>
            </a:fillRef>
            <a:effectRef idx="3">
              <a:schemeClr val="accent4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675E2F2-C306-41B1-AAA7-862AA26CE9B9}"/>
                </a:ext>
              </a:extLst>
            </p:cNvPr>
            <p:cNvGrpSpPr/>
            <p:nvPr/>
          </p:nvGrpSpPr>
          <p:grpSpPr>
            <a:xfrm>
              <a:off x="8687492" y="1724329"/>
              <a:ext cx="2786857" cy="2229486"/>
              <a:chOff x="8687492" y="1724329"/>
              <a:chExt cx="2786857" cy="222948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7735220-3ED4-4C13-9F4D-D558125F0454}"/>
                  </a:ext>
                </a:extLst>
              </p:cNvPr>
              <p:cNvSpPr/>
              <p:nvPr/>
            </p:nvSpPr>
            <p:spPr>
              <a:xfrm>
                <a:off x="8792995" y="1833812"/>
                <a:ext cx="2567890" cy="891794"/>
              </a:xfrm>
              <a:prstGeom prst="ellipse">
                <a:avLst/>
              </a:prstGeom>
            </p:spPr>
            <p:style>
              <a:lnRef idx="0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2" name="Shape 31">
                <a:extLst>
                  <a:ext uri="{FF2B5EF4-FFF2-40B4-BE49-F238E27FC236}">
                    <a16:creationId xmlns:a16="http://schemas.microsoft.com/office/drawing/2014/main" id="{5ECC8A65-1B47-405E-A01E-97ACEF9D7A1D}"/>
                  </a:ext>
                </a:extLst>
              </p:cNvPr>
              <p:cNvSpPr/>
              <p:nvPr/>
            </p:nvSpPr>
            <p:spPr>
              <a:xfrm>
                <a:off x="8687492" y="1724329"/>
                <a:ext cx="2786857" cy="2229486"/>
              </a:xfrm>
              <a:prstGeom prst="funnel">
                <a:avLst/>
              </a:prstGeom>
            </p:spPr>
            <p:style>
              <a:lnRef idx="1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</p:grp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AB8E2449-B4B7-4D65-ADDB-C61955DED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/>
          <a:p>
            <a:fld id="{48BB047D-A6CD-43AB-96F0-683C726B586B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074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832" y="159100"/>
            <a:ext cx="11465168" cy="1037492"/>
          </a:xfrm>
        </p:spPr>
        <p:txBody>
          <a:bodyPr/>
          <a:lstStyle/>
          <a:p>
            <a:r>
              <a:rPr lang="en-US" dirty="0"/>
              <a:t>What is a Class 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3582D-A19C-41A5-AEBF-A85733A9E125}"/>
              </a:ext>
            </a:extLst>
          </p:cNvPr>
          <p:cNvSpPr/>
          <p:nvPr/>
        </p:nvSpPr>
        <p:spPr>
          <a:xfrm>
            <a:off x="877801" y="2311951"/>
            <a:ext cx="6229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latin typeface="+mj-lt"/>
                <a:ea typeface="Cambria Math" panose="02040503050406030204" pitchFamily="18" charset="0"/>
              </a:rPr>
              <a:t>A class is a set of instruction.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EFB872-5BB4-4940-B2DE-3151232B88AC}"/>
              </a:ext>
            </a:extLst>
          </p:cNvPr>
          <p:cNvSpPr/>
          <p:nvPr/>
        </p:nvSpPr>
        <p:spPr>
          <a:xfrm>
            <a:off x="882990" y="4515941"/>
            <a:ext cx="65354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3600" dirty="0">
                <a:latin typeface="+mj-lt"/>
                <a:ea typeface="Cambria Math" panose="02040503050406030204" pitchFamily="18" charset="0"/>
              </a:rPr>
              <a:t>It is also referred as blueprint.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1AC53-CCF3-4FAB-90D2-026C7B231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601" y="3820625"/>
            <a:ext cx="3462868" cy="261338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F9F5695-4420-4F31-B6DD-74AB716E84B2}"/>
              </a:ext>
            </a:extLst>
          </p:cNvPr>
          <p:cNvGrpSpPr/>
          <p:nvPr/>
        </p:nvGrpSpPr>
        <p:grpSpPr>
          <a:xfrm>
            <a:off x="8146848" y="1638956"/>
            <a:ext cx="2674375" cy="1992320"/>
            <a:chOff x="8244356" y="1429027"/>
            <a:chExt cx="2674375" cy="199232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957F0C0-64B9-4022-8B4D-8007C12EDA5F}"/>
                </a:ext>
              </a:extLst>
            </p:cNvPr>
            <p:cNvGrpSpPr/>
            <p:nvPr/>
          </p:nvGrpSpPr>
          <p:grpSpPr>
            <a:xfrm>
              <a:off x="8244356" y="1429027"/>
              <a:ext cx="2674375" cy="1992320"/>
              <a:chOff x="8244356" y="1429027"/>
              <a:chExt cx="2674375" cy="1992320"/>
            </a:xfrm>
          </p:grpSpPr>
          <p:pic>
            <p:nvPicPr>
              <p:cNvPr id="2052" name="Picture 4" descr="Image result for instruction icon">
                <a:extLst>
                  <a:ext uri="{FF2B5EF4-FFF2-40B4-BE49-F238E27FC236}">
                    <a16:creationId xmlns:a16="http://schemas.microsoft.com/office/drawing/2014/main" id="{03F6F3AD-3FE5-48D8-9171-834C857B5A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44356" y="1429027"/>
                <a:ext cx="2674375" cy="19923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4" name="Picture 6" descr="Image result for attribute icon">
                <a:extLst>
                  <a:ext uri="{FF2B5EF4-FFF2-40B4-BE49-F238E27FC236}">
                    <a16:creationId xmlns:a16="http://schemas.microsoft.com/office/drawing/2014/main" id="{1E27FE73-F106-4E5E-AA47-6DF7593FFF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12621" b="9023"/>
              <a:stretch/>
            </p:blipFill>
            <p:spPr bwMode="auto">
              <a:xfrm rot="10800000">
                <a:off x="8343391" y="1576809"/>
                <a:ext cx="1172486" cy="918725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6" name="Picture 8" descr="Image result for function icon">
                <a:extLst>
                  <a:ext uri="{FF2B5EF4-FFF2-40B4-BE49-F238E27FC236}">
                    <a16:creationId xmlns:a16="http://schemas.microsoft.com/office/drawing/2014/main" id="{9F6B6FCE-85DC-417A-A4E5-E01BCB0E8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46667" y="1618376"/>
                <a:ext cx="835589" cy="8355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D4B96C-1D06-4AA0-9976-5D768C22AA01}"/>
                </a:ext>
              </a:extLst>
            </p:cNvPr>
            <p:cNvSpPr/>
            <p:nvPr/>
          </p:nvSpPr>
          <p:spPr>
            <a:xfrm>
              <a:off x="8310670" y="2428777"/>
              <a:ext cx="127087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1000"/>
                </a:spcBef>
                <a:spcAft>
                  <a:spcPts val="1000"/>
                </a:spcAft>
                <a:buClr>
                  <a:schemeClr val="accent1"/>
                </a:buClr>
              </a:pPr>
              <a:r>
                <a:rPr lang="en-US" sz="2000" b="1" dirty="0">
                  <a:latin typeface="+mj-lt"/>
                  <a:ea typeface="Cambria Math" panose="02040503050406030204" pitchFamily="18" charset="0"/>
                </a:rPr>
                <a:t>Member Variables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7E8EC74-2147-4CDE-A641-47BE0EA2FDFF}"/>
                </a:ext>
              </a:extLst>
            </p:cNvPr>
            <p:cNvSpPr/>
            <p:nvPr/>
          </p:nvSpPr>
          <p:spPr>
            <a:xfrm>
              <a:off x="9581543" y="2623399"/>
              <a:ext cx="127087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1000"/>
                </a:spcBef>
                <a:spcAft>
                  <a:spcPts val="1000"/>
                </a:spcAft>
                <a:buClr>
                  <a:schemeClr val="accent1"/>
                </a:buClr>
              </a:pPr>
              <a:r>
                <a:rPr lang="en-US" sz="2000" b="1" dirty="0">
                  <a:latin typeface="+mj-lt"/>
                  <a:ea typeface="Cambria Math" panose="02040503050406030204" pitchFamily="18" charset="0"/>
                </a:rPr>
                <a:t>Methods</a:t>
              </a:r>
            </a:p>
          </p:txBody>
        </p:sp>
      </p:grp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BDCC603B-8927-4B98-A6CA-FD1F68AD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/>
          <a:p>
            <a:fld id="{48BB047D-A6CD-43AB-96F0-683C726B586B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655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80CC8D-7CBD-4889-A7E9-0661E90A24F9}"/>
              </a:ext>
            </a:extLst>
          </p:cNvPr>
          <p:cNvSpPr/>
          <p:nvPr/>
        </p:nvSpPr>
        <p:spPr>
          <a:xfrm>
            <a:off x="670559" y="1805130"/>
            <a:ext cx="607529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class</a:t>
            </a:r>
            <a:r>
              <a:rPr lang="en-US" sz="2400" b="1" dirty="0"/>
              <a:t> Dog {</a:t>
            </a:r>
          </a:p>
          <a:p>
            <a:r>
              <a:rPr lang="en-US" sz="2400" b="1" dirty="0">
                <a:solidFill>
                  <a:schemeClr val="accent6"/>
                </a:solidFill>
              </a:rPr>
              <a:t>    // Properties or Member Variables </a:t>
            </a:r>
          </a:p>
          <a:p>
            <a:r>
              <a:rPr lang="en-US" sz="2400" b="1" dirty="0">
                <a:solidFill>
                  <a:srgbClr val="0070C0"/>
                </a:solidFill>
              </a:rPr>
              <a:t>public:</a:t>
            </a:r>
          </a:p>
          <a:p>
            <a:r>
              <a:rPr lang="en-US" sz="2400" b="1" dirty="0"/>
              <a:t>    String breed;</a:t>
            </a:r>
          </a:p>
          <a:p>
            <a:r>
              <a:rPr lang="en-US" sz="2400" b="1" dirty="0"/>
              <a:t>    String size;</a:t>
            </a:r>
          </a:p>
          <a:p>
            <a:r>
              <a:rPr lang="en-US" sz="2400" b="1" dirty="0"/>
              <a:t>  </a:t>
            </a:r>
          </a:p>
          <a:p>
            <a:r>
              <a:rPr lang="en-US" sz="2400" b="1" dirty="0"/>
              <a:t>   </a:t>
            </a:r>
            <a:r>
              <a:rPr lang="en-US" sz="2400" b="1" dirty="0">
                <a:solidFill>
                  <a:schemeClr val="accent6"/>
                </a:solidFill>
              </a:rPr>
              <a:t> // method</a:t>
            </a:r>
          </a:p>
          <a:p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void</a:t>
            </a:r>
            <a:r>
              <a:rPr lang="en-US" sz="2400" b="1" dirty="0"/>
              <a:t> run() {</a:t>
            </a:r>
          </a:p>
          <a:p>
            <a:r>
              <a:rPr lang="en-US" sz="2400" b="1" dirty="0" err="1"/>
              <a:t>Cout</a:t>
            </a:r>
            <a:r>
              <a:rPr lang="en-US" sz="2400" b="1" dirty="0"/>
              <a:t>&lt;&lt;"Running . . </a:t>
            </a:r>
            <a:r>
              <a:rPr lang="en-US" sz="2400" b="1"/>
              <a:t>.";</a:t>
            </a:r>
            <a:endParaRPr lang="en-US" sz="2400" b="1" dirty="0"/>
          </a:p>
          <a:p>
            <a:r>
              <a:rPr lang="en-US" sz="2400" b="1" dirty="0"/>
              <a:t>    }</a:t>
            </a:r>
          </a:p>
          <a:p>
            <a:r>
              <a:rPr lang="en-US" sz="2400" b="1" dirty="0"/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5B5D19-43EE-4E23-8167-371D9FC3C6F1}"/>
              </a:ext>
            </a:extLst>
          </p:cNvPr>
          <p:cNvSpPr/>
          <p:nvPr/>
        </p:nvSpPr>
        <p:spPr>
          <a:xfrm>
            <a:off x="7175938" y="1805130"/>
            <a:ext cx="5016062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// Creating Object</a:t>
            </a:r>
            <a:endParaRPr lang="en-US" sz="2400" b="1" dirty="0"/>
          </a:p>
          <a:p>
            <a:r>
              <a:rPr lang="en-US" sz="2400" b="1" dirty="0"/>
              <a:t>Dog </a:t>
            </a:r>
            <a:r>
              <a:rPr lang="en-US" sz="2400" b="1" dirty="0" err="1"/>
              <a:t>maltese</a:t>
            </a:r>
            <a:r>
              <a:rPr lang="en-US" sz="2400" b="1" dirty="0"/>
              <a:t>;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chemeClr val="accent6"/>
                </a:solidFill>
              </a:rPr>
              <a:t>//Accessing variables and methods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 err="1"/>
              <a:t>maltese.breed</a:t>
            </a:r>
            <a:r>
              <a:rPr lang="en-US" sz="2400" b="1" dirty="0"/>
              <a:t> = "Maltese";</a:t>
            </a:r>
          </a:p>
          <a:p>
            <a:r>
              <a:rPr lang="en-US" sz="2400" b="1" dirty="0" err="1"/>
              <a:t>maltese.size</a:t>
            </a:r>
            <a:r>
              <a:rPr lang="en-US" sz="2400" b="1" dirty="0"/>
              <a:t> = "Small";</a:t>
            </a:r>
          </a:p>
          <a:p>
            <a:pPr>
              <a:lnSpc>
                <a:spcPct val="200000"/>
              </a:lnSpc>
            </a:pPr>
            <a:r>
              <a:rPr lang="en-US" sz="2400" b="1" dirty="0" err="1"/>
              <a:t>maltese.run</a:t>
            </a:r>
            <a:r>
              <a:rPr lang="en-US" sz="2400" b="1" dirty="0"/>
              <a:t>();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3FB580-66B3-4207-80AE-5803C178DB42}"/>
              </a:ext>
            </a:extLst>
          </p:cNvPr>
          <p:cNvCxnSpPr>
            <a:cxnSpLocks/>
          </p:cNvCxnSpPr>
          <p:nvPr/>
        </p:nvCxnSpPr>
        <p:spPr>
          <a:xfrm>
            <a:off x="6624910" y="1305025"/>
            <a:ext cx="0" cy="4247949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A9A5A478-FF6C-4279-994A-F08E016B224A}"/>
              </a:ext>
            </a:extLst>
          </p:cNvPr>
          <p:cNvSpPr/>
          <p:nvPr/>
        </p:nvSpPr>
        <p:spPr>
          <a:xfrm rot="20201323">
            <a:off x="155063" y="1238015"/>
            <a:ext cx="1411935" cy="375859"/>
          </a:xfrm>
          <a:prstGeom prst="wedgeEllipseCallout">
            <a:avLst>
              <a:gd name="adj1" fmla="val -6742"/>
              <a:gd name="adj2" fmla="val 113561"/>
            </a:avLst>
          </a:prstGeom>
          <a:solidFill>
            <a:srgbClr val="F0A01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Keyword</a:t>
            </a:r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122EFEBD-28B1-4069-AC4C-214AC62998E0}"/>
              </a:ext>
            </a:extLst>
          </p:cNvPr>
          <p:cNvSpPr/>
          <p:nvPr/>
        </p:nvSpPr>
        <p:spPr>
          <a:xfrm>
            <a:off x="1691640" y="1194283"/>
            <a:ext cx="1630677" cy="390550"/>
          </a:xfrm>
          <a:prstGeom prst="wedgeEllipseCallout">
            <a:avLst>
              <a:gd name="adj1" fmla="val -51547"/>
              <a:gd name="adj2" fmla="val 119259"/>
            </a:avLst>
          </a:prstGeom>
          <a:solidFill>
            <a:srgbClr val="F0A01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 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5EFD2F-32EA-4E40-BA32-A189A94F3887}"/>
              </a:ext>
            </a:extLst>
          </p:cNvPr>
          <p:cNvSpPr/>
          <p:nvPr/>
        </p:nvSpPr>
        <p:spPr>
          <a:xfrm>
            <a:off x="293077" y="483246"/>
            <a:ext cx="5802923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cap="all" dirty="0"/>
              <a:t>writing a class in </a:t>
            </a:r>
            <a:r>
              <a:rPr lang="en-US" sz="3600" b="1" cap="all" dirty="0" err="1"/>
              <a:t>c++</a:t>
            </a:r>
            <a:r>
              <a:rPr lang="en-US" sz="3600" b="1" cap="all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0C7F65-EC58-4BDD-916D-D651689FEF29}"/>
              </a:ext>
            </a:extLst>
          </p:cNvPr>
          <p:cNvSpPr/>
          <p:nvPr/>
        </p:nvSpPr>
        <p:spPr>
          <a:xfrm>
            <a:off x="6096000" y="483245"/>
            <a:ext cx="5802923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3600" b="1" cap="all" dirty="0"/>
              <a:t>Creating Object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59278087-EFF5-43C8-AA25-31E333B2B2D9}"/>
              </a:ext>
            </a:extLst>
          </p:cNvPr>
          <p:cNvSpPr/>
          <p:nvPr/>
        </p:nvSpPr>
        <p:spPr>
          <a:xfrm rot="1228080">
            <a:off x="9297815" y="1689973"/>
            <a:ext cx="1411935" cy="375859"/>
          </a:xfrm>
          <a:prstGeom prst="wedgeEllipseCallout">
            <a:avLst>
              <a:gd name="adj1" fmla="val -14819"/>
              <a:gd name="adj2" fmla="val 153740"/>
            </a:avLst>
          </a:prstGeom>
          <a:solidFill>
            <a:srgbClr val="F0A01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Keyword</a:t>
            </a:r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839ABCF6-211B-4D5C-ABCE-2A6C56A9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384" y="6463207"/>
            <a:ext cx="2743200" cy="249385"/>
          </a:xfrm>
        </p:spPr>
        <p:txBody>
          <a:bodyPr/>
          <a:lstStyle/>
          <a:p>
            <a:fld id="{48BB047D-A6CD-43AB-96F0-683C726B586B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47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  <p:bldP spid="11" grpId="0" uiExpand="1" animBg="1"/>
      <p:bldP spid="12" grpId="0" uiExpand="1" animBg="1"/>
      <p:bldP spid="9" grpId="0"/>
      <p:bldP spid="10" grpId="0"/>
      <p:bldP spid="13" grpId="0" uiExpan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1022-C14B-4463-A9FE-5CD23A0D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16" y="246186"/>
            <a:ext cx="11465168" cy="851094"/>
          </a:xfrm>
        </p:spPr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716DE-2107-44B5-8599-4DC717B2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B047D-A6CD-43AB-96F0-683C726B586B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FEAC8B8-26E6-48A5-A67A-CB164FB2CCAF}"/>
              </a:ext>
            </a:extLst>
          </p:cNvPr>
          <p:cNvSpPr/>
          <p:nvPr/>
        </p:nvSpPr>
        <p:spPr>
          <a:xfrm>
            <a:off x="2058573" y="1871002"/>
            <a:ext cx="4332850" cy="3714912"/>
          </a:xfrm>
          <a:custGeom>
            <a:avLst/>
            <a:gdLst>
              <a:gd name="connsiteX0" fmla="*/ 0 w 4823654"/>
              <a:gd name="connsiteY0" fmla="*/ 2411827 h 4823654"/>
              <a:gd name="connsiteX1" fmla="*/ 2411827 w 4823654"/>
              <a:gd name="connsiteY1" fmla="*/ 0 h 4823654"/>
              <a:gd name="connsiteX2" fmla="*/ 4823654 w 4823654"/>
              <a:gd name="connsiteY2" fmla="*/ 2411827 h 4823654"/>
              <a:gd name="connsiteX3" fmla="*/ 2411827 w 4823654"/>
              <a:gd name="connsiteY3" fmla="*/ 4823654 h 4823654"/>
              <a:gd name="connsiteX4" fmla="*/ 0 w 4823654"/>
              <a:gd name="connsiteY4" fmla="*/ 2411827 h 4823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23654" h="4823654">
                <a:moveTo>
                  <a:pt x="0" y="2411827"/>
                </a:moveTo>
                <a:cubicBezTo>
                  <a:pt x="0" y="1079812"/>
                  <a:pt x="1079812" y="0"/>
                  <a:pt x="2411827" y="0"/>
                </a:cubicBezTo>
                <a:cubicBezTo>
                  <a:pt x="3743842" y="0"/>
                  <a:pt x="4823654" y="1079812"/>
                  <a:pt x="4823654" y="2411827"/>
                </a:cubicBezTo>
                <a:cubicBezTo>
                  <a:pt x="4823654" y="3743842"/>
                  <a:pt x="3743842" y="4823654"/>
                  <a:pt x="2411827" y="4823654"/>
                </a:cubicBezTo>
                <a:cubicBezTo>
                  <a:pt x="1079812" y="4823654"/>
                  <a:pt x="0" y="3743842"/>
                  <a:pt x="0" y="2411827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96478" tIns="468766" rIns="1796477" bIns="4086508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800" b="1" kern="1200" dirty="0">
              <a:solidFill>
                <a:schemeClr val="tx1"/>
              </a:solidFill>
            </a:endParaRPr>
          </a:p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>
                <a:solidFill>
                  <a:schemeClr val="tx1"/>
                </a:solidFill>
              </a:rPr>
              <a:t>Class</a:t>
            </a:r>
            <a:endParaRPr lang="en-US" sz="1400" b="1" kern="1200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650A04-0C9B-4AC1-ADEC-7E5F64BAB7FF}"/>
              </a:ext>
            </a:extLst>
          </p:cNvPr>
          <p:cNvSpPr/>
          <p:nvPr/>
        </p:nvSpPr>
        <p:spPr>
          <a:xfrm>
            <a:off x="2438401" y="2729130"/>
            <a:ext cx="3573194" cy="2856785"/>
          </a:xfrm>
          <a:custGeom>
            <a:avLst/>
            <a:gdLst>
              <a:gd name="connsiteX0" fmla="*/ 0 w 3913635"/>
              <a:gd name="connsiteY0" fmla="*/ 1808870 h 3617740"/>
              <a:gd name="connsiteX1" fmla="*/ 1956818 w 3913635"/>
              <a:gd name="connsiteY1" fmla="*/ 0 h 3617740"/>
              <a:gd name="connsiteX2" fmla="*/ 3913636 w 3913635"/>
              <a:gd name="connsiteY2" fmla="*/ 1808870 h 3617740"/>
              <a:gd name="connsiteX3" fmla="*/ 1956818 w 3913635"/>
              <a:gd name="connsiteY3" fmla="*/ 3617740 h 3617740"/>
              <a:gd name="connsiteX4" fmla="*/ 0 w 3913635"/>
              <a:gd name="connsiteY4" fmla="*/ 1808870 h 3617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13635" h="3617740">
                <a:moveTo>
                  <a:pt x="0" y="1808870"/>
                </a:moveTo>
                <a:cubicBezTo>
                  <a:pt x="0" y="809859"/>
                  <a:pt x="876097" y="0"/>
                  <a:pt x="1956818" y="0"/>
                </a:cubicBezTo>
                <a:cubicBezTo>
                  <a:pt x="3037539" y="0"/>
                  <a:pt x="3913636" y="809859"/>
                  <a:pt x="3913636" y="1808870"/>
                </a:cubicBezTo>
                <a:cubicBezTo>
                  <a:pt x="3913636" y="2807881"/>
                  <a:pt x="3037539" y="3617740"/>
                  <a:pt x="1956818" y="3617740"/>
                </a:cubicBezTo>
                <a:cubicBezTo>
                  <a:pt x="876097" y="3617740"/>
                  <a:pt x="0" y="2807881"/>
                  <a:pt x="0" y="1808870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1924600"/>
              <a:satOff val="20480"/>
              <a:lumOff val="-6569"/>
              <a:alphaOff val="0"/>
            </a:schemeClr>
          </a:fillRef>
          <a:effectRef idx="0">
            <a:schemeClr val="accent4">
              <a:hueOff val="-1924600"/>
              <a:satOff val="20480"/>
              <a:lumOff val="-656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7181" tIns="368349" rIns="1187180" bIns="2855545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solidFill>
                  <a:schemeClr val="tx1"/>
                </a:solidFill>
              </a:rPr>
              <a:t>Public members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1A7CD9-C77B-4975-92A3-3502EDE7CF44}"/>
              </a:ext>
            </a:extLst>
          </p:cNvPr>
          <p:cNvSpPr/>
          <p:nvPr/>
        </p:nvSpPr>
        <p:spPr>
          <a:xfrm>
            <a:off x="3008590" y="3920622"/>
            <a:ext cx="2432815" cy="1635218"/>
          </a:xfrm>
          <a:custGeom>
            <a:avLst/>
            <a:gdLst>
              <a:gd name="connsiteX0" fmla="*/ 0 w 2804665"/>
              <a:gd name="connsiteY0" fmla="*/ 1205914 h 2411827"/>
              <a:gd name="connsiteX1" fmla="*/ 1402333 w 2804665"/>
              <a:gd name="connsiteY1" fmla="*/ 0 h 2411827"/>
              <a:gd name="connsiteX2" fmla="*/ 2804666 w 2804665"/>
              <a:gd name="connsiteY2" fmla="*/ 1205914 h 2411827"/>
              <a:gd name="connsiteX3" fmla="*/ 1402333 w 2804665"/>
              <a:gd name="connsiteY3" fmla="*/ 2411828 h 2411827"/>
              <a:gd name="connsiteX4" fmla="*/ 0 w 2804665"/>
              <a:gd name="connsiteY4" fmla="*/ 1205914 h 241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04665" h="2411827">
                <a:moveTo>
                  <a:pt x="0" y="1205914"/>
                </a:moveTo>
                <a:cubicBezTo>
                  <a:pt x="0" y="539906"/>
                  <a:pt x="627846" y="0"/>
                  <a:pt x="1402333" y="0"/>
                </a:cubicBezTo>
                <a:cubicBezTo>
                  <a:pt x="2176820" y="0"/>
                  <a:pt x="2804666" y="539906"/>
                  <a:pt x="2804666" y="1205914"/>
                </a:cubicBezTo>
                <a:cubicBezTo>
                  <a:pt x="2804666" y="1871922"/>
                  <a:pt x="2176820" y="2411828"/>
                  <a:pt x="1402333" y="2411828"/>
                </a:cubicBezTo>
                <a:cubicBezTo>
                  <a:pt x="627846" y="2411828"/>
                  <a:pt x="0" y="1871922"/>
                  <a:pt x="0" y="1205914"/>
                </a:cubicBezTo>
                <a:close/>
              </a:path>
            </a:pathLst>
          </a:custGeom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3849200"/>
              <a:satOff val="40961"/>
              <a:lumOff val="-13138"/>
              <a:alphaOff val="0"/>
            </a:schemeClr>
          </a:fillRef>
          <a:effectRef idx="0">
            <a:schemeClr val="accent4">
              <a:hueOff val="-3849200"/>
              <a:satOff val="40961"/>
              <a:lumOff val="-13138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1422" tIns="773645" rIns="581422" bIns="773645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>
                <a:solidFill>
                  <a:schemeClr val="tx1"/>
                </a:solidFill>
              </a:rPr>
              <a:t>Private members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224A42-860D-41B4-89FF-44F4847DD086}"/>
              </a:ext>
            </a:extLst>
          </p:cNvPr>
          <p:cNvSpPr/>
          <p:nvPr/>
        </p:nvSpPr>
        <p:spPr>
          <a:xfrm>
            <a:off x="363416" y="3593090"/>
            <a:ext cx="1460509" cy="112887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Outside Code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8FF8C3-79B9-4322-B5ED-1D82D26B1DD4}"/>
              </a:ext>
            </a:extLst>
          </p:cNvPr>
          <p:cNvCxnSpPr>
            <a:cxnSpLocks/>
            <a:stCxn id="14" idx="6"/>
            <a:endCxn id="12" idx="0"/>
          </p:cNvCxnSpPr>
          <p:nvPr/>
        </p:nvCxnSpPr>
        <p:spPr>
          <a:xfrm flipV="1">
            <a:off x="1823925" y="4157523"/>
            <a:ext cx="614476" cy="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594F58-2BD0-4274-B1FC-D8AFA9A1F57B}"/>
              </a:ext>
            </a:extLst>
          </p:cNvPr>
          <p:cNvCxnSpPr>
            <a:cxnSpLocks/>
          </p:cNvCxnSpPr>
          <p:nvPr/>
        </p:nvCxnSpPr>
        <p:spPr>
          <a:xfrm>
            <a:off x="4905829" y="3309257"/>
            <a:ext cx="0" cy="84826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0B05564-E9E0-4D42-AA63-A7419CAEF69B}"/>
              </a:ext>
            </a:extLst>
          </p:cNvPr>
          <p:cNvCxnSpPr>
            <a:cxnSpLocks/>
          </p:cNvCxnSpPr>
          <p:nvPr/>
        </p:nvCxnSpPr>
        <p:spPr>
          <a:xfrm>
            <a:off x="6700032" y="1373655"/>
            <a:ext cx="0" cy="4709605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2" descr="Image result for atm machine">
            <a:extLst>
              <a:ext uri="{FF2B5EF4-FFF2-40B4-BE49-F238E27FC236}">
                <a16:creationId xmlns:a16="http://schemas.microsoft.com/office/drawing/2014/main" id="{FFC9AE4C-92A4-41BC-9351-7D5BFC67E6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20"/>
          <a:stretch/>
        </p:blipFill>
        <p:spPr bwMode="auto">
          <a:xfrm>
            <a:off x="6882158" y="1081756"/>
            <a:ext cx="4946426" cy="493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5834D364-C783-422B-8A3F-52F7E93E8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642" y="1495149"/>
            <a:ext cx="5047900" cy="4214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0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7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DD519AC-7392-4C53-9E3F-08F1208B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493" y="2905749"/>
            <a:ext cx="6556248" cy="750278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Thank You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A294210-0A3A-40B7-8019-FDFD9DA75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9378" y="4119647"/>
            <a:ext cx="3640478" cy="433938"/>
          </a:xfrm>
        </p:spPr>
        <p:txBody>
          <a:bodyPr/>
          <a:lstStyle/>
          <a:p>
            <a:r>
              <a:rPr lang="en-US" dirty="0"/>
              <a:t>rifath.mahmud@aiub.edu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572000" y="4760686"/>
            <a:ext cx="1045029" cy="754743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9EFB37-88A1-4F63-9694-71974EA95A92}"/>
              </a:ext>
            </a:extLst>
          </p:cNvPr>
          <p:cNvSpPr/>
          <p:nvPr/>
        </p:nvSpPr>
        <p:spPr>
          <a:xfrm>
            <a:off x="4572001" y="2336800"/>
            <a:ext cx="990600" cy="3618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37967-2431-42BC-AC06-28C485254014}"/>
              </a:ext>
            </a:extLst>
          </p:cNvPr>
          <p:cNvSpPr/>
          <p:nvPr/>
        </p:nvSpPr>
        <p:spPr>
          <a:xfrm>
            <a:off x="4786863" y="3622383"/>
            <a:ext cx="1591077" cy="3618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4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7 L 0.12149 0.00069 " pathEditMode="relative" rAng="0" ptsTypes="AA"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68" y="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7 L 0.16159 3.7037E-7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030A0"/>
      </a:accent1>
      <a:accent2>
        <a:srgbClr val="404040"/>
      </a:accent2>
      <a:accent3>
        <a:srgbClr val="7F7F7F"/>
      </a:accent3>
      <a:accent4>
        <a:srgbClr val="C7A2E3"/>
      </a:accent4>
      <a:accent5>
        <a:srgbClr val="48A1FA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_03_CA - v5" id="{676C8139-D340-432F-9674-2FA823DFFDED}" vid="{F880323A-559C-41C8-8579-8950CC3EC8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34F36449696C4D9A39A602A84CD659" ma:contentTypeVersion="8" ma:contentTypeDescription="Create a new document." ma:contentTypeScope="" ma:versionID="64306857b40e113f381545cdb3594eb7">
  <xsd:schema xmlns:xsd="http://www.w3.org/2001/XMLSchema" xmlns:xs="http://www.w3.org/2001/XMLSchema" xmlns:p="http://schemas.microsoft.com/office/2006/metadata/properties" xmlns:ns2="d2759a66-45ac-4dcc-97a7-1d1447a6f8ca" targetNamespace="http://schemas.microsoft.com/office/2006/metadata/properties" ma:root="true" ma:fieldsID="04d7ab51c00b34ec40cb1b4b98079026" ns2:_="">
    <xsd:import namespace="d2759a66-45ac-4dcc-97a7-1d1447a6f8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59a66-45ac-4dcc-97a7-1d1447a6f8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88AAE1-610C-4AC3-8008-2C517A489104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schemas.microsoft.com/office/infopath/2007/PartnerControls"/>
    <ds:schemaRef ds:uri="fb0879af-3eba-417a-a55a-ffe6dcd6ca77"/>
    <ds:schemaRef ds:uri="http://purl.org/dc/elements/1.1/"/>
    <ds:schemaRef ds:uri="http://schemas.openxmlformats.org/package/2006/metadata/core-properties"/>
    <ds:schemaRef ds:uri="6dc4bcd6-49db-4c07-9060-8acfc67cef9f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D4F4D60-31A2-4F16-8653-414C58B2C7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59a66-45ac-4dcc-97a7-1d1447a6f8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F0C872-40F0-4E6E-990F-D5B14C4220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Coastal presentation</Template>
  <TotalTime>0</TotalTime>
  <Words>414</Words>
  <Application>Microsoft Office PowerPoint</Application>
  <PresentationFormat>Widescreen</PresentationFormat>
  <Paragraphs>104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Object-Oriented Programming (OOP) Basic Concepts in c++</vt:lpstr>
      <vt:lpstr>PowerPoint Presentation</vt:lpstr>
      <vt:lpstr>PowerPoint Presentation</vt:lpstr>
      <vt:lpstr>PowerPoint Presentation</vt:lpstr>
      <vt:lpstr>PowerPoint Presentation</vt:lpstr>
      <vt:lpstr>What is an Object ?</vt:lpstr>
      <vt:lpstr>What is a Class ?</vt:lpstr>
      <vt:lpstr>PowerPoint Presentation</vt:lpstr>
      <vt:lpstr>Encapsulation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(OOP) Basic Concepts in c++</dc:title>
  <dc:creator/>
  <cp:lastModifiedBy/>
  <cp:revision>6</cp:revision>
  <dcterms:created xsi:type="dcterms:W3CDTF">2019-03-31T12:53:04Z</dcterms:created>
  <dcterms:modified xsi:type="dcterms:W3CDTF">2024-10-19T03:51:03Z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0x010100BE34F36449696C4D9A39A602A84CD659</vt:lpwstr>
  </property>
</Properties>
</file>